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1"/>
  </p:notesMasterIdLst>
  <p:handoutMasterIdLst>
    <p:handoutMasterId r:id="rId12"/>
  </p:handoutMasterIdLst>
  <p:sldIdLst>
    <p:sldId id="710" r:id="rId5"/>
    <p:sldId id="772" r:id="rId6"/>
    <p:sldId id="766" r:id="rId7"/>
    <p:sldId id="767" r:id="rId8"/>
    <p:sldId id="773" r:id="rId9"/>
    <p:sldId id="768" r:id="rId10"/>
  </p:sldIdLst>
  <p:sldSz cx="9939338" cy="7451725"/>
  <p:notesSz cx="6797675" cy="9926638"/>
  <p:defaultTextStyle>
    <a:defPPr>
      <a:defRPr lang="en-US"/>
    </a:defPPr>
    <a:lvl1pPr marL="0" algn="l" defTabSz="496885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1pPr>
    <a:lvl2pPr marL="496885" algn="l" defTabSz="496885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2pPr>
    <a:lvl3pPr marL="993770" algn="l" defTabSz="496885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3pPr>
    <a:lvl4pPr marL="1490655" algn="l" defTabSz="496885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4pPr>
    <a:lvl5pPr marL="1987540" algn="l" defTabSz="496885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5pPr>
    <a:lvl6pPr marL="2484425" algn="l" defTabSz="496885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6pPr>
    <a:lvl7pPr marL="2981310" algn="l" defTabSz="496885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7pPr>
    <a:lvl8pPr marL="3478195" algn="l" defTabSz="496885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8pPr>
    <a:lvl9pPr marL="3975080" algn="l" defTabSz="496885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47">
          <p15:clr>
            <a:srgbClr val="A4A3A4"/>
          </p15:clr>
        </p15:guide>
        <p15:guide id="2" pos="313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163B"/>
    <a:srgbClr val="FBB04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26" autoAdjust="0"/>
    <p:restoredTop sz="94671" autoAdjust="0"/>
  </p:normalViewPr>
  <p:slideViewPr>
    <p:cSldViewPr snapToGrid="0" snapToObjects="1">
      <p:cViewPr varScale="1">
        <p:scale>
          <a:sx n="59" d="100"/>
          <a:sy n="59" d="100"/>
        </p:scale>
        <p:origin x="1376" y="48"/>
      </p:cViewPr>
      <p:guideLst>
        <p:guide orient="horz" pos="2347"/>
        <p:guide pos="313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idehove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4958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3" name="Pladsholder til dato 2"/>
          <p:cNvSpPr>
            <a:spLocks noGrp="1"/>
          </p:cNvSpPr>
          <p:nvPr>
            <p:ph type="dt" sz="quarter" idx="1"/>
          </p:nvPr>
        </p:nvSpPr>
        <p:spPr>
          <a:xfrm>
            <a:off x="3851098" y="0"/>
            <a:ext cx="2944958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da-DK"/>
              <a:t>21-11-2017</a:t>
            </a:r>
          </a:p>
        </p:txBody>
      </p:sp>
      <p:sp>
        <p:nvSpPr>
          <p:cNvPr id="4" name="Pladsholder til sidefod 3"/>
          <p:cNvSpPr>
            <a:spLocks noGrp="1"/>
          </p:cNvSpPr>
          <p:nvPr>
            <p:ph type="ftr" sz="quarter" idx="2"/>
          </p:nvPr>
        </p:nvSpPr>
        <p:spPr>
          <a:xfrm>
            <a:off x="0" y="9428164"/>
            <a:ext cx="2944958" cy="49688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5" name="Pladsholder til diasnummer 4"/>
          <p:cNvSpPr>
            <a:spLocks noGrp="1"/>
          </p:cNvSpPr>
          <p:nvPr>
            <p:ph type="sldNum" sz="quarter" idx="3"/>
          </p:nvPr>
        </p:nvSpPr>
        <p:spPr>
          <a:xfrm>
            <a:off x="3851098" y="9428164"/>
            <a:ext cx="2944958" cy="49688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27331A-7756-4870-A527-9B237FF0DA0D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091210297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idehoved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45659" cy="49633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3" name="Pladsholder til dato 2"/>
          <p:cNvSpPr>
            <a:spLocks noGrp="1"/>
          </p:cNvSpPr>
          <p:nvPr>
            <p:ph type="dt" idx="1"/>
          </p:nvPr>
        </p:nvSpPr>
        <p:spPr>
          <a:xfrm>
            <a:off x="3850443" y="1"/>
            <a:ext cx="2945659" cy="49633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da-DK"/>
              <a:t>21-11-2017</a:t>
            </a:r>
          </a:p>
        </p:txBody>
      </p:sp>
      <p:sp>
        <p:nvSpPr>
          <p:cNvPr id="4" name="Pladsholder til diasbillede 3"/>
          <p:cNvSpPr>
            <a:spLocks noGrp="1" noRot="1" noChangeAspect="1"/>
          </p:cNvSpPr>
          <p:nvPr>
            <p:ph type="sldImg" idx="2"/>
          </p:nvPr>
        </p:nvSpPr>
        <p:spPr>
          <a:xfrm>
            <a:off x="914400" y="744538"/>
            <a:ext cx="4968875" cy="37242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a-DK"/>
          </a:p>
        </p:txBody>
      </p:sp>
      <p:sp>
        <p:nvSpPr>
          <p:cNvPr id="5" name="Pladsholder til noter 4"/>
          <p:cNvSpPr>
            <a:spLocks noGrp="1"/>
          </p:cNvSpPr>
          <p:nvPr>
            <p:ph type="body" sz="quarter" idx="3"/>
          </p:nvPr>
        </p:nvSpPr>
        <p:spPr>
          <a:xfrm>
            <a:off x="679768" y="4715153"/>
            <a:ext cx="5438140" cy="446698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633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7" name="Pladsholder til diasnummer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633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3E0AAE-854D-43E9-AAB2-9F030F854ACC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000666054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/>
          <p:nvPr userDrawn="1"/>
        </p:nvSpPr>
        <p:spPr>
          <a:xfrm>
            <a:off x="0" y="0"/>
            <a:ext cx="9944004" cy="7451725"/>
          </a:xfrm>
          <a:prstGeom prst="rect">
            <a:avLst/>
          </a:prstGeom>
          <a:solidFill>
            <a:srgbClr val="00163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1" descr="5fotos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5788" y="1279054"/>
            <a:ext cx="8309043" cy="2029164"/>
          </a:xfrm>
          <a:prstGeom prst="rect">
            <a:avLst/>
          </a:prstGeom>
        </p:spPr>
      </p:pic>
      <p:pic>
        <p:nvPicPr>
          <p:cNvPr id="10" name="Picture 2" descr="CPH_CBA_Payoff_NEG_CMYK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5790" y="1149719"/>
            <a:ext cx="7311326" cy="198320"/>
          </a:xfrm>
          <a:prstGeom prst="rect">
            <a:avLst/>
          </a:prstGeom>
        </p:spPr>
      </p:pic>
      <p:sp>
        <p:nvSpPr>
          <p:cNvPr id="20" name="Pladsholder til tekst 19"/>
          <p:cNvSpPr>
            <a:spLocks noGrp="1"/>
          </p:cNvSpPr>
          <p:nvPr>
            <p:ph type="body" sz="quarter" idx="10" hasCustomPrompt="1"/>
          </p:nvPr>
        </p:nvSpPr>
        <p:spPr>
          <a:xfrm>
            <a:off x="1127236" y="3639312"/>
            <a:ext cx="7399879" cy="784687"/>
          </a:xfrm>
          <a:prstGeom prst="rect">
            <a:avLst/>
          </a:prstGeom>
          <a:ln>
            <a:noFill/>
          </a:ln>
        </p:spPr>
        <p:txBody>
          <a:bodyPr/>
          <a:lstStyle>
            <a:lvl1pPr>
              <a:buNone/>
              <a:defRPr sz="3600">
                <a:solidFill>
                  <a:srgbClr val="FBB040"/>
                </a:solidFill>
              </a:defRPr>
            </a:lvl1pPr>
            <a:lvl2pPr>
              <a:buNone/>
              <a:defRPr/>
            </a:lvl2pPr>
            <a:lvl3pPr>
              <a:buNone/>
              <a:defRPr/>
            </a:lvl3pPr>
          </a:lstStyle>
          <a:p>
            <a:pPr lvl="0"/>
            <a:r>
              <a:rPr lang="da-DK" dirty="0"/>
              <a:t>Tilføj titel</a:t>
            </a:r>
          </a:p>
        </p:txBody>
      </p:sp>
      <p:sp>
        <p:nvSpPr>
          <p:cNvPr id="22" name="Pladsholder til tekst 21"/>
          <p:cNvSpPr>
            <a:spLocks noGrp="1"/>
          </p:cNvSpPr>
          <p:nvPr>
            <p:ph type="body" sz="quarter" idx="11" hasCustomPrompt="1"/>
          </p:nvPr>
        </p:nvSpPr>
        <p:spPr>
          <a:xfrm>
            <a:off x="1127236" y="4426458"/>
            <a:ext cx="7409023" cy="2285238"/>
          </a:xfrm>
          <a:prstGeom prst="rect">
            <a:avLst/>
          </a:prstGeom>
        </p:spPr>
        <p:txBody>
          <a:bodyPr/>
          <a:lstStyle>
            <a:lvl1pPr>
              <a:buNone/>
              <a:defRPr sz="1400" baseline="0">
                <a:solidFill>
                  <a:srgbClr val="FFFFFF"/>
                </a:solidFill>
              </a:defRPr>
            </a:lvl1pPr>
          </a:lstStyle>
          <a:p>
            <a:pPr lvl="0"/>
            <a:r>
              <a:rPr lang="da-DK" dirty="0">
                <a:solidFill>
                  <a:srgbClr val="FFFFFF"/>
                </a:solidFill>
              </a:rPr>
              <a:t>PowerPoint 31.07.2012 [RET DATO]</a:t>
            </a:r>
            <a:endParaRPr lang="da-DK" dirty="0"/>
          </a:p>
        </p:txBody>
      </p:sp>
      <p:pic>
        <p:nvPicPr>
          <p:cNvPr id="11" name="Picture 5" descr="CPHbusinessNEG_RGB.png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4008" y="10855"/>
            <a:ext cx="2339996" cy="927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33404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yt em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7"/>
          <p:cNvSpPr/>
          <p:nvPr userDrawn="1"/>
        </p:nvSpPr>
        <p:spPr>
          <a:xfrm>
            <a:off x="0" y="0"/>
            <a:ext cx="9944004" cy="7451725"/>
          </a:xfrm>
          <a:prstGeom prst="rect">
            <a:avLst/>
          </a:prstGeom>
          <a:solidFill>
            <a:srgbClr val="00163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6" descr="3fotos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5788" y="1304241"/>
            <a:ext cx="7500977" cy="3443013"/>
          </a:xfrm>
          <a:prstGeom prst="rect">
            <a:avLst/>
          </a:prstGeom>
        </p:spPr>
      </p:pic>
      <p:sp>
        <p:nvSpPr>
          <p:cNvPr id="8" name="Pladsholder til tekst 7"/>
          <p:cNvSpPr>
            <a:spLocks noGrp="1"/>
          </p:cNvSpPr>
          <p:nvPr>
            <p:ph type="body" sz="quarter" idx="10" hasCustomPrompt="1"/>
          </p:nvPr>
        </p:nvSpPr>
        <p:spPr>
          <a:xfrm>
            <a:off x="1127402" y="4855464"/>
            <a:ext cx="7589363" cy="779609"/>
          </a:xfrm>
          <a:prstGeom prst="rect">
            <a:avLst/>
          </a:prstGeom>
        </p:spPr>
        <p:txBody>
          <a:bodyPr/>
          <a:lstStyle>
            <a:lvl1pPr>
              <a:buNone/>
              <a:defRPr sz="3600">
                <a:solidFill>
                  <a:srgbClr val="FBB040"/>
                </a:solidFill>
              </a:defRPr>
            </a:lvl1pPr>
          </a:lstStyle>
          <a:p>
            <a:pPr lvl="0"/>
            <a:r>
              <a:rPr lang="da-DK" dirty="0"/>
              <a:t>Overskrift</a:t>
            </a:r>
          </a:p>
        </p:txBody>
      </p:sp>
      <p:sp>
        <p:nvSpPr>
          <p:cNvPr id="12" name="Pladsholder til tekst 11"/>
          <p:cNvSpPr>
            <a:spLocks noGrp="1"/>
          </p:cNvSpPr>
          <p:nvPr>
            <p:ph type="body" sz="quarter" idx="11" hasCustomPrompt="1"/>
          </p:nvPr>
        </p:nvSpPr>
        <p:spPr>
          <a:xfrm>
            <a:off x="1127237" y="5644216"/>
            <a:ext cx="7589528" cy="1488103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baseline="0">
                <a:solidFill>
                  <a:srgbClr val="FFFFFF"/>
                </a:solidFill>
              </a:defRPr>
            </a:lvl1pPr>
          </a:lstStyle>
          <a:p>
            <a:pPr lvl="0"/>
            <a:r>
              <a:rPr lang="da-DK" dirty="0" err="1"/>
              <a:t>Duis</a:t>
            </a:r>
            <a:r>
              <a:rPr lang="da-DK" dirty="0"/>
              <a:t> </a:t>
            </a:r>
            <a:r>
              <a:rPr lang="da-DK" dirty="0" err="1"/>
              <a:t>autem</a:t>
            </a:r>
            <a:r>
              <a:rPr lang="da-DK" dirty="0"/>
              <a:t> vel </a:t>
            </a:r>
            <a:r>
              <a:rPr lang="da-DK" dirty="0" err="1"/>
              <a:t>eum</a:t>
            </a:r>
            <a:r>
              <a:rPr lang="da-DK" dirty="0"/>
              <a:t> </a:t>
            </a:r>
            <a:r>
              <a:rPr lang="da-DK" dirty="0" err="1"/>
              <a:t>iriure</a:t>
            </a:r>
            <a:r>
              <a:rPr lang="da-DK" dirty="0"/>
              <a:t> </a:t>
            </a:r>
            <a:r>
              <a:rPr lang="da-DK" dirty="0" err="1"/>
              <a:t>dolor</a:t>
            </a:r>
            <a:r>
              <a:rPr lang="da-DK" dirty="0"/>
              <a:t> in </a:t>
            </a:r>
            <a:r>
              <a:rPr lang="da-DK" dirty="0" err="1"/>
              <a:t>hendrerit</a:t>
            </a:r>
            <a:r>
              <a:rPr lang="da-DK" dirty="0"/>
              <a:t> in </a:t>
            </a:r>
            <a:r>
              <a:rPr lang="da-DK" dirty="0" err="1"/>
              <a:t>vulputate</a:t>
            </a:r>
            <a:r>
              <a:rPr lang="da-DK" dirty="0"/>
              <a:t> </a:t>
            </a:r>
            <a:r>
              <a:rPr lang="da-DK" dirty="0" err="1"/>
              <a:t>velit</a:t>
            </a:r>
            <a:r>
              <a:rPr lang="da-DK" dirty="0"/>
              <a:t> </a:t>
            </a:r>
            <a:r>
              <a:rPr lang="da-DK" dirty="0" err="1"/>
              <a:t>hendrerit</a:t>
            </a:r>
            <a:r>
              <a:rPr lang="da-DK" dirty="0"/>
              <a:t> in </a:t>
            </a:r>
            <a:r>
              <a:rPr lang="da-DK" dirty="0" err="1"/>
              <a:t>vulputate</a:t>
            </a:r>
            <a:r>
              <a:rPr lang="da-DK" dirty="0"/>
              <a:t> </a:t>
            </a:r>
            <a:r>
              <a:rPr lang="da-DK" dirty="0" err="1"/>
              <a:t>velit</a:t>
            </a:r>
            <a:r>
              <a:rPr lang="da-DK" dirty="0"/>
              <a:t> </a:t>
            </a:r>
            <a:r>
              <a:rPr lang="da-DK" dirty="0" err="1"/>
              <a:t>hendrerit</a:t>
            </a:r>
            <a:r>
              <a:rPr lang="da-DK" dirty="0"/>
              <a:t> in </a:t>
            </a:r>
            <a:r>
              <a:rPr lang="da-DK" dirty="0" err="1"/>
              <a:t>vulputate</a:t>
            </a:r>
            <a:r>
              <a:rPr lang="da-DK" dirty="0"/>
              <a:t> </a:t>
            </a:r>
            <a:r>
              <a:rPr lang="da-DK" dirty="0" err="1"/>
              <a:t>velit</a:t>
            </a:r>
            <a:endParaRPr lang="da-DK" dirty="0"/>
          </a:p>
        </p:txBody>
      </p:sp>
      <p:pic>
        <p:nvPicPr>
          <p:cNvPr id="6" name="Picture 5" descr="CPHbusinessNEG_RGB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4008" y="10855"/>
            <a:ext cx="2339996" cy="92797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rmal 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dsholder til tekst 5"/>
          <p:cNvSpPr>
            <a:spLocks noGrp="1"/>
          </p:cNvSpPr>
          <p:nvPr>
            <p:ph type="body" sz="quarter" idx="10" hasCustomPrompt="1"/>
          </p:nvPr>
        </p:nvSpPr>
        <p:spPr>
          <a:xfrm>
            <a:off x="554736" y="727670"/>
            <a:ext cx="8789988" cy="1242418"/>
          </a:xfrm>
          <a:prstGeom prst="rect">
            <a:avLst/>
          </a:prstGeom>
        </p:spPr>
        <p:txBody>
          <a:bodyPr/>
          <a:lstStyle>
            <a:lvl1pPr>
              <a:buNone/>
              <a:defRPr sz="3600" b="1" baseline="0">
                <a:solidFill>
                  <a:srgbClr val="FBB040"/>
                </a:solidFill>
              </a:defRPr>
            </a:lvl1pPr>
          </a:lstStyle>
          <a:p>
            <a:pPr lvl="0"/>
            <a:r>
              <a:rPr lang="da-DK" dirty="0"/>
              <a:t>Skriv titel</a:t>
            </a:r>
          </a:p>
        </p:txBody>
      </p:sp>
      <p:sp>
        <p:nvSpPr>
          <p:cNvPr id="10" name="Pladsholder til tekst 9"/>
          <p:cNvSpPr>
            <a:spLocks noGrp="1"/>
          </p:cNvSpPr>
          <p:nvPr>
            <p:ph type="body" sz="quarter" idx="11"/>
          </p:nvPr>
        </p:nvSpPr>
        <p:spPr>
          <a:xfrm>
            <a:off x="879373" y="2773085"/>
            <a:ext cx="8054315" cy="36005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163B"/>
                </a:solidFill>
              </a:defRPr>
            </a:lvl1pPr>
            <a:lvl2pPr>
              <a:defRPr>
                <a:solidFill>
                  <a:srgbClr val="00163B"/>
                </a:solidFill>
              </a:defRPr>
            </a:lvl2pPr>
            <a:lvl3pPr>
              <a:defRPr>
                <a:solidFill>
                  <a:srgbClr val="00163B"/>
                </a:solidFill>
              </a:defRPr>
            </a:lvl3pPr>
            <a:lvl4pPr>
              <a:defRPr>
                <a:solidFill>
                  <a:srgbClr val="00163B"/>
                </a:solidFill>
              </a:defRPr>
            </a:lvl4pPr>
            <a:lvl5pPr>
              <a:defRPr>
                <a:solidFill>
                  <a:srgbClr val="00163B"/>
                </a:solidFill>
              </a:defRPr>
            </a:lvl5pPr>
          </a:lstStyle>
          <a:p>
            <a:pPr lvl="0"/>
            <a:r>
              <a:rPr lang="da-DK"/>
              <a:t>Klik for at redigere typografi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da-DK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820" b="0" i="0">
                <a:solidFill>
                  <a:srgbClr val="1F375B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834052-9428-4883-86A8-E540AA80AF32}" type="datetime1">
              <a:rPr lang="en-US" smtClean="0"/>
              <a:t>5/27/2024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‹nr.›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165224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PHbusiness_RGB.png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2334" y="10867"/>
            <a:ext cx="2347874" cy="930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35328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4" r:id="rId4"/>
  </p:sldLayoutIdLst>
  <p:hf hdr="0" ftr="0" dt="0"/>
  <p:txStyles>
    <p:titleStyle>
      <a:lvl1pPr algn="l" defTabSz="496885" rtl="0" eaLnBrk="1" latinLnBrk="0" hangingPunct="1">
        <a:spcBef>
          <a:spcPct val="0"/>
        </a:spcBef>
        <a:buNone/>
        <a:defRPr sz="3600" kern="1200">
          <a:solidFill>
            <a:srgbClr val="FBB040"/>
          </a:solidFill>
          <a:latin typeface="Verdana"/>
          <a:ea typeface="+mj-ea"/>
          <a:cs typeface="Verdana"/>
        </a:defRPr>
      </a:lvl1pPr>
    </p:titleStyle>
    <p:bodyStyle>
      <a:lvl1pPr marL="372664" indent="-372664" algn="l" defTabSz="496885" rtl="0" eaLnBrk="1" latinLnBrk="0" hangingPunct="1">
        <a:spcBef>
          <a:spcPct val="20000"/>
        </a:spcBef>
        <a:buClr>
          <a:srgbClr val="FBB040"/>
        </a:buClr>
        <a:buFont typeface="Wingdings" charset="2"/>
        <a:buChar char="§"/>
        <a:defRPr sz="1800" kern="1200">
          <a:solidFill>
            <a:srgbClr val="00163B"/>
          </a:solidFill>
          <a:latin typeface="Verdana"/>
          <a:ea typeface="+mn-ea"/>
          <a:cs typeface="Verdana"/>
        </a:defRPr>
      </a:lvl1pPr>
      <a:lvl2pPr marL="807438" indent="-310553" algn="l" defTabSz="496885" rtl="0" eaLnBrk="1" latinLnBrk="0" hangingPunct="1">
        <a:spcBef>
          <a:spcPct val="20000"/>
        </a:spcBef>
        <a:buClr>
          <a:srgbClr val="FBB040"/>
        </a:buClr>
        <a:buFont typeface="Wingdings" charset="2"/>
        <a:buChar char="§"/>
        <a:defRPr sz="1800" kern="1200">
          <a:solidFill>
            <a:srgbClr val="00163B"/>
          </a:solidFill>
          <a:latin typeface="Verdana"/>
          <a:ea typeface="+mn-ea"/>
          <a:cs typeface="Verdana"/>
        </a:defRPr>
      </a:lvl2pPr>
      <a:lvl3pPr marL="1242212" indent="-248442" algn="l" defTabSz="496885" rtl="0" eaLnBrk="1" latinLnBrk="0" hangingPunct="1">
        <a:spcBef>
          <a:spcPct val="20000"/>
        </a:spcBef>
        <a:buClr>
          <a:srgbClr val="FBB040"/>
        </a:buClr>
        <a:buFont typeface="Wingdings" charset="2"/>
        <a:buChar char="§"/>
        <a:defRPr sz="1800" kern="1200">
          <a:solidFill>
            <a:srgbClr val="00163B"/>
          </a:solidFill>
          <a:latin typeface="Verdana"/>
          <a:ea typeface="+mn-ea"/>
          <a:cs typeface="Verdana"/>
        </a:defRPr>
      </a:lvl3pPr>
      <a:lvl4pPr marL="1739097" indent="-248442" algn="l" defTabSz="496885" rtl="0" eaLnBrk="1" latinLnBrk="0" hangingPunct="1">
        <a:spcBef>
          <a:spcPct val="20000"/>
        </a:spcBef>
        <a:buClr>
          <a:srgbClr val="FBB040"/>
        </a:buClr>
        <a:buFont typeface="Wingdings" charset="2"/>
        <a:buChar char="§"/>
        <a:defRPr sz="1800" kern="1200">
          <a:solidFill>
            <a:srgbClr val="00163B"/>
          </a:solidFill>
          <a:latin typeface="Verdana"/>
          <a:ea typeface="+mn-ea"/>
          <a:cs typeface="Verdana"/>
        </a:defRPr>
      </a:lvl4pPr>
      <a:lvl5pPr marL="2235982" indent="-248442" algn="l" defTabSz="496885" rtl="0" eaLnBrk="1" latinLnBrk="0" hangingPunct="1">
        <a:spcBef>
          <a:spcPct val="20000"/>
        </a:spcBef>
        <a:buClr>
          <a:srgbClr val="FBB040"/>
        </a:buClr>
        <a:buFont typeface="Wingdings" charset="2"/>
        <a:buChar char="§"/>
        <a:defRPr sz="1800" kern="1200">
          <a:solidFill>
            <a:srgbClr val="00163B"/>
          </a:solidFill>
          <a:latin typeface="Verdana"/>
          <a:ea typeface="+mn-ea"/>
          <a:cs typeface="Verdana"/>
        </a:defRPr>
      </a:lvl5pPr>
      <a:lvl6pPr marL="2732867" indent="-248442" algn="l" defTabSz="496885" rtl="0" eaLnBrk="1" latinLnBrk="0" hangingPunct="1">
        <a:spcBef>
          <a:spcPct val="20000"/>
        </a:spcBef>
        <a:buFont typeface="Arial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6pPr>
      <a:lvl7pPr marL="3229752" indent="-248442" algn="l" defTabSz="496885" rtl="0" eaLnBrk="1" latinLnBrk="0" hangingPunct="1">
        <a:spcBef>
          <a:spcPct val="20000"/>
        </a:spcBef>
        <a:buFont typeface="Arial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7pPr>
      <a:lvl8pPr marL="3726637" indent="-248442" algn="l" defTabSz="496885" rtl="0" eaLnBrk="1" latinLnBrk="0" hangingPunct="1">
        <a:spcBef>
          <a:spcPct val="20000"/>
        </a:spcBef>
        <a:buFont typeface="Arial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8pPr>
      <a:lvl9pPr marL="4223522" indent="-248442" algn="l" defTabSz="496885" rtl="0" eaLnBrk="1" latinLnBrk="0" hangingPunct="1">
        <a:spcBef>
          <a:spcPct val="20000"/>
        </a:spcBef>
        <a:buFont typeface="Arial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9688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6885" algn="l" defTabSz="49688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993770" algn="l" defTabSz="49688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490655" algn="l" defTabSz="49688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987540" algn="l" defTabSz="49688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484425" algn="l" defTabSz="49688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81310" algn="l" defTabSz="49688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78195" algn="l" defTabSz="49688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75080" algn="l" defTabSz="49688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-5345" y="31175"/>
            <a:ext cx="9944004" cy="7456750"/>
          </a:xfrm>
          <a:prstGeom prst="rect">
            <a:avLst/>
          </a:prstGeom>
          <a:solidFill>
            <a:srgbClr val="00163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Placeholder 1"/>
          <p:cNvSpPr txBox="1">
            <a:spLocks/>
          </p:cNvSpPr>
          <p:nvPr/>
        </p:nvSpPr>
        <p:spPr>
          <a:xfrm>
            <a:off x="769740" y="3342399"/>
            <a:ext cx="9070946" cy="1694296"/>
          </a:xfrm>
          <a:prstGeom prst="rect">
            <a:avLst/>
          </a:prstGeom>
        </p:spPr>
        <p:txBody>
          <a:bodyPr vert="horz" lIns="99377" tIns="49688" rIns="99377" bIns="49688" rtlCol="0" anchor="ctr">
            <a:noAutofit/>
          </a:bodyPr>
          <a:lstStyle>
            <a:lvl1pPr algn="l" defTabSz="496885" rtl="0" eaLnBrk="1" latinLnBrk="0" hangingPunct="1">
              <a:spcBef>
                <a:spcPct val="0"/>
              </a:spcBef>
              <a:buNone/>
              <a:defRPr sz="3600" kern="1200">
                <a:solidFill>
                  <a:srgbClr val="FBB040"/>
                </a:solidFill>
                <a:latin typeface="Verdana"/>
                <a:ea typeface="+mj-ea"/>
                <a:cs typeface="Verdana"/>
              </a:defRPr>
            </a:lvl1pPr>
          </a:lstStyle>
          <a:p>
            <a:r>
              <a:rPr lang="da-DK" b="1" dirty="0"/>
              <a:t>Opgave 2 / Handel med fast ejendom</a:t>
            </a:r>
          </a:p>
        </p:txBody>
      </p:sp>
      <p:sp>
        <p:nvSpPr>
          <p:cNvPr id="5" name="Text Placeholder 2"/>
          <p:cNvSpPr txBox="1">
            <a:spLocks/>
          </p:cNvSpPr>
          <p:nvPr/>
        </p:nvSpPr>
        <p:spPr>
          <a:xfrm>
            <a:off x="788366" y="4765040"/>
            <a:ext cx="8497147" cy="2499360"/>
          </a:xfrm>
          <a:prstGeom prst="rect">
            <a:avLst/>
          </a:prstGeom>
        </p:spPr>
        <p:txBody>
          <a:bodyPr vert="horz" lIns="99377" tIns="49688" rIns="99377" bIns="49688" rtlCol="0">
            <a:noAutofit/>
          </a:bodyPr>
          <a:lstStyle>
            <a:lvl1pPr marL="372664" indent="-372664" algn="l" defTabSz="496885" rtl="0" eaLnBrk="1" latinLnBrk="0" hangingPunct="1">
              <a:spcBef>
                <a:spcPct val="20000"/>
              </a:spcBef>
              <a:buClr>
                <a:srgbClr val="FBB040"/>
              </a:buClr>
              <a:buFont typeface="Wingdings" charset="2"/>
              <a:buChar char="§"/>
              <a:defRPr sz="1800" kern="1200">
                <a:solidFill>
                  <a:srgbClr val="00163B"/>
                </a:solidFill>
                <a:latin typeface="Verdana"/>
                <a:ea typeface="+mn-ea"/>
                <a:cs typeface="Verdana"/>
              </a:defRPr>
            </a:lvl1pPr>
            <a:lvl2pPr marL="807438" indent="-310553" algn="l" defTabSz="496885" rtl="0" eaLnBrk="1" latinLnBrk="0" hangingPunct="1">
              <a:spcBef>
                <a:spcPct val="20000"/>
              </a:spcBef>
              <a:buClr>
                <a:srgbClr val="FBB040"/>
              </a:buClr>
              <a:buFont typeface="Wingdings" charset="2"/>
              <a:buChar char="§"/>
              <a:defRPr sz="1800" kern="1200">
                <a:solidFill>
                  <a:srgbClr val="00163B"/>
                </a:solidFill>
                <a:latin typeface="Verdana"/>
                <a:ea typeface="+mn-ea"/>
                <a:cs typeface="Verdana"/>
              </a:defRPr>
            </a:lvl2pPr>
            <a:lvl3pPr marL="1242212" indent="-248442" algn="l" defTabSz="496885" rtl="0" eaLnBrk="1" latinLnBrk="0" hangingPunct="1">
              <a:spcBef>
                <a:spcPct val="20000"/>
              </a:spcBef>
              <a:buClr>
                <a:srgbClr val="FBB040"/>
              </a:buClr>
              <a:buFont typeface="Wingdings" charset="2"/>
              <a:buChar char="§"/>
              <a:defRPr sz="1800" kern="1200">
                <a:solidFill>
                  <a:srgbClr val="00163B"/>
                </a:solidFill>
                <a:latin typeface="Verdana"/>
                <a:ea typeface="+mn-ea"/>
                <a:cs typeface="Verdana"/>
              </a:defRPr>
            </a:lvl3pPr>
            <a:lvl4pPr marL="1739097" indent="-248442" algn="l" defTabSz="496885" rtl="0" eaLnBrk="1" latinLnBrk="0" hangingPunct="1">
              <a:spcBef>
                <a:spcPct val="20000"/>
              </a:spcBef>
              <a:buClr>
                <a:srgbClr val="FBB040"/>
              </a:buClr>
              <a:buFont typeface="Wingdings" charset="2"/>
              <a:buChar char="§"/>
              <a:defRPr sz="1800" kern="1200">
                <a:solidFill>
                  <a:srgbClr val="00163B"/>
                </a:solidFill>
                <a:latin typeface="Verdana"/>
                <a:ea typeface="+mn-ea"/>
                <a:cs typeface="Verdana"/>
              </a:defRPr>
            </a:lvl4pPr>
            <a:lvl5pPr marL="2235982" indent="-248442" algn="l" defTabSz="496885" rtl="0" eaLnBrk="1" latinLnBrk="0" hangingPunct="1">
              <a:spcBef>
                <a:spcPct val="20000"/>
              </a:spcBef>
              <a:buClr>
                <a:srgbClr val="FBB040"/>
              </a:buClr>
              <a:buFont typeface="Wingdings" charset="2"/>
              <a:buChar char="§"/>
              <a:defRPr sz="1800" kern="1200">
                <a:solidFill>
                  <a:srgbClr val="00163B"/>
                </a:solidFill>
                <a:latin typeface="Verdana"/>
                <a:ea typeface="+mn-ea"/>
                <a:cs typeface="Verdana"/>
              </a:defRPr>
            </a:lvl5pPr>
            <a:lvl6pPr marL="2732867" indent="-248442" algn="l" defTabSz="496885" rtl="0" eaLnBrk="1" latinLnBrk="0" hangingPunct="1">
              <a:spcBef>
                <a:spcPct val="20000"/>
              </a:spcBef>
              <a:buFont typeface="Arial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29752" indent="-248442" algn="l" defTabSz="496885" rtl="0" eaLnBrk="1" latinLnBrk="0" hangingPunct="1">
              <a:spcBef>
                <a:spcPct val="20000"/>
              </a:spcBef>
              <a:buFont typeface="Arial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26637" indent="-248442" algn="l" defTabSz="496885" rtl="0" eaLnBrk="1" latinLnBrk="0" hangingPunct="1">
              <a:spcBef>
                <a:spcPct val="20000"/>
              </a:spcBef>
              <a:buFont typeface="Arial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23522" indent="-248442" algn="l" defTabSz="496885" rtl="0" eaLnBrk="1" latinLnBrk="0" hangingPunct="1">
              <a:spcBef>
                <a:spcPct val="20000"/>
              </a:spcBef>
              <a:buFont typeface="Arial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a-DK" sz="1200" dirty="0">
                <a:solidFill>
                  <a:schemeClr val="bg1"/>
                </a:solidFill>
              </a:rPr>
              <a:t>Uddannelsessted: </a:t>
            </a:r>
          </a:p>
          <a:p>
            <a:pPr marL="0" indent="0">
              <a:buNone/>
            </a:pPr>
            <a:r>
              <a:rPr lang="da-DK" sz="1200" dirty="0">
                <a:solidFill>
                  <a:schemeClr val="bg1"/>
                </a:solidFill>
              </a:rPr>
              <a:t>CPH Business Academy, Hillerød afdeling. </a:t>
            </a:r>
          </a:p>
          <a:p>
            <a:pPr marL="0" indent="0">
              <a:buNone/>
            </a:pPr>
            <a:endParaRPr lang="da-DK" sz="12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da-DK" sz="1200" dirty="0">
                <a:solidFill>
                  <a:schemeClr val="bg1"/>
                </a:solidFill>
              </a:rPr>
              <a:t>Mål: 	</a:t>
            </a:r>
          </a:p>
          <a:p>
            <a:pPr marL="0" indent="0">
              <a:buNone/>
            </a:pPr>
            <a:r>
              <a:rPr lang="da-DK" sz="1200" dirty="0">
                <a:solidFill>
                  <a:schemeClr val="bg1"/>
                </a:solidFill>
              </a:rPr>
              <a:t>Opnå viden om handel medfast ejendom</a:t>
            </a:r>
          </a:p>
          <a:p>
            <a:pPr marL="0" indent="0">
              <a:buNone/>
            </a:pPr>
            <a:endParaRPr lang="da-DK" sz="12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da-DK" sz="1200" dirty="0">
                <a:solidFill>
                  <a:schemeClr val="bg1"/>
                </a:solidFill>
              </a:rPr>
              <a:t>Undervisningsdag: </a:t>
            </a:r>
          </a:p>
          <a:p>
            <a:pPr marL="0" indent="0">
              <a:buNone/>
            </a:pPr>
            <a:r>
              <a:rPr lang="da-DK" sz="1200" dirty="0">
                <a:solidFill>
                  <a:schemeClr val="bg1"/>
                </a:solidFill>
              </a:rPr>
              <a:t>2024</a:t>
            </a:r>
          </a:p>
          <a:p>
            <a:pPr marL="0" indent="0">
              <a:buNone/>
            </a:pPr>
            <a:endParaRPr lang="da-DK" sz="12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da-DK" sz="1200" dirty="0">
                <a:solidFill>
                  <a:schemeClr val="bg1"/>
                </a:solidFill>
              </a:rPr>
              <a:t>Underviser:</a:t>
            </a:r>
          </a:p>
          <a:p>
            <a:pPr marL="0" indent="0">
              <a:buNone/>
            </a:pPr>
            <a:r>
              <a:rPr lang="da-DK" sz="1200" dirty="0">
                <a:solidFill>
                  <a:schemeClr val="bg1"/>
                </a:solidFill>
              </a:rPr>
              <a:t>Søren Thestrup, lektor, cand.jur.</a:t>
            </a:r>
          </a:p>
        </p:txBody>
      </p:sp>
      <p:pic>
        <p:nvPicPr>
          <p:cNvPr id="6" name="Picture 5" descr="CPHbusinessNEG_RGB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4008" y="10855"/>
            <a:ext cx="2339996" cy="927977"/>
          </a:xfrm>
          <a:prstGeom prst="rect">
            <a:avLst/>
          </a:prstGeom>
        </p:spPr>
      </p:pic>
      <p:pic>
        <p:nvPicPr>
          <p:cNvPr id="3" name="Picture 2" descr="CPH_CBA_Payoff_NEG_CMYK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3904" y="1149719"/>
            <a:ext cx="7311326" cy="198320"/>
          </a:xfrm>
          <a:prstGeom prst="rect">
            <a:avLst/>
          </a:prstGeom>
        </p:spPr>
      </p:pic>
      <p:pic>
        <p:nvPicPr>
          <p:cNvPr id="7" name="Billed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724" y="1722476"/>
            <a:ext cx="3783970" cy="1433322"/>
          </a:xfrm>
          <a:prstGeom prst="rect">
            <a:avLst/>
          </a:prstGeom>
        </p:spPr>
      </p:pic>
      <p:pic>
        <p:nvPicPr>
          <p:cNvPr id="9" name="Billed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0983" y="1722476"/>
            <a:ext cx="1471131" cy="1433322"/>
          </a:xfrm>
          <a:prstGeom prst="rect">
            <a:avLst/>
          </a:prstGeom>
        </p:spPr>
      </p:pic>
      <p:pic>
        <p:nvPicPr>
          <p:cNvPr id="10" name="Billed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43473" y="1722476"/>
            <a:ext cx="1707442" cy="1451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24566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tekst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a-DK" dirty="0"/>
              <a:t>3. Mangler ved fast ejendom</a:t>
            </a:r>
          </a:p>
          <a:p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1088028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11930" y="614591"/>
            <a:ext cx="9282309" cy="383049"/>
          </a:xfrm>
          <a:prstGeom prst="rect">
            <a:avLst/>
          </a:prstGeom>
        </p:spPr>
        <p:txBody>
          <a:bodyPr vert="horz" wrap="square" lIns="0" tIns="13584" rIns="0" bIns="0" rtlCol="0">
            <a:spAutoFit/>
          </a:bodyPr>
          <a:lstStyle/>
          <a:p>
            <a:r>
              <a:rPr lang="da-DK" sz="2400" dirty="0"/>
              <a:t>3. Mangler ved fast ejendom</a:t>
            </a:r>
          </a:p>
        </p:txBody>
      </p:sp>
      <p:sp>
        <p:nvSpPr>
          <p:cNvPr id="4" name="object 4"/>
          <p:cNvSpPr/>
          <p:nvPr/>
        </p:nvSpPr>
        <p:spPr>
          <a:xfrm>
            <a:off x="511930" y="1164331"/>
            <a:ext cx="8915549" cy="97028"/>
          </a:xfrm>
          <a:custGeom>
            <a:avLst/>
            <a:gdLst/>
            <a:ahLst/>
            <a:cxnLst/>
            <a:rect l="l" t="t" r="r" b="b"/>
            <a:pathLst>
              <a:path w="8752205" h="95250">
                <a:moveTo>
                  <a:pt x="0" y="0"/>
                </a:moveTo>
                <a:lnTo>
                  <a:pt x="8752136" y="0"/>
                </a:lnTo>
                <a:lnTo>
                  <a:pt x="8752136" y="95250"/>
                </a:ln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>
            <a:srgbClr val="1F375B"/>
          </a:solidFill>
        </p:spPr>
        <p:txBody>
          <a:bodyPr wrap="square" lIns="0" tIns="0" rIns="0" bIns="0" rtlCol="0"/>
          <a:lstStyle/>
          <a:p>
            <a:endParaRPr sz="2037"/>
          </a:p>
        </p:txBody>
      </p:sp>
      <p:sp>
        <p:nvSpPr>
          <p:cNvPr id="5" name="object 5"/>
          <p:cNvSpPr/>
          <p:nvPr/>
        </p:nvSpPr>
        <p:spPr>
          <a:xfrm>
            <a:off x="511930" y="310488"/>
            <a:ext cx="8915549" cy="97028"/>
          </a:xfrm>
          <a:custGeom>
            <a:avLst/>
            <a:gdLst/>
            <a:ahLst/>
            <a:cxnLst/>
            <a:rect l="l" t="t" r="r" b="b"/>
            <a:pathLst>
              <a:path w="8752205" h="95250">
                <a:moveTo>
                  <a:pt x="0" y="0"/>
                </a:moveTo>
                <a:lnTo>
                  <a:pt x="8752136" y="0"/>
                </a:lnTo>
                <a:lnTo>
                  <a:pt x="8752136" y="95250"/>
                </a:ln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>
            <a:srgbClr val="1F375B"/>
          </a:solidFill>
        </p:spPr>
        <p:txBody>
          <a:bodyPr wrap="square" lIns="0" tIns="0" rIns="0" bIns="0" rtlCol="0"/>
          <a:lstStyle/>
          <a:p>
            <a:endParaRPr sz="2037"/>
          </a:p>
        </p:txBody>
      </p:sp>
      <p:sp>
        <p:nvSpPr>
          <p:cNvPr id="7" name="object 7"/>
          <p:cNvSpPr txBox="1"/>
          <p:nvPr/>
        </p:nvSpPr>
        <p:spPr>
          <a:xfrm>
            <a:off x="511930" y="1779533"/>
            <a:ext cx="8915548" cy="1125159"/>
          </a:xfrm>
          <a:prstGeom prst="rect">
            <a:avLst/>
          </a:prstGeom>
        </p:spPr>
        <p:txBody>
          <a:bodyPr vert="horz" wrap="square" lIns="0" tIns="199877" rIns="0" bIns="0" rtlCol="0">
            <a:spAutoFit/>
          </a:bodyPr>
          <a:lstStyle/>
          <a:p>
            <a:r>
              <a:rPr lang="da-DK" dirty="0"/>
              <a:t>1. Hvad er en mangel?</a:t>
            </a:r>
          </a:p>
          <a:p>
            <a:endParaRPr lang="da-DK" dirty="0"/>
          </a:p>
          <a:p>
            <a:r>
              <a:rPr lang="da-DK" dirty="0"/>
              <a:t>2. Kan sælger blive ansvarlig for mangler, selvom der er udarbejdet tilstandsrapport?</a:t>
            </a:r>
          </a:p>
        </p:txBody>
      </p:sp>
      <p:sp>
        <p:nvSpPr>
          <p:cNvPr id="3" name="Pladsholder til slidenummer 2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da-DK" smtClean="0"/>
              <a:t>3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0874335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11930" y="614591"/>
            <a:ext cx="9282309" cy="383049"/>
          </a:xfrm>
          <a:prstGeom prst="rect">
            <a:avLst/>
          </a:prstGeom>
        </p:spPr>
        <p:txBody>
          <a:bodyPr vert="horz" wrap="square" lIns="0" tIns="13584" rIns="0" bIns="0" rtlCol="0">
            <a:spAutoFit/>
          </a:bodyPr>
          <a:lstStyle/>
          <a:p>
            <a:r>
              <a:rPr lang="da-DK" sz="2400" dirty="0"/>
              <a:t>3. Mangler ved </a:t>
            </a:r>
            <a:r>
              <a:rPr lang="da-DK" sz="2400"/>
              <a:t>fast ejendom</a:t>
            </a:r>
            <a:endParaRPr lang="da-DK" sz="2400" dirty="0"/>
          </a:p>
        </p:txBody>
      </p:sp>
      <p:sp>
        <p:nvSpPr>
          <p:cNvPr id="4" name="object 4"/>
          <p:cNvSpPr/>
          <p:nvPr/>
        </p:nvSpPr>
        <p:spPr>
          <a:xfrm>
            <a:off x="511930" y="1164331"/>
            <a:ext cx="8915549" cy="97028"/>
          </a:xfrm>
          <a:custGeom>
            <a:avLst/>
            <a:gdLst/>
            <a:ahLst/>
            <a:cxnLst/>
            <a:rect l="l" t="t" r="r" b="b"/>
            <a:pathLst>
              <a:path w="8752205" h="95250">
                <a:moveTo>
                  <a:pt x="0" y="0"/>
                </a:moveTo>
                <a:lnTo>
                  <a:pt x="8752136" y="0"/>
                </a:lnTo>
                <a:lnTo>
                  <a:pt x="8752136" y="95250"/>
                </a:ln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>
            <a:srgbClr val="1F375B"/>
          </a:solidFill>
        </p:spPr>
        <p:txBody>
          <a:bodyPr wrap="square" lIns="0" tIns="0" rIns="0" bIns="0" rtlCol="0"/>
          <a:lstStyle/>
          <a:p>
            <a:endParaRPr sz="2037"/>
          </a:p>
        </p:txBody>
      </p:sp>
      <p:sp>
        <p:nvSpPr>
          <p:cNvPr id="5" name="object 5"/>
          <p:cNvSpPr/>
          <p:nvPr/>
        </p:nvSpPr>
        <p:spPr>
          <a:xfrm>
            <a:off x="511930" y="310488"/>
            <a:ext cx="8915549" cy="97028"/>
          </a:xfrm>
          <a:custGeom>
            <a:avLst/>
            <a:gdLst/>
            <a:ahLst/>
            <a:cxnLst/>
            <a:rect l="l" t="t" r="r" b="b"/>
            <a:pathLst>
              <a:path w="8752205" h="95250">
                <a:moveTo>
                  <a:pt x="0" y="0"/>
                </a:moveTo>
                <a:lnTo>
                  <a:pt x="8752136" y="0"/>
                </a:lnTo>
                <a:lnTo>
                  <a:pt x="8752136" y="95250"/>
                </a:ln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>
            <a:srgbClr val="1F375B"/>
          </a:solidFill>
        </p:spPr>
        <p:txBody>
          <a:bodyPr wrap="square" lIns="0" tIns="0" rIns="0" bIns="0" rtlCol="0"/>
          <a:lstStyle/>
          <a:p>
            <a:endParaRPr sz="2037"/>
          </a:p>
        </p:txBody>
      </p:sp>
      <p:sp>
        <p:nvSpPr>
          <p:cNvPr id="7" name="object 7"/>
          <p:cNvSpPr txBox="1"/>
          <p:nvPr/>
        </p:nvSpPr>
        <p:spPr>
          <a:xfrm>
            <a:off x="511930" y="1779533"/>
            <a:ext cx="8915548" cy="1740712"/>
          </a:xfrm>
          <a:prstGeom prst="rect">
            <a:avLst/>
          </a:prstGeom>
        </p:spPr>
        <p:txBody>
          <a:bodyPr vert="horz" wrap="square" lIns="0" tIns="199877" rIns="0" bIns="0" rtlCol="0">
            <a:spAutoFit/>
          </a:bodyPr>
          <a:lstStyle/>
          <a:p>
            <a:r>
              <a:rPr lang="da-DK" dirty="0"/>
              <a:t>1. Hvilken pligt har køber – ved siden af sælgers oplysningspligt?</a:t>
            </a:r>
          </a:p>
          <a:p>
            <a:endParaRPr lang="da-DK" dirty="0"/>
          </a:p>
          <a:p>
            <a:r>
              <a:rPr lang="da-DK" dirty="0"/>
              <a:t>2. Hvem er ansvarlig for mangler uden for bygningen?</a:t>
            </a:r>
          </a:p>
          <a:p>
            <a:endParaRPr lang="da-DK" dirty="0"/>
          </a:p>
          <a:p>
            <a:r>
              <a:rPr lang="da-DK" dirty="0"/>
              <a:t>3. Hvilke misligholdelsesbeføjelser kan køber gøre gældende, hvis der er mangler?</a:t>
            </a:r>
          </a:p>
        </p:txBody>
      </p:sp>
      <p:sp>
        <p:nvSpPr>
          <p:cNvPr id="3" name="Pladsholder til slidenummer 2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da-DK" smtClean="0"/>
              <a:t>4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7788648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tekst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a-DK" dirty="0"/>
              <a:t>4. Ejendomsmæglers ansvar</a:t>
            </a:r>
          </a:p>
          <a:p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9310808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11930" y="614591"/>
            <a:ext cx="9282309" cy="383049"/>
          </a:xfrm>
          <a:prstGeom prst="rect">
            <a:avLst/>
          </a:prstGeom>
        </p:spPr>
        <p:txBody>
          <a:bodyPr vert="horz" wrap="square" lIns="0" tIns="13584" rIns="0" bIns="0" rtlCol="0">
            <a:spAutoFit/>
          </a:bodyPr>
          <a:lstStyle/>
          <a:p>
            <a:r>
              <a:rPr lang="da-DK" sz="2400" dirty="0"/>
              <a:t>4. Ejendomsmæglerens ansvar</a:t>
            </a:r>
          </a:p>
        </p:txBody>
      </p:sp>
      <p:sp>
        <p:nvSpPr>
          <p:cNvPr id="4" name="object 4"/>
          <p:cNvSpPr/>
          <p:nvPr/>
        </p:nvSpPr>
        <p:spPr>
          <a:xfrm>
            <a:off x="511930" y="1164331"/>
            <a:ext cx="8915549" cy="97028"/>
          </a:xfrm>
          <a:custGeom>
            <a:avLst/>
            <a:gdLst/>
            <a:ahLst/>
            <a:cxnLst/>
            <a:rect l="l" t="t" r="r" b="b"/>
            <a:pathLst>
              <a:path w="8752205" h="95250">
                <a:moveTo>
                  <a:pt x="0" y="0"/>
                </a:moveTo>
                <a:lnTo>
                  <a:pt x="8752136" y="0"/>
                </a:lnTo>
                <a:lnTo>
                  <a:pt x="8752136" y="95250"/>
                </a:ln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>
            <a:srgbClr val="1F375B"/>
          </a:solidFill>
        </p:spPr>
        <p:txBody>
          <a:bodyPr wrap="square" lIns="0" tIns="0" rIns="0" bIns="0" rtlCol="0"/>
          <a:lstStyle/>
          <a:p>
            <a:endParaRPr sz="2037"/>
          </a:p>
        </p:txBody>
      </p:sp>
      <p:sp>
        <p:nvSpPr>
          <p:cNvPr id="5" name="object 5"/>
          <p:cNvSpPr/>
          <p:nvPr/>
        </p:nvSpPr>
        <p:spPr>
          <a:xfrm>
            <a:off x="511930" y="310488"/>
            <a:ext cx="8915549" cy="97028"/>
          </a:xfrm>
          <a:custGeom>
            <a:avLst/>
            <a:gdLst/>
            <a:ahLst/>
            <a:cxnLst/>
            <a:rect l="l" t="t" r="r" b="b"/>
            <a:pathLst>
              <a:path w="8752205" h="95250">
                <a:moveTo>
                  <a:pt x="0" y="0"/>
                </a:moveTo>
                <a:lnTo>
                  <a:pt x="8752136" y="0"/>
                </a:lnTo>
                <a:lnTo>
                  <a:pt x="8752136" y="95250"/>
                </a:ln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>
            <a:srgbClr val="1F375B"/>
          </a:solidFill>
        </p:spPr>
        <p:txBody>
          <a:bodyPr wrap="square" lIns="0" tIns="0" rIns="0" bIns="0" rtlCol="0"/>
          <a:lstStyle/>
          <a:p>
            <a:endParaRPr sz="2037"/>
          </a:p>
        </p:txBody>
      </p:sp>
      <p:sp>
        <p:nvSpPr>
          <p:cNvPr id="7" name="object 7"/>
          <p:cNvSpPr txBox="1"/>
          <p:nvPr/>
        </p:nvSpPr>
        <p:spPr>
          <a:xfrm>
            <a:off x="511930" y="1779533"/>
            <a:ext cx="8915548" cy="2356265"/>
          </a:xfrm>
          <a:prstGeom prst="rect">
            <a:avLst/>
          </a:prstGeom>
        </p:spPr>
        <p:txBody>
          <a:bodyPr vert="horz" wrap="square" lIns="0" tIns="199877" rIns="0" bIns="0" rtlCol="0">
            <a:spAutoFit/>
          </a:bodyPr>
          <a:lstStyle/>
          <a:p>
            <a:r>
              <a:rPr lang="da-DK" dirty="0"/>
              <a:t>1. Ud fra hvilken standard vurderes ejendomsmæglerens rådgiveransvar?</a:t>
            </a:r>
          </a:p>
          <a:p>
            <a:endParaRPr lang="da-DK" dirty="0"/>
          </a:p>
          <a:p>
            <a:r>
              <a:rPr lang="da-DK" dirty="0"/>
              <a:t>2. Hvornår kan ejendomsmægleren blive objektivt ansvarlig?</a:t>
            </a:r>
          </a:p>
          <a:p>
            <a:endParaRPr lang="da-DK" dirty="0"/>
          </a:p>
          <a:p>
            <a:r>
              <a:rPr lang="da-DK" dirty="0"/>
              <a:t>3. Hvilken institution kan en forbruger klage til i relation ejendomshandel?</a:t>
            </a:r>
          </a:p>
          <a:p>
            <a:endParaRPr lang="da-DK" dirty="0"/>
          </a:p>
          <a:p>
            <a:r>
              <a:rPr lang="da-DK" dirty="0"/>
              <a:t>4. Hvem træffer afgørelse i sager om overtrædelse af LOFE og god skik?</a:t>
            </a:r>
          </a:p>
        </p:txBody>
      </p:sp>
      <p:sp>
        <p:nvSpPr>
          <p:cNvPr id="3" name="Pladsholder til slidenummer 2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da-DK" smtClean="0"/>
              <a:t>6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871684210"/>
      </p:ext>
    </p:extLst>
  </p:cSld>
  <p:clrMapOvr>
    <a:masterClrMapping/>
  </p:clrMapOvr>
</p:sld>
</file>

<file path=ppt/theme/theme1.xml><?xml version="1.0" encoding="utf-8"?>
<a:theme xmlns:a="http://schemas.openxmlformats.org/drawingml/2006/main" name="cphbusiness POWERPOINT skabelo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Kontortema">
  <a:themeElements>
    <a:clrScheme name="Kontor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ontor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ont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Kontortema">
  <a:themeElements>
    <a:clrScheme name="Kontor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ontor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ont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0E7AEDA699A6046B28BDB03A4B3ACE5" ma:contentTypeVersion="18" ma:contentTypeDescription="Create a new document." ma:contentTypeScope="" ma:versionID="02e15c3bcd745aa8f170db0a17cd0653">
  <xsd:schema xmlns:xsd="http://www.w3.org/2001/XMLSchema" xmlns:xs="http://www.w3.org/2001/XMLSchema" xmlns:p="http://schemas.microsoft.com/office/2006/metadata/properties" xmlns:ns1="http://schemas.microsoft.com/sharepoint/v3" xmlns:ns2="7d4bd1a6-963b-4ce5-9d6a-82f9bec88dc5" xmlns:ns3="d40e101a-1fec-4fbd-a9d0-ed41492f4cd8" targetNamespace="http://schemas.microsoft.com/office/2006/metadata/properties" ma:root="true" ma:fieldsID="e9ef13896b839d8d93edccf46d0a437c" ns1:_="" ns2:_="" ns3:_="">
    <xsd:import namespace="http://schemas.microsoft.com/sharepoint/v3"/>
    <xsd:import namespace="7d4bd1a6-963b-4ce5-9d6a-82f9bec88dc5"/>
    <xsd:import namespace="d40e101a-1fec-4fbd-a9d0-ed41492f4cd8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Initials" minOccurs="0"/>
                <xsd:element ref="ns3:Semester" minOccurs="0"/>
                <xsd:element ref="ns3:Indhold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Location" minOccurs="0"/>
                <xsd:element ref="ns1:_ip_UnifiedCompliancePolicyProperties" minOccurs="0"/>
                <xsd:element ref="ns1:_ip_UnifiedCompliancePolicyUIAc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9" nillable="true" ma:displayName="Unified Compliance Policy Properties" ma:description="" ma:hidden="true" ma:internalName="_ip_UnifiedCompliancePolicyProperties">
      <xsd:simpleType>
        <xsd:restriction base="dms:Note"/>
      </xsd:simpleType>
    </xsd:element>
    <xsd:element name="_ip_UnifiedCompliancePolicyUIAction" ma:index="20" nillable="true" ma:displayName="Unified Compliance Policy UI Action" ma:description="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d4bd1a6-963b-4ce5-9d6a-82f9bec88dc5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40e101a-1fec-4fbd-a9d0-ed41492f4cd8" elementFormDefault="qualified">
    <xsd:import namespace="http://schemas.microsoft.com/office/2006/documentManagement/types"/>
    <xsd:import namespace="http://schemas.microsoft.com/office/infopath/2007/PartnerControls"/>
    <xsd:element name="Initials" ma:index="10" nillable="true" ma:displayName="Flow" ma:internalName="Initials">
      <xsd:simpleType>
        <xsd:restriction base="dms:Text">
          <xsd:maxLength value="255"/>
        </xsd:restriction>
      </xsd:simpleType>
    </xsd:element>
    <xsd:element name="Semester" ma:index="12" nillable="true" ma:displayName="Semester" ma:internalName="Semester">
      <xsd:simpleType>
        <xsd:restriction base="dms:Text">
          <xsd:maxLength value="255"/>
        </xsd:restriction>
      </xsd:simpleType>
    </xsd:element>
    <xsd:element name="Indhold" ma:index="13" nillable="true" ma:displayName="Indhold" ma:internalName="Indhold">
      <xsd:simpleType>
        <xsd:restriction base="dms:Note">
          <xsd:maxLength value="255"/>
        </xsd:restriction>
      </xsd:simpleType>
    </xsd:element>
    <xsd:element name="MediaServiceMetadata" ma:index="14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15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DateTaken" ma:index="16" nillable="true" ma:displayName="MediaServiceDateTaken" ma:description="" ma:hidden="true" ma:internalName="MediaServiceDateTaken" ma:readOnly="true">
      <xsd:simpleType>
        <xsd:restriction base="dms:Text"/>
      </xsd:simpleType>
    </xsd:element>
    <xsd:element name="MediaServiceAutoTags" ma:index="17" nillable="true" ma:displayName="MediaServiceAutoTags" ma:description="" ma:internalName="MediaServiceAutoTags" ma:readOnly="true">
      <xsd:simpleType>
        <xsd:restriction base="dms:Text"/>
      </xsd:simpleType>
    </xsd:element>
    <xsd:element name="MediaServiceLocation" ma:index="18" nillable="true" ma:displayName="MediaServiceLocation" ma:description="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 ma:index="11" ma:displayName="Subject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Indhold xmlns="d40e101a-1fec-4fbd-a9d0-ed41492f4cd8" xsi:nil="true"/>
    <_ip_UnifiedCompliancePolicyUIAction xmlns="http://schemas.microsoft.com/sharepoint/v3" xsi:nil="true"/>
    <Initials xmlns="d40e101a-1fec-4fbd-a9d0-ed41492f4cd8" xsi:nil="true"/>
    <Semester xmlns="d40e101a-1fec-4fbd-a9d0-ed41492f4cd8" xsi:nil="true"/>
    <_ip_UnifiedCompliancePolicyProperties xmlns="http://schemas.microsoft.com/sharepoint/v3" xsi:nil="true"/>
  </documentManagement>
</p:properties>
</file>

<file path=customXml/itemProps1.xml><?xml version="1.0" encoding="utf-8"?>
<ds:datastoreItem xmlns:ds="http://schemas.openxmlformats.org/officeDocument/2006/customXml" ds:itemID="{17DD3E5E-6749-43E6-B4E0-0299C6A3760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d4bd1a6-963b-4ce5-9d6a-82f9bec88dc5"/>
    <ds:schemaRef ds:uri="d40e101a-1fec-4fbd-a9d0-ed41492f4cd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0C7140B-B232-46A9-9118-1C333411689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C83B8EF-2B6D-4B79-9A29-2F5E34987912}">
  <ds:schemaRefs>
    <ds:schemaRef ds:uri="7d4bd1a6-963b-4ce5-9d6a-82f9bec88dc5"/>
    <ds:schemaRef ds:uri="http://schemas.microsoft.com/office/2006/documentManagement/types"/>
    <ds:schemaRef ds:uri="d40e101a-1fec-4fbd-a9d0-ed41492f4cd8"/>
    <ds:schemaRef ds:uri="http://schemas.microsoft.com/office/infopath/2007/PartnerControls"/>
    <ds:schemaRef ds:uri="http://www.w3.org/XML/1998/namespace"/>
    <ds:schemaRef ds:uri="http://schemas.microsoft.com/sharepoint/v3"/>
    <ds:schemaRef ds:uri="http://purl.org/dc/terms/"/>
    <ds:schemaRef ds:uri="http://schemas.microsoft.com/office/2006/metadata/properties"/>
    <ds:schemaRef ds:uri="http://purl.org/dc/dcmitype/"/>
    <ds:schemaRef ds:uri="http://schemas.openxmlformats.org/package/2006/metadata/core-properties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14998</TotalTime>
  <Words>175</Words>
  <Application>Microsoft Office PowerPoint</Application>
  <PresentationFormat>Brugerdefineret</PresentationFormat>
  <Paragraphs>35</Paragraphs>
  <Slides>6</Slides>
  <Notes>0</Notes>
  <HiddenSlides>0</HiddenSlides>
  <MMClips>0</MMClips>
  <ScaleCrop>false</ScaleCrop>
  <HeadingPairs>
    <vt:vector size="6" baseType="variant">
      <vt:variant>
        <vt:lpstr>Benyttede skrifttyper</vt:lpstr>
      </vt:variant>
      <vt:variant>
        <vt:i4>4</vt:i4>
      </vt:variant>
      <vt:variant>
        <vt:lpstr>Tema</vt:lpstr>
      </vt:variant>
      <vt:variant>
        <vt:i4>1</vt:i4>
      </vt:variant>
      <vt:variant>
        <vt:lpstr>Slidetitler</vt:lpstr>
      </vt:variant>
      <vt:variant>
        <vt:i4>6</vt:i4>
      </vt:variant>
    </vt:vector>
  </HeadingPairs>
  <TitlesOfParts>
    <vt:vector size="11" baseType="lpstr">
      <vt:lpstr>Arial</vt:lpstr>
      <vt:lpstr>Calibri</vt:lpstr>
      <vt:lpstr>Verdana</vt:lpstr>
      <vt:lpstr>Wingdings</vt:lpstr>
      <vt:lpstr>cphbusiness POWERPOINT skabelon</vt:lpstr>
      <vt:lpstr>PowerPoint-præsentation</vt:lpstr>
      <vt:lpstr>PowerPoint-præsentation</vt:lpstr>
      <vt:lpstr>3. Mangler ved fast ejendom</vt:lpstr>
      <vt:lpstr>3. Mangler ved fast ejendom</vt:lpstr>
      <vt:lpstr>PowerPoint-præsentation</vt:lpstr>
      <vt:lpstr>4. Ejendomsmæglerens ansvar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Dias nummer 1</dc:title>
  <dc:creator>Søren Thestrup (SOTH - Lektor - Cphbusiness)</dc:creator>
  <cp:keywords>Erhvervsjura</cp:keywords>
  <cp:lastModifiedBy>Søren Thestrup (SOTH - Lektor - Cphbusiness)</cp:lastModifiedBy>
  <cp:revision>539</cp:revision>
  <cp:lastPrinted>2018-12-11T14:55:36Z</cp:lastPrinted>
  <dcterms:created xsi:type="dcterms:W3CDTF">2012-08-10T08:33:35Z</dcterms:created>
  <dcterms:modified xsi:type="dcterms:W3CDTF">2024-05-27T09:53:03Z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0x01010050E7AEDA699A6046B28BDB03A4B3ACE5</vt:lpwstr>
  </property>
</Properties>
</file>