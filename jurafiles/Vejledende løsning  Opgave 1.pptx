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710" r:id="rId5"/>
    <p:sldId id="757" r:id="rId6"/>
    <p:sldId id="758" r:id="rId7"/>
    <p:sldId id="759" r:id="rId8"/>
    <p:sldId id="760" r:id="rId9"/>
    <p:sldId id="761" r:id="rId10"/>
    <p:sldId id="762" r:id="rId11"/>
    <p:sldId id="763" r:id="rId12"/>
    <p:sldId id="764" r:id="rId13"/>
    <p:sldId id="765" r:id="rId14"/>
  </p:sldIdLst>
  <p:sldSz cx="9939338" cy="7451725"/>
  <p:notesSz cx="6797675" cy="9926638"/>
  <p:defaultTextStyle>
    <a:defPPr>
      <a:defRPr lang="en-US"/>
    </a:defPPr>
    <a:lvl1pPr marL="0" algn="l" defTabSz="496885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496885" algn="l" defTabSz="496885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993770" algn="l" defTabSz="496885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490655" algn="l" defTabSz="496885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1987540" algn="l" defTabSz="496885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484425" algn="l" defTabSz="496885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2981310" algn="l" defTabSz="496885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478195" algn="l" defTabSz="496885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3975080" algn="l" defTabSz="496885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47">
          <p15:clr>
            <a:srgbClr val="A4A3A4"/>
          </p15:clr>
        </p15:guide>
        <p15:guide id="2" pos="313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63B"/>
    <a:srgbClr val="FBB04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6" autoAdjust="0"/>
    <p:restoredTop sz="94671" autoAdjust="0"/>
  </p:normalViewPr>
  <p:slideViewPr>
    <p:cSldViewPr snapToGrid="0" snapToObjects="1">
      <p:cViewPr varScale="1">
        <p:scale>
          <a:sx n="59" d="100"/>
          <a:sy n="59" d="100"/>
        </p:scale>
        <p:origin x="1376" y="60"/>
      </p:cViewPr>
      <p:guideLst>
        <p:guide orient="horz" pos="2347"/>
        <p:guide pos="313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958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sz="quarter" idx="1"/>
          </p:nvPr>
        </p:nvSpPr>
        <p:spPr>
          <a:xfrm>
            <a:off x="3851098" y="0"/>
            <a:ext cx="2944958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da-DK"/>
              <a:t>21-11-2017</a:t>
            </a:r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2"/>
          </p:nvPr>
        </p:nvSpPr>
        <p:spPr>
          <a:xfrm>
            <a:off x="0" y="9428164"/>
            <a:ext cx="2944958" cy="49688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3"/>
          </p:nvPr>
        </p:nvSpPr>
        <p:spPr>
          <a:xfrm>
            <a:off x="3851098" y="9428164"/>
            <a:ext cx="2944958" cy="49688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27331A-7756-4870-A527-9B237FF0DA0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91210297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633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50443" y="1"/>
            <a:ext cx="2945659" cy="49633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da-DK"/>
              <a:t>21-11-2017</a:t>
            </a:r>
          </a:p>
        </p:txBody>
      </p:sp>
      <p:sp>
        <p:nvSpPr>
          <p:cNvPr id="4" name="Pladsholder til dias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744538"/>
            <a:ext cx="4968875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63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63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3E0AAE-854D-43E9-AAB2-9F030F854AC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00666054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/>
          <p:nvPr userDrawn="1"/>
        </p:nvSpPr>
        <p:spPr>
          <a:xfrm>
            <a:off x="0" y="0"/>
            <a:ext cx="9944004" cy="7451725"/>
          </a:xfrm>
          <a:prstGeom prst="rect">
            <a:avLst/>
          </a:prstGeom>
          <a:solidFill>
            <a:srgbClr val="0016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1" descr="5fotos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788" y="1279054"/>
            <a:ext cx="8309043" cy="2029164"/>
          </a:xfrm>
          <a:prstGeom prst="rect">
            <a:avLst/>
          </a:prstGeom>
        </p:spPr>
      </p:pic>
      <p:pic>
        <p:nvPicPr>
          <p:cNvPr id="10" name="Picture 2" descr="CPH_CBA_Payoff_NEG_CMYK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790" y="1149719"/>
            <a:ext cx="7311326" cy="198320"/>
          </a:xfrm>
          <a:prstGeom prst="rect">
            <a:avLst/>
          </a:prstGeom>
        </p:spPr>
      </p:pic>
      <p:sp>
        <p:nvSpPr>
          <p:cNvPr id="20" name="Pladsholder til tekst 19"/>
          <p:cNvSpPr>
            <a:spLocks noGrp="1"/>
          </p:cNvSpPr>
          <p:nvPr>
            <p:ph type="body" sz="quarter" idx="10" hasCustomPrompt="1"/>
          </p:nvPr>
        </p:nvSpPr>
        <p:spPr>
          <a:xfrm>
            <a:off x="1127236" y="3639312"/>
            <a:ext cx="7399879" cy="784687"/>
          </a:xfrm>
          <a:prstGeom prst="rect">
            <a:avLst/>
          </a:prstGeom>
          <a:ln>
            <a:noFill/>
          </a:ln>
        </p:spPr>
        <p:txBody>
          <a:bodyPr/>
          <a:lstStyle>
            <a:lvl1pPr>
              <a:buNone/>
              <a:defRPr sz="3600">
                <a:solidFill>
                  <a:srgbClr val="FBB040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da-DK" dirty="0"/>
              <a:t>Tilføj titel</a:t>
            </a:r>
          </a:p>
        </p:txBody>
      </p:sp>
      <p:sp>
        <p:nvSpPr>
          <p:cNvPr id="22" name="Pladsholder til tekst 21"/>
          <p:cNvSpPr>
            <a:spLocks noGrp="1"/>
          </p:cNvSpPr>
          <p:nvPr>
            <p:ph type="body" sz="quarter" idx="11" hasCustomPrompt="1"/>
          </p:nvPr>
        </p:nvSpPr>
        <p:spPr>
          <a:xfrm>
            <a:off x="1127236" y="4426458"/>
            <a:ext cx="7409023" cy="2285238"/>
          </a:xfrm>
          <a:prstGeom prst="rect">
            <a:avLst/>
          </a:prstGeom>
        </p:spPr>
        <p:txBody>
          <a:bodyPr/>
          <a:lstStyle>
            <a:lvl1pPr>
              <a:buNone/>
              <a:defRPr sz="1400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da-DK" dirty="0">
                <a:solidFill>
                  <a:srgbClr val="FFFFFF"/>
                </a:solidFill>
              </a:rPr>
              <a:t>PowerPoint 31.07.2012 [RET DATO]</a:t>
            </a:r>
            <a:endParaRPr lang="da-DK" dirty="0"/>
          </a:p>
        </p:txBody>
      </p:sp>
      <p:pic>
        <p:nvPicPr>
          <p:cNvPr id="11" name="Picture 5" descr="CPHbusinessNEG_RGB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4008" y="10855"/>
            <a:ext cx="2339996" cy="927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340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yt em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/>
          <p:cNvSpPr/>
          <p:nvPr userDrawn="1"/>
        </p:nvSpPr>
        <p:spPr>
          <a:xfrm>
            <a:off x="0" y="0"/>
            <a:ext cx="9944004" cy="7451725"/>
          </a:xfrm>
          <a:prstGeom prst="rect">
            <a:avLst/>
          </a:prstGeom>
          <a:solidFill>
            <a:srgbClr val="0016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6" descr="3fotos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788" y="1304241"/>
            <a:ext cx="7500977" cy="3443013"/>
          </a:xfrm>
          <a:prstGeom prst="rect">
            <a:avLst/>
          </a:prstGeom>
        </p:spPr>
      </p:pic>
      <p:sp>
        <p:nvSpPr>
          <p:cNvPr id="8" name="Pladsholder til tekst 7"/>
          <p:cNvSpPr>
            <a:spLocks noGrp="1"/>
          </p:cNvSpPr>
          <p:nvPr>
            <p:ph type="body" sz="quarter" idx="10" hasCustomPrompt="1"/>
          </p:nvPr>
        </p:nvSpPr>
        <p:spPr>
          <a:xfrm>
            <a:off x="1127402" y="4855464"/>
            <a:ext cx="7589363" cy="779609"/>
          </a:xfrm>
          <a:prstGeom prst="rect">
            <a:avLst/>
          </a:prstGeom>
        </p:spPr>
        <p:txBody>
          <a:bodyPr/>
          <a:lstStyle>
            <a:lvl1pPr>
              <a:buNone/>
              <a:defRPr sz="3600">
                <a:solidFill>
                  <a:srgbClr val="FBB040"/>
                </a:solidFill>
              </a:defRPr>
            </a:lvl1pPr>
          </a:lstStyle>
          <a:p>
            <a:pPr lvl="0"/>
            <a:r>
              <a:rPr lang="da-DK" dirty="0"/>
              <a:t>Overskrift</a:t>
            </a:r>
          </a:p>
        </p:txBody>
      </p:sp>
      <p:sp>
        <p:nvSpPr>
          <p:cNvPr id="12" name="Pladsholder til tekst 11"/>
          <p:cNvSpPr>
            <a:spLocks noGrp="1"/>
          </p:cNvSpPr>
          <p:nvPr>
            <p:ph type="body" sz="quarter" idx="11" hasCustomPrompt="1"/>
          </p:nvPr>
        </p:nvSpPr>
        <p:spPr>
          <a:xfrm>
            <a:off x="1127237" y="5644216"/>
            <a:ext cx="7589528" cy="148810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da-DK" dirty="0" err="1"/>
              <a:t>Duis</a:t>
            </a:r>
            <a:r>
              <a:rPr lang="da-DK" dirty="0"/>
              <a:t> </a:t>
            </a:r>
            <a:r>
              <a:rPr lang="da-DK" dirty="0" err="1"/>
              <a:t>autem</a:t>
            </a:r>
            <a:r>
              <a:rPr lang="da-DK" dirty="0"/>
              <a:t> vel </a:t>
            </a:r>
            <a:r>
              <a:rPr lang="da-DK" dirty="0" err="1"/>
              <a:t>eum</a:t>
            </a:r>
            <a:r>
              <a:rPr lang="da-DK" dirty="0"/>
              <a:t> </a:t>
            </a:r>
            <a:r>
              <a:rPr lang="da-DK" dirty="0" err="1"/>
              <a:t>iriure</a:t>
            </a:r>
            <a:r>
              <a:rPr lang="da-DK" dirty="0"/>
              <a:t> </a:t>
            </a:r>
            <a:r>
              <a:rPr lang="da-DK" dirty="0" err="1"/>
              <a:t>dolor</a:t>
            </a:r>
            <a:r>
              <a:rPr lang="da-DK" dirty="0"/>
              <a:t> in </a:t>
            </a:r>
            <a:r>
              <a:rPr lang="da-DK" dirty="0" err="1"/>
              <a:t>hendrerit</a:t>
            </a:r>
            <a:r>
              <a:rPr lang="da-DK" dirty="0"/>
              <a:t> in </a:t>
            </a:r>
            <a:r>
              <a:rPr lang="da-DK" dirty="0" err="1"/>
              <a:t>vulputate</a:t>
            </a:r>
            <a:r>
              <a:rPr lang="da-DK" dirty="0"/>
              <a:t> </a:t>
            </a:r>
            <a:r>
              <a:rPr lang="da-DK" dirty="0" err="1"/>
              <a:t>velit</a:t>
            </a:r>
            <a:r>
              <a:rPr lang="da-DK" dirty="0"/>
              <a:t> </a:t>
            </a:r>
            <a:r>
              <a:rPr lang="da-DK" dirty="0" err="1"/>
              <a:t>hendrerit</a:t>
            </a:r>
            <a:r>
              <a:rPr lang="da-DK" dirty="0"/>
              <a:t> in </a:t>
            </a:r>
            <a:r>
              <a:rPr lang="da-DK" dirty="0" err="1"/>
              <a:t>vulputate</a:t>
            </a:r>
            <a:r>
              <a:rPr lang="da-DK" dirty="0"/>
              <a:t> </a:t>
            </a:r>
            <a:r>
              <a:rPr lang="da-DK" dirty="0" err="1"/>
              <a:t>velit</a:t>
            </a:r>
            <a:r>
              <a:rPr lang="da-DK" dirty="0"/>
              <a:t> </a:t>
            </a:r>
            <a:r>
              <a:rPr lang="da-DK" dirty="0" err="1"/>
              <a:t>hendrerit</a:t>
            </a:r>
            <a:r>
              <a:rPr lang="da-DK" dirty="0"/>
              <a:t> in </a:t>
            </a:r>
            <a:r>
              <a:rPr lang="da-DK" dirty="0" err="1"/>
              <a:t>vulputate</a:t>
            </a:r>
            <a:r>
              <a:rPr lang="da-DK" dirty="0"/>
              <a:t> </a:t>
            </a:r>
            <a:r>
              <a:rPr lang="da-DK" dirty="0" err="1"/>
              <a:t>velit</a:t>
            </a:r>
            <a:endParaRPr lang="da-DK" dirty="0"/>
          </a:p>
        </p:txBody>
      </p:sp>
      <p:pic>
        <p:nvPicPr>
          <p:cNvPr id="6" name="Picture 5" descr="CPHbusinessNEG_RGB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4008" y="10855"/>
            <a:ext cx="2339996" cy="92797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rmal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dsholder til tekst 5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6" y="727670"/>
            <a:ext cx="8789988" cy="1242418"/>
          </a:xfrm>
          <a:prstGeom prst="rect">
            <a:avLst/>
          </a:prstGeom>
        </p:spPr>
        <p:txBody>
          <a:bodyPr/>
          <a:lstStyle>
            <a:lvl1pPr>
              <a:buNone/>
              <a:defRPr sz="3600" b="1" baseline="0">
                <a:solidFill>
                  <a:srgbClr val="FBB040"/>
                </a:solidFill>
              </a:defRPr>
            </a:lvl1pPr>
          </a:lstStyle>
          <a:p>
            <a:pPr lvl="0"/>
            <a:r>
              <a:rPr lang="da-DK" dirty="0"/>
              <a:t>Skriv titel</a:t>
            </a:r>
          </a:p>
        </p:txBody>
      </p:sp>
      <p:sp>
        <p:nvSpPr>
          <p:cNvPr id="10" name="Pladsholder til tekst 9"/>
          <p:cNvSpPr>
            <a:spLocks noGrp="1"/>
          </p:cNvSpPr>
          <p:nvPr>
            <p:ph type="body" sz="quarter" idx="11"/>
          </p:nvPr>
        </p:nvSpPr>
        <p:spPr>
          <a:xfrm>
            <a:off x="879373" y="2773085"/>
            <a:ext cx="8054315" cy="3600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163B"/>
                </a:solidFill>
              </a:defRPr>
            </a:lvl1pPr>
            <a:lvl2pPr>
              <a:defRPr>
                <a:solidFill>
                  <a:srgbClr val="00163B"/>
                </a:solidFill>
              </a:defRPr>
            </a:lvl2pPr>
            <a:lvl3pPr>
              <a:defRPr>
                <a:solidFill>
                  <a:srgbClr val="00163B"/>
                </a:solidFill>
              </a:defRPr>
            </a:lvl3pPr>
            <a:lvl4pPr>
              <a:defRPr>
                <a:solidFill>
                  <a:srgbClr val="00163B"/>
                </a:solidFill>
              </a:defRPr>
            </a:lvl4pPr>
            <a:lvl5pPr>
              <a:defRPr>
                <a:solidFill>
                  <a:srgbClr val="00163B"/>
                </a:solidFill>
              </a:defRPr>
            </a:lvl5pPr>
          </a:lstStyle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da-DK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20" b="0" i="0">
                <a:solidFill>
                  <a:srgbClr val="1F375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834052-9428-4883-86A8-E540AA80AF32}" type="datetime1">
              <a:rPr lang="en-US" smtClean="0"/>
              <a:t>5/27/2024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6522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PHbusiness_RGB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334" y="10867"/>
            <a:ext cx="2347874" cy="930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532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4" r:id="rId4"/>
  </p:sldLayoutIdLst>
  <p:hf hdr="0" ftr="0" dt="0"/>
  <p:txStyles>
    <p:titleStyle>
      <a:lvl1pPr algn="l" defTabSz="496885" rtl="0" eaLnBrk="1" latinLnBrk="0" hangingPunct="1">
        <a:spcBef>
          <a:spcPct val="0"/>
        </a:spcBef>
        <a:buNone/>
        <a:defRPr sz="3600" kern="1200">
          <a:solidFill>
            <a:srgbClr val="FBB040"/>
          </a:solidFill>
          <a:latin typeface="Verdana"/>
          <a:ea typeface="+mj-ea"/>
          <a:cs typeface="Verdana"/>
        </a:defRPr>
      </a:lvl1pPr>
    </p:titleStyle>
    <p:bodyStyle>
      <a:lvl1pPr marL="372664" indent="-372664" algn="l" defTabSz="496885" rtl="0" eaLnBrk="1" latinLnBrk="0" hangingPunct="1">
        <a:spcBef>
          <a:spcPct val="20000"/>
        </a:spcBef>
        <a:buClr>
          <a:srgbClr val="FBB040"/>
        </a:buClr>
        <a:buFont typeface="Wingdings" charset="2"/>
        <a:buChar char="§"/>
        <a:defRPr sz="1800" kern="1200">
          <a:solidFill>
            <a:srgbClr val="00163B"/>
          </a:solidFill>
          <a:latin typeface="Verdana"/>
          <a:ea typeface="+mn-ea"/>
          <a:cs typeface="Verdana"/>
        </a:defRPr>
      </a:lvl1pPr>
      <a:lvl2pPr marL="807438" indent="-310553" algn="l" defTabSz="496885" rtl="0" eaLnBrk="1" latinLnBrk="0" hangingPunct="1">
        <a:spcBef>
          <a:spcPct val="20000"/>
        </a:spcBef>
        <a:buClr>
          <a:srgbClr val="FBB040"/>
        </a:buClr>
        <a:buFont typeface="Wingdings" charset="2"/>
        <a:buChar char="§"/>
        <a:defRPr sz="1800" kern="1200">
          <a:solidFill>
            <a:srgbClr val="00163B"/>
          </a:solidFill>
          <a:latin typeface="Verdana"/>
          <a:ea typeface="+mn-ea"/>
          <a:cs typeface="Verdana"/>
        </a:defRPr>
      </a:lvl2pPr>
      <a:lvl3pPr marL="1242212" indent="-248442" algn="l" defTabSz="496885" rtl="0" eaLnBrk="1" latinLnBrk="0" hangingPunct="1">
        <a:spcBef>
          <a:spcPct val="20000"/>
        </a:spcBef>
        <a:buClr>
          <a:srgbClr val="FBB040"/>
        </a:buClr>
        <a:buFont typeface="Wingdings" charset="2"/>
        <a:buChar char="§"/>
        <a:defRPr sz="1800" kern="1200">
          <a:solidFill>
            <a:srgbClr val="00163B"/>
          </a:solidFill>
          <a:latin typeface="Verdana"/>
          <a:ea typeface="+mn-ea"/>
          <a:cs typeface="Verdana"/>
        </a:defRPr>
      </a:lvl3pPr>
      <a:lvl4pPr marL="1739097" indent="-248442" algn="l" defTabSz="496885" rtl="0" eaLnBrk="1" latinLnBrk="0" hangingPunct="1">
        <a:spcBef>
          <a:spcPct val="20000"/>
        </a:spcBef>
        <a:buClr>
          <a:srgbClr val="FBB040"/>
        </a:buClr>
        <a:buFont typeface="Wingdings" charset="2"/>
        <a:buChar char="§"/>
        <a:defRPr sz="1800" kern="1200">
          <a:solidFill>
            <a:srgbClr val="00163B"/>
          </a:solidFill>
          <a:latin typeface="Verdana"/>
          <a:ea typeface="+mn-ea"/>
          <a:cs typeface="Verdana"/>
        </a:defRPr>
      </a:lvl4pPr>
      <a:lvl5pPr marL="2235982" indent="-248442" algn="l" defTabSz="496885" rtl="0" eaLnBrk="1" latinLnBrk="0" hangingPunct="1">
        <a:spcBef>
          <a:spcPct val="20000"/>
        </a:spcBef>
        <a:buClr>
          <a:srgbClr val="FBB040"/>
        </a:buClr>
        <a:buFont typeface="Wingdings" charset="2"/>
        <a:buChar char="§"/>
        <a:defRPr sz="1800" kern="1200">
          <a:solidFill>
            <a:srgbClr val="00163B"/>
          </a:solidFill>
          <a:latin typeface="Verdana"/>
          <a:ea typeface="+mn-ea"/>
          <a:cs typeface="Verdana"/>
        </a:defRPr>
      </a:lvl5pPr>
      <a:lvl6pPr marL="2732867" indent="-248442" algn="l" defTabSz="496885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29752" indent="-248442" algn="l" defTabSz="496885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26637" indent="-248442" algn="l" defTabSz="496885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23522" indent="-248442" algn="l" defTabSz="496885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9688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6885" algn="l" defTabSz="49688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93770" algn="l" defTabSz="49688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90655" algn="l" defTabSz="49688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87540" algn="l" defTabSz="49688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84425" algn="l" defTabSz="49688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81310" algn="l" defTabSz="49688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78195" algn="l" defTabSz="49688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75080" algn="l" defTabSz="49688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-5345" y="31175"/>
            <a:ext cx="9944004" cy="7456750"/>
          </a:xfrm>
          <a:prstGeom prst="rect">
            <a:avLst/>
          </a:prstGeom>
          <a:solidFill>
            <a:srgbClr val="0016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 1"/>
          <p:cNvSpPr txBox="1">
            <a:spLocks/>
          </p:cNvSpPr>
          <p:nvPr/>
        </p:nvSpPr>
        <p:spPr>
          <a:xfrm>
            <a:off x="769740" y="3342399"/>
            <a:ext cx="9070946" cy="1694296"/>
          </a:xfrm>
          <a:prstGeom prst="rect">
            <a:avLst/>
          </a:prstGeom>
        </p:spPr>
        <p:txBody>
          <a:bodyPr vert="horz" lIns="99377" tIns="49688" rIns="99377" bIns="49688" rtlCol="0" anchor="ctr">
            <a:noAutofit/>
          </a:bodyPr>
          <a:lstStyle>
            <a:lvl1pPr algn="l" defTabSz="496885" rtl="0" eaLnBrk="1" latinLnBrk="0" hangingPunct="1">
              <a:spcBef>
                <a:spcPct val="0"/>
              </a:spcBef>
              <a:buNone/>
              <a:defRPr sz="3600" kern="1200">
                <a:solidFill>
                  <a:srgbClr val="FBB040"/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da-DK" b="1" dirty="0"/>
              <a:t>Opgave 1 / Handel med fast ejendom / </a:t>
            </a:r>
            <a:r>
              <a:rPr lang="da-DK" b="1" dirty="0">
                <a:solidFill>
                  <a:srgbClr val="FF0000"/>
                </a:solidFill>
              </a:rPr>
              <a:t>RETTEVEJLEDNING</a:t>
            </a:r>
          </a:p>
        </p:txBody>
      </p:sp>
      <p:sp>
        <p:nvSpPr>
          <p:cNvPr id="5" name="Text Placeholder 2"/>
          <p:cNvSpPr txBox="1">
            <a:spLocks/>
          </p:cNvSpPr>
          <p:nvPr/>
        </p:nvSpPr>
        <p:spPr>
          <a:xfrm>
            <a:off x="788366" y="4765040"/>
            <a:ext cx="8497147" cy="2499360"/>
          </a:xfrm>
          <a:prstGeom prst="rect">
            <a:avLst/>
          </a:prstGeom>
        </p:spPr>
        <p:txBody>
          <a:bodyPr vert="horz" lIns="99377" tIns="49688" rIns="99377" bIns="49688" rtlCol="0">
            <a:noAutofit/>
          </a:bodyPr>
          <a:lstStyle>
            <a:lvl1pPr marL="372664" indent="-372664" algn="l" defTabSz="496885" rtl="0" eaLnBrk="1" latinLnBrk="0" hangingPunct="1">
              <a:spcBef>
                <a:spcPct val="20000"/>
              </a:spcBef>
              <a:buClr>
                <a:srgbClr val="FBB040"/>
              </a:buClr>
              <a:buFont typeface="Wingdings" charset="2"/>
              <a:buChar char="§"/>
              <a:defRPr sz="1800" kern="1200">
                <a:solidFill>
                  <a:srgbClr val="00163B"/>
                </a:solidFill>
                <a:latin typeface="Verdana"/>
                <a:ea typeface="+mn-ea"/>
                <a:cs typeface="Verdana"/>
              </a:defRPr>
            </a:lvl1pPr>
            <a:lvl2pPr marL="807438" indent="-310553" algn="l" defTabSz="496885" rtl="0" eaLnBrk="1" latinLnBrk="0" hangingPunct="1">
              <a:spcBef>
                <a:spcPct val="20000"/>
              </a:spcBef>
              <a:buClr>
                <a:srgbClr val="FBB040"/>
              </a:buClr>
              <a:buFont typeface="Wingdings" charset="2"/>
              <a:buChar char="§"/>
              <a:defRPr sz="1800" kern="1200">
                <a:solidFill>
                  <a:srgbClr val="00163B"/>
                </a:solidFill>
                <a:latin typeface="Verdana"/>
                <a:ea typeface="+mn-ea"/>
                <a:cs typeface="Verdana"/>
              </a:defRPr>
            </a:lvl2pPr>
            <a:lvl3pPr marL="1242212" indent="-248442" algn="l" defTabSz="496885" rtl="0" eaLnBrk="1" latinLnBrk="0" hangingPunct="1">
              <a:spcBef>
                <a:spcPct val="20000"/>
              </a:spcBef>
              <a:buClr>
                <a:srgbClr val="FBB040"/>
              </a:buClr>
              <a:buFont typeface="Wingdings" charset="2"/>
              <a:buChar char="§"/>
              <a:defRPr sz="1800" kern="1200">
                <a:solidFill>
                  <a:srgbClr val="00163B"/>
                </a:solidFill>
                <a:latin typeface="Verdana"/>
                <a:ea typeface="+mn-ea"/>
                <a:cs typeface="Verdana"/>
              </a:defRPr>
            </a:lvl3pPr>
            <a:lvl4pPr marL="1739097" indent="-248442" algn="l" defTabSz="496885" rtl="0" eaLnBrk="1" latinLnBrk="0" hangingPunct="1">
              <a:spcBef>
                <a:spcPct val="20000"/>
              </a:spcBef>
              <a:buClr>
                <a:srgbClr val="FBB040"/>
              </a:buClr>
              <a:buFont typeface="Wingdings" charset="2"/>
              <a:buChar char="§"/>
              <a:defRPr sz="1800" kern="1200">
                <a:solidFill>
                  <a:srgbClr val="00163B"/>
                </a:solidFill>
                <a:latin typeface="Verdana"/>
                <a:ea typeface="+mn-ea"/>
                <a:cs typeface="Verdana"/>
              </a:defRPr>
            </a:lvl4pPr>
            <a:lvl5pPr marL="2235982" indent="-248442" algn="l" defTabSz="496885" rtl="0" eaLnBrk="1" latinLnBrk="0" hangingPunct="1">
              <a:spcBef>
                <a:spcPct val="20000"/>
              </a:spcBef>
              <a:buClr>
                <a:srgbClr val="FBB040"/>
              </a:buClr>
              <a:buFont typeface="Wingdings" charset="2"/>
              <a:buChar char="§"/>
              <a:defRPr sz="1800" kern="1200">
                <a:solidFill>
                  <a:srgbClr val="00163B"/>
                </a:solidFill>
                <a:latin typeface="Verdana"/>
                <a:ea typeface="+mn-ea"/>
                <a:cs typeface="Verdana"/>
              </a:defRPr>
            </a:lvl5pPr>
            <a:lvl6pPr marL="2732867" indent="-248442" algn="l" defTabSz="496885" rtl="0" eaLnBrk="1" latinLnBrk="0" hangingPunct="1">
              <a:spcBef>
                <a:spcPct val="20000"/>
              </a:spcBef>
              <a:buFont typeface="Arial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29752" indent="-248442" algn="l" defTabSz="496885" rtl="0" eaLnBrk="1" latinLnBrk="0" hangingPunct="1">
              <a:spcBef>
                <a:spcPct val="20000"/>
              </a:spcBef>
              <a:buFont typeface="Arial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26637" indent="-248442" algn="l" defTabSz="496885" rtl="0" eaLnBrk="1" latinLnBrk="0" hangingPunct="1">
              <a:spcBef>
                <a:spcPct val="20000"/>
              </a:spcBef>
              <a:buFont typeface="Arial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23522" indent="-248442" algn="l" defTabSz="496885" rtl="0" eaLnBrk="1" latinLnBrk="0" hangingPunct="1">
              <a:spcBef>
                <a:spcPct val="20000"/>
              </a:spcBef>
              <a:buFont typeface="Arial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a-DK" sz="1200" dirty="0">
                <a:solidFill>
                  <a:schemeClr val="bg1"/>
                </a:solidFill>
              </a:rPr>
              <a:t>Uddannelsessted: </a:t>
            </a:r>
          </a:p>
          <a:p>
            <a:pPr marL="0" indent="0">
              <a:buNone/>
            </a:pPr>
            <a:r>
              <a:rPr lang="da-DK" sz="1200" dirty="0">
                <a:solidFill>
                  <a:schemeClr val="bg1"/>
                </a:solidFill>
              </a:rPr>
              <a:t>CPH Business Academy, Hillerød afdeling. </a:t>
            </a:r>
          </a:p>
          <a:p>
            <a:pPr marL="0" indent="0">
              <a:buNone/>
            </a:pPr>
            <a:endParaRPr lang="da-DK" sz="1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da-DK" sz="1200" dirty="0">
                <a:solidFill>
                  <a:schemeClr val="bg1"/>
                </a:solidFill>
              </a:rPr>
              <a:t>Mål: 	</a:t>
            </a:r>
          </a:p>
          <a:p>
            <a:pPr marL="0" indent="0">
              <a:buNone/>
            </a:pPr>
            <a:r>
              <a:rPr lang="da-DK" sz="1200" dirty="0">
                <a:solidFill>
                  <a:schemeClr val="bg1"/>
                </a:solidFill>
              </a:rPr>
              <a:t>Opnå viden </a:t>
            </a:r>
            <a:r>
              <a:rPr lang="da-DK" sz="1200">
                <a:solidFill>
                  <a:schemeClr val="bg1"/>
                </a:solidFill>
              </a:rPr>
              <a:t>om handel med </a:t>
            </a:r>
            <a:r>
              <a:rPr lang="da-DK" sz="1200" dirty="0">
                <a:solidFill>
                  <a:schemeClr val="bg1"/>
                </a:solidFill>
              </a:rPr>
              <a:t>fast ejendom</a:t>
            </a:r>
          </a:p>
          <a:p>
            <a:pPr marL="0" indent="0">
              <a:buNone/>
            </a:pPr>
            <a:endParaRPr lang="da-DK" sz="1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da-DK" sz="1200" dirty="0">
                <a:solidFill>
                  <a:schemeClr val="bg1"/>
                </a:solidFill>
              </a:rPr>
              <a:t>Undervisningsdag: </a:t>
            </a:r>
          </a:p>
          <a:p>
            <a:pPr marL="0" indent="0">
              <a:buNone/>
            </a:pPr>
            <a:r>
              <a:rPr lang="da-DK" sz="1200" dirty="0">
                <a:solidFill>
                  <a:schemeClr val="bg1"/>
                </a:solidFill>
              </a:rPr>
              <a:t>2024</a:t>
            </a:r>
          </a:p>
          <a:p>
            <a:pPr marL="0" indent="0">
              <a:buNone/>
            </a:pPr>
            <a:endParaRPr lang="da-DK" sz="1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da-DK" sz="1200" dirty="0">
                <a:solidFill>
                  <a:schemeClr val="bg1"/>
                </a:solidFill>
              </a:rPr>
              <a:t>Underviser:</a:t>
            </a:r>
          </a:p>
          <a:p>
            <a:pPr marL="0" indent="0">
              <a:buNone/>
            </a:pPr>
            <a:r>
              <a:rPr lang="da-DK" sz="1200" dirty="0">
                <a:solidFill>
                  <a:schemeClr val="bg1"/>
                </a:solidFill>
              </a:rPr>
              <a:t>Søren Thestrup, lektor, cand.jur.</a:t>
            </a:r>
          </a:p>
        </p:txBody>
      </p:sp>
      <p:pic>
        <p:nvPicPr>
          <p:cNvPr id="6" name="Picture 5" descr="CPHbusinessNEG_RGB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4008" y="10855"/>
            <a:ext cx="2339996" cy="927977"/>
          </a:xfrm>
          <a:prstGeom prst="rect">
            <a:avLst/>
          </a:prstGeom>
        </p:spPr>
      </p:pic>
      <p:pic>
        <p:nvPicPr>
          <p:cNvPr id="3" name="Picture 2" descr="CPH_CBA_Payoff_NEG_CMYK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904" y="1149719"/>
            <a:ext cx="7311326" cy="198320"/>
          </a:xfrm>
          <a:prstGeom prst="rect">
            <a:avLst/>
          </a:prstGeom>
        </p:spPr>
      </p:pic>
      <p:pic>
        <p:nvPicPr>
          <p:cNvPr id="7" name="Billed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724" y="1722476"/>
            <a:ext cx="3783970" cy="1433322"/>
          </a:xfrm>
          <a:prstGeom prst="rect">
            <a:avLst/>
          </a:prstGeom>
        </p:spPr>
      </p:pic>
      <p:pic>
        <p:nvPicPr>
          <p:cNvPr id="9" name="Billed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0983" y="1722476"/>
            <a:ext cx="1471131" cy="1433322"/>
          </a:xfrm>
          <a:prstGeom prst="rect">
            <a:avLst/>
          </a:prstGeom>
        </p:spPr>
      </p:pic>
      <p:pic>
        <p:nvPicPr>
          <p:cNvPr id="10" name="Billed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3473" y="1722476"/>
            <a:ext cx="1707442" cy="1451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456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1930" y="614591"/>
            <a:ext cx="9282309" cy="383049"/>
          </a:xfrm>
          <a:prstGeom prst="rect">
            <a:avLst/>
          </a:prstGeom>
        </p:spPr>
        <p:txBody>
          <a:bodyPr vert="horz" wrap="square" lIns="0" tIns="13584" rIns="0" bIns="0" rtlCol="0">
            <a:spAutoFit/>
          </a:bodyPr>
          <a:lstStyle/>
          <a:p>
            <a:r>
              <a:rPr lang="da-DK" sz="2400" dirty="0"/>
              <a:t>2.1. Formidlingsaftale</a:t>
            </a:r>
          </a:p>
        </p:txBody>
      </p:sp>
      <p:sp>
        <p:nvSpPr>
          <p:cNvPr id="4" name="object 4"/>
          <p:cNvSpPr/>
          <p:nvPr/>
        </p:nvSpPr>
        <p:spPr>
          <a:xfrm>
            <a:off x="511930" y="1164331"/>
            <a:ext cx="8915549" cy="97028"/>
          </a:xfrm>
          <a:custGeom>
            <a:avLst/>
            <a:gdLst/>
            <a:ahLst/>
            <a:cxnLst/>
            <a:rect l="l" t="t" r="r" b="b"/>
            <a:pathLst>
              <a:path w="8752205" h="95250">
                <a:moveTo>
                  <a:pt x="0" y="0"/>
                </a:moveTo>
                <a:lnTo>
                  <a:pt x="8752136" y="0"/>
                </a:lnTo>
                <a:lnTo>
                  <a:pt x="8752136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1F375B"/>
          </a:solidFill>
        </p:spPr>
        <p:txBody>
          <a:bodyPr wrap="square" lIns="0" tIns="0" rIns="0" bIns="0" rtlCol="0"/>
          <a:lstStyle/>
          <a:p>
            <a:endParaRPr sz="2037"/>
          </a:p>
        </p:txBody>
      </p:sp>
      <p:sp>
        <p:nvSpPr>
          <p:cNvPr id="5" name="object 5"/>
          <p:cNvSpPr/>
          <p:nvPr/>
        </p:nvSpPr>
        <p:spPr>
          <a:xfrm>
            <a:off x="511930" y="310488"/>
            <a:ext cx="8915549" cy="97028"/>
          </a:xfrm>
          <a:custGeom>
            <a:avLst/>
            <a:gdLst/>
            <a:ahLst/>
            <a:cxnLst/>
            <a:rect l="l" t="t" r="r" b="b"/>
            <a:pathLst>
              <a:path w="8752205" h="95250">
                <a:moveTo>
                  <a:pt x="0" y="0"/>
                </a:moveTo>
                <a:lnTo>
                  <a:pt x="8752136" y="0"/>
                </a:lnTo>
                <a:lnTo>
                  <a:pt x="8752136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1F375B"/>
          </a:solidFill>
        </p:spPr>
        <p:txBody>
          <a:bodyPr wrap="square" lIns="0" tIns="0" rIns="0" bIns="0" rtlCol="0"/>
          <a:lstStyle/>
          <a:p>
            <a:endParaRPr sz="2037"/>
          </a:p>
        </p:txBody>
      </p:sp>
      <p:sp>
        <p:nvSpPr>
          <p:cNvPr id="7" name="object 7"/>
          <p:cNvSpPr txBox="1"/>
          <p:nvPr/>
        </p:nvSpPr>
        <p:spPr>
          <a:xfrm>
            <a:off x="511930" y="1779533"/>
            <a:ext cx="8915548" cy="4202924"/>
          </a:xfrm>
          <a:prstGeom prst="rect">
            <a:avLst/>
          </a:prstGeom>
        </p:spPr>
        <p:txBody>
          <a:bodyPr vert="horz" wrap="square" lIns="0" tIns="199877" rIns="0" bIns="0" rtlCol="0">
            <a:spAutoFit/>
          </a:bodyPr>
          <a:lstStyle/>
          <a:p>
            <a:endParaRPr lang="da-DK" dirty="0"/>
          </a:p>
          <a:p>
            <a:pPr marL="457200" indent="-457200">
              <a:buAutoNum type="arabicPeriod"/>
            </a:pPr>
            <a:r>
              <a:rPr lang="da-DK" dirty="0"/>
              <a:t>Hvem er parterne i en formidlingsaftale</a:t>
            </a:r>
          </a:p>
          <a:p>
            <a:r>
              <a:rPr lang="da-DK" dirty="0">
                <a:solidFill>
                  <a:srgbClr val="FF0000"/>
                </a:solidFill>
              </a:rPr>
              <a:t>Indgås mellem sælger og ejendomsmægler</a:t>
            </a:r>
          </a:p>
          <a:p>
            <a:endParaRPr lang="da-DK" dirty="0"/>
          </a:p>
          <a:p>
            <a:r>
              <a:rPr lang="da-DK" dirty="0"/>
              <a:t>2. Hvad skal en formidlingsaftale mindst indeholde?</a:t>
            </a:r>
          </a:p>
          <a:p>
            <a:r>
              <a:rPr lang="da-DK" dirty="0">
                <a:solidFill>
                  <a:srgbClr val="FF0000"/>
                </a:solidFill>
              </a:rPr>
              <a:t>Den skal indeholde betingelser om salgspris, annoncering og mæglers salær</a:t>
            </a:r>
          </a:p>
          <a:p>
            <a:endParaRPr lang="da-DK" dirty="0"/>
          </a:p>
          <a:p>
            <a:r>
              <a:rPr lang="da-DK" dirty="0"/>
              <a:t>3. Hvilken regel skal en formidlingsaftale overholde i LOFE?</a:t>
            </a:r>
          </a:p>
          <a:p>
            <a:r>
              <a:rPr lang="da-DK" dirty="0">
                <a:solidFill>
                  <a:srgbClr val="FF0000"/>
                </a:solidFill>
              </a:rPr>
              <a:t>Den skal overholde reglen i LOFE § 29 (og formidlingsbekendtgørelsen § 2 og 3)</a:t>
            </a:r>
          </a:p>
          <a:p>
            <a:endParaRPr lang="da-DK" dirty="0"/>
          </a:p>
          <a:p>
            <a:r>
              <a:rPr lang="da-DK" dirty="0"/>
              <a:t>4. Hvor længe må en formidlingsaftale maksimalt gælde? </a:t>
            </a:r>
          </a:p>
          <a:p>
            <a:r>
              <a:rPr lang="da-DK" dirty="0">
                <a:solidFill>
                  <a:srgbClr val="FF0000"/>
                </a:solidFill>
              </a:rPr>
              <a:t>Aftalen må højst løbe i 6 måneder og kan herefter forlænges 3 måneder ad gangen, hvis vederlag er afhængig af resultatet, LOFE § 31</a:t>
            </a:r>
          </a:p>
        </p:txBody>
      </p:sp>
      <p:sp>
        <p:nvSpPr>
          <p:cNvPr id="3" name="Pladsholder til slidenummer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da-DK" smtClean="0"/>
              <a:t>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39613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1930" y="614591"/>
            <a:ext cx="9282309" cy="752380"/>
          </a:xfrm>
          <a:prstGeom prst="rect">
            <a:avLst/>
          </a:prstGeom>
        </p:spPr>
        <p:txBody>
          <a:bodyPr vert="horz" wrap="square" lIns="0" tIns="13584" rIns="0" bIns="0" rtlCol="0">
            <a:spAutoFit/>
          </a:bodyPr>
          <a:lstStyle/>
          <a:p>
            <a:r>
              <a:rPr lang="da-DK" sz="2400" dirty="0"/>
              <a:t>2.2. Ejendomsmæglers opgaver</a:t>
            </a:r>
            <a:br>
              <a:rPr lang="da-DK" sz="2400" dirty="0"/>
            </a:br>
            <a:endParaRPr lang="da-DK" sz="2400" dirty="0"/>
          </a:p>
        </p:txBody>
      </p:sp>
      <p:sp>
        <p:nvSpPr>
          <p:cNvPr id="4" name="object 4"/>
          <p:cNvSpPr/>
          <p:nvPr/>
        </p:nvSpPr>
        <p:spPr>
          <a:xfrm>
            <a:off x="511930" y="1164331"/>
            <a:ext cx="8915549" cy="97028"/>
          </a:xfrm>
          <a:custGeom>
            <a:avLst/>
            <a:gdLst/>
            <a:ahLst/>
            <a:cxnLst/>
            <a:rect l="l" t="t" r="r" b="b"/>
            <a:pathLst>
              <a:path w="8752205" h="95250">
                <a:moveTo>
                  <a:pt x="0" y="0"/>
                </a:moveTo>
                <a:lnTo>
                  <a:pt x="8752136" y="0"/>
                </a:lnTo>
                <a:lnTo>
                  <a:pt x="8752136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1F375B"/>
          </a:solidFill>
        </p:spPr>
        <p:txBody>
          <a:bodyPr wrap="square" lIns="0" tIns="0" rIns="0" bIns="0" rtlCol="0"/>
          <a:lstStyle/>
          <a:p>
            <a:endParaRPr sz="2037"/>
          </a:p>
        </p:txBody>
      </p:sp>
      <p:sp>
        <p:nvSpPr>
          <p:cNvPr id="5" name="object 5"/>
          <p:cNvSpPr/>
          <p:nvPr/>
        </p:nvSpPr>
        <p:spPr>
          <a:xfrm>
            <a:off x="511930" y="310488"/>
            <a:ext cx="8915549" cy="97028"/>
          </a:xfrm>
          <a:custGeom>
            <a:avLst/>
            <a:gdLst/>
            <a:ahLst/>
            <a:cxnLst/>
            <a:rect l="l" t="t" r="r" b="b"/>
            <a:pathLst>
              <a:path w="8752205" h="95250">
                <a:moveTo>
                  <a:pt x="0" y="0"/>
                </a:moveTo>
                <a:lnTo>
                  <a:pt x="8752136" y="0"/>
                </a:lnTo>
                <a:lnTo>
                  <a:pt x="8752136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1F375B"/>
          </a:solidFill>
        </p:spPr>
        <p:txBody>
          <a:bodyPr wrap="square" lIns="0" tIns="0" rIns="0" bIns="0" rtlCol="0"/>
          <a:lstStyle/>
          <a:p>
            <a:endParaRPr sz="2037"/>
          </a:p>
        </p:txBody>
      </p:sp>
      <p:sp>
        <p:nvSpPr>
          <p:cNvPr id="7" name="object 7"/>
          <p:cNvSpPr txBox="1"/>
          <p:nvPr/>
        </p:nvSpPr>
        <p:spPr>
          <a:xfrm>
            <a:off x="511930" y="1779533"/>
            <a:ext cx="8915548" cy="3587371"/>
          </a:xfrm>
          <a:prstGeom prst="rect">
            <a:avLst/>
          </a:prstGeom>
        </p:spPr>
        <p:txBody>
          <a:bodyPr vert="horz" wrap="square" lIns="0" tIns="199877" rIns="0" bIns="0" rtlCol="0">
            <a:spAutoFit/>
          </a:bodyPr>
          <a:lstStyle/>
          <a:p>
            <a:r>
              <a:rPr lang="da-DK" dirty="0"/>
              <a:t>1. Når der er indgået formidlingsaftale hvilke opgaver har ejendomsmægler så: </a:t>
            </a:r>
          </a:p>
          <a:p>
            <a:r>
              <a:rPr lang="da-DK" dirty="0">
                <a:solidFill>
                  <a:srgbClr val="FF0000"/>
                </a:solidFill>
              </a:rPr>
              <a:t>Varetage sælgers interesser og rådgive sælger, herunder</a:t>
            </a:r>
          </a:p>
          <a:p>
            <a:pPr marL="839785" lvl="1" indent="-342900">
              <a:buFont typeface="Arial" panose="020B0604020202020204" pitchFamily="34" charset="0"/>
              <a:buChar char="•"/>
            </a:pPr>
            <a:endParaRPr lang="da-DK" dirty="0">
              <a:solidFill>
                <a:srgbClr val="FF0000"/>
              </a:solidFill>
            </a:endParaRPr>
          </a:p>
          <a:p>
            <a:pPr marL="839785" lvl="1" indent="-342900">
              <a:buFont typeface="Arial" panose="020B0604020202020204" pitchFamily="34" charset="0"/>
              <a:buChar char="•"/>
            </a:pPr>
            <a:r>
              <a:rPr lang="da-DK" dirty="0">
                <a:solidFill>
                  <a:srgbClr val="FF0000"/>
                </a:solidFill>
              </a:rPr>
              <a:t>Værdiansætte ejendommen og fastsætte prisen</a:t>
            </a:r>
          </a:p>
          <a:p>
            <a:pPr marL="839785" lvl="1" indent="-342900">
              <a:buFont typeface="Arial" panose="020B0604020202020204" pitchFamily="34" charset="0"/>
              <a:buChar char="•"/>
            </a:pPr>
            <a:r>
              <a:rPr lang="da-DK" dirty="0">
                <a:solidFill>
                  <a:srgbClr val="FF0000"/>
                </a:solidFill>
              </a:rPr>
              <a:t>Udarbejde finansieringsforslag</a:t>
            </a:r>
          </a:p>
          <a:p>
            <a:pPr marL="839785" lvl="1" indent="-342900">
              <a:buFont typeface="Arial" panose="020B0604020202020204" pitchFamily="34" charset="0"/>
              <a:buChar char="•"/>
            </a:pPr>
            <a:r>
              <a:rPr lang="da-DK" dirty="0">
                <a:solidFill>
                  <a:srgbClr val="FF0000"/>
                </a:solidFill>
              </a:rPr>
              <a:t>Beregne sælgers provenu</a:t>
            </a:r>
          </a:p>
          <a:p>
            <a:pPr marL="839785" lvl="1" indent="-342900">
              <a:buFont typeface="Arial" panose="020B0604020202020204" pitchFamily="34" charset="0"/>
              <a:buChar char="•"/>
            </a:pPr>
            <a:r>
              <a:rPr lang="da-DK" dirty="0">
                <a:solidFill>
                  <a:srgbClr val="FF0000"/>
                </a:solidFill>
              </a:rPr>
              <a:t>Udarbejde salgsopstilling og udkast til købsaftale</a:t>
            </a:r>
          </a:p>
          <a:p>
            <a:endParaRPr lang="da-DK" dirty="0">
              <a:solidFill>
                <a:srgbClr val="FF0000"/>
              </a:solidFill>
            </a:endParaRPr>
          </a:p>
          <a:p>
            <a:r>
              <a:rPr lang="da-DK" dirty="0">
                <a:solidFill>
                  <a:srgbClr val="FF0000"/>
                </a:solidFill>
              </a:rPr>
              <a:t>Give køber alle de relevante oplysninger</a:t>
            </a:r>
          </a:p>
          <a:p>
            <a:endParaRPr lang="da-DK" dirty="0">
              <a:solidFill>
                <a:srgbClr val="FF0000"/>
              </a:solidFill>
            </a:endParaRPr>
          </a:p>
          <a:p>
            <a:r>
              <a:rPr lang="da-DK" dirty="0">
                <a:solidFill>
                  <a:srgbClr val="FF0000"/>
                </a:solidFill>
              </a:rPr>
              <a:t>(Ejendomsmægler må ikke rådgive både sælger og køber, jf. LOFE § 26)</a:t>
            </a:r>
          </a:p>
        </p:txBody>
      </p:sp>
      <p:sp>
        <p:nvSpPr>
          <p:cNvPr id="3" name="Pladsholder til slidenummer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da-DK" smtClean="0"/>
              <a:t>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87786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1930" y="614591"/>
            <a:ext cx="9282309" cy="752380"/>
          </a:xfrm>
          <a:prstGeom prst="rect">
            <a:avLst/>
          </a:prstGeom>
        </p:spPr>
        <p:txBody>
          <a:bodyPr vert="horz" wrap="square" lIns="0" tIns="13584" rIns="0" bIns="0" rtlCol="0">
            <a:spAutoFit/>
          </a:bodyPr>
          <a:lstStyle/>
          <a:p>
            <a:r>
              <a:rPr lang="da-DK" sz="2400" dirty="0"/>
              <a:t>2.3. Tilstandsrapport &amp; El-installationsrapport</a:t>
            </a:r>
            <a:br>
              <a:rPr lang="da-DK" sz="2400" dirty="0"/>
            </a:br>
            <a:endParaRPr lang="da-DK" sz="2400" dirty="0"/>
          </a:p>
        </p:txBody>
      </p:sp>
      <p:sp>
        <p:nvSpPr>
          <p:cNvPr id="4" name="object 4"/>
          <p:cNvSpPr/>
          <p:nvPr/>
        </p:nvSpPr>
        <p:spPr>
          <a:xfrm>
            <a:off x="511930" y="1164331"/>
            <a:ext cx="8915549" cy="97028"/>
          </a:xfrm>
          <a:custGeom>
            <a:avLst/>
            <a:gdLst/>
            <a:ahLst/>
            <a:cxnLst/>
            <a:rect l="l" t="t" r="r" b="b"/>
            <a:pathLst>
              <a:path w="8752205" h="95250">
                <a:moveTo>
                  <a:pt x="0" y="0"/>
                </a:moveTo>
                <a:lnTo>
                  <a:pt x="8752136" y="0"/>
                </a:lnTo>
                <a:lnTo>
                  <a:pt x="8752136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1F375B"/>
          </a:solidFill>
        </p:spPr>
        <p:txBody>
          <a:bodyPr wrap="square" lIns="0" tIns="0" rIns="0" bIns="0" rtlCol="0"/>
          <a:lstStyle/>
          <a:p>
            <a:endParaRPr sz="2037"/>
          </a:p>
        </p:txBody>
      </p:sp>
      <p:sp>
        <p:nvSpPr>
          <p:cNvPr id="5" name="object 5"/>
          <p:cNvSpPr/>
          <p:nvPr/>
        </p:nvSpPr>
        <p:spPr>
          <a:xfrm>
            <a:off x="511930" y="310488"/>
            <a:ext cx="8915549" cy="97028"/>
          </a:xfrm>
          <a:custGeom>
            <a:avLst/>
            <a:gdLst/>
            <a:ahLst/>
            <a:cxnLst/>
            <a:rect l="l" t="t" r="r" b="b"/>
            <a:pathLst>
              <a:path w="8752205" h="95250">
                <a:moveTo>
                  <a:pt x="0" y="0"/>
                </a:moveTo>
                <a:lnTo>
                  <a:pt x="8752136" y="0"/>
                </a:lnTo>
                <a:lnTo>
                  <a:pt x="8752136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1F375B"/>
          </a:solidFill>
        </p:spPr>
        <p:txBody>
          <a:bodyPr wrap="square" lIns="0" tIns="0" rIns="0" bIns="0" rtlCol="0"/>
          <a:lstStyle/>
          <a:p>
            <a:endParaRPr sz="2037"/>
          </a:p>
        </p:txBody>
      </p:sp>
      <p:sp>
        <p:nvSpPr>
          <p:cNvPr id="7" name="object 7"/>
          <p:cNvSpPr txBox="1"/>
          <p:nvPr/>
        </p:nvSpPr>
        <p:spPr>
          <a:xfrm>
            <a:off x="511930" y="1779533"/>
            <a:ext cx="8915548" cy="5126254"/>
          </a:xfrm>
          <a:prstGeom prst="rect">
            <a:avLst/>
          </a:prstGeom>
        </p:spPr>
        <p:txBody>
          <a:bodyPr vert="horz" wrap="square" lIns="0" tIns="199877" rIns="0" bIns="0" rtlCol="0">
            <a:spAutoFit/>
          </a:bodyPr>
          <a:lstStyle/>
          <a:p>
            <a:pPr marL="457200" indent="-457200">
              <a:buAutoNum type="arabicPeriod"/>
            </a:pPr>
            <a:r>
              <a:rPr lang="da-DK" dirty="0"/>
              <a:t>Hvem udarbejder tilstandsrapporten?</a:t>
            </a:r>
          </a:p>
          <a:p>
            <a:r>
              <a:rPr lang="da-DK" dirty="0">
                <a:solidFill>
                  <a:srgbClr val="FF0000"/>
                </a:solidFill>
              </a:rPr>
              <a:t>Sælger kan få udarbejdet tilstandsrapport af bygningssagkyndig</a:t>
            </a:r>
          </a:p>
          <a:p>
            <a:endParaRPr lang="da-DK" dirty="0"/>
          </a:p>
          <a:p>
            <a:r>
              <a:rPr lang="da-DK" dirty="0"/>
              <a:t>2. Hvilke installationer gennemgås ikke i en tilstandsrapport?</a:t>
            </a:r>
          </a:p>
          <a:p>
            <a:r>
              <a:rPr lang="da-DK" dirty="0">
                <a:solidFill>
                  <a:srgbClr val="FF0000"/>
                </a:solidFill>
              </a:rPr>
              <a:t>Bygningssagkyndig gennemgår bygninger men ikke grunden og installationer uden for bygningen</a:t>
            </a:r>
          </a:p>
          <a:p>
            <a:endParaRPr lang="da-DK" dirty="0"/>
          </a:p>
          <a:p>
            <a:r>
              <a:rPr lang="da-DK" dirty="0"/>
              <a:t>3. Hvilke mangler ses der efter i tilstandsrapporten?</a:t>
            </a:r>
          </a:p>
          <a:p>
            <a:r>
              <a:rPr lang="da-DK" dirty="0">
                <a:solidFill>
                  <a:srgbClr val="FF0000"/>
                </a:solidFill>
              </a:rPr>
              <a:t>Den bygningssagkyndige ser efter synlige mangler – ikke de skjulte mangler</a:t>
            </a:r>
          </a:p>
          <a:p>
            <a:endParaRPr lang="da-DK" dirty="0"/>
          </a:p>
          <a:p>
            <a:r>
              <a:rPr lang="da-DK" dirty="0"/>
              <a:t>4. Hvem har loyal oplysningspligt i en tilstandsrapport?</a:t>
            </a:r>
          </a:p>
          <a:p>
            <a:r>
              <a:rPr lang="da-DK" dirty="0">
                <a:solidFill>
                  <a:srgbClr val="FF0000"/>
                </a:solidFill>
              </a:rPr>
              <a:t>Sælger har loyal oplysningspligt og skal supplere tilstandsrapporten med alle de relevante forhold, han kender til</a:t>
            </a:r>
          </a:p>
          <a:p>
            <a:endParaRPr lang="da-DK" dirty="0"/>
          </a:p>
          <a:p>
            <a:r>
              <a:rPr lang="da-DK" dirty="0"/>
              <a:t>5. Hvem må udarbejde elinstallationsrapporten?</a:t>
            </a:r>
          </a:p>
          <a:p>
            <a:r>
              <a:rPr lang="da-DK" dirty="0">
                <a:solidFill>
                  <a:srgbClr val="FF0000"/>
                </a:solidFill>
              </a:rPr>
              <a:t>Elinstallationsrapporten må udarbejdes af en autoriseret elinstallatør</a:t>
            </a:r>
          </a:p>
        </p:txBody>
      </p:sp>
      <p:sp>
        <p:nvSpPr>
          <p:cNvPr id="3" name="Pladsholder til slidenummer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da-DK" smtClean="0"/>
              <a:t>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64831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1930" y="614591"/>
            <a:ext cx="9282309" cy="752380"/>
          </a:xfrm>
          <a:prstGeom prst="rect">
            <a:avLst/>
          </a:prstGeom>
        </p:spPr>
        <p:txBody>
          <a:bodyPr vert="horz" wrap="square" lIns="0" tIns="13584" rIns="0" bIns="0" rtlCol="0">
            <a:spAutoFit/>
          </a:bodyPr>
          <a:lstStyle/>
          <a:p>
            <a:r>
              <a:rPr lang="da-DK" sz="2400" dirty="0"/>
              <a:t>2.4. Ejerskifteforsikring</a:t>
            </a:r>
            <a:br>
              <a:rPr lang="da-DK" sz="2400" dirty="0"/>
            </a:br>
            <a:endParaRPr lang="da-DK" sz="2400" dirty="0"/>
          </a:p>
        </p:txBody>
      </p:sp>
      <p:sp>
        <p:nvSpPr>
          <p:cNvPr id="4" name="object 4"/>
          <p:cNvSpPr/>
          <p:nvPr/>
        </p:nvSpPr>
        <p:spPr>
          <a:xfrm>
            <a:off x="511930" y="1164331"/>
            <a:ext cx="8915549" cy="97028"/>
          </a:xfrm>
          <a:custGeom>
            <a:avLst/>
            <a:gdLst/>
            <a:ahLst/>
            <a:cxnLst/>
            <a:rect l="l" t="t" r="r" b="b"/>
            <a:pathLst>
              <a:path w="8752205" h="95250">
                <a:moveTo>
                  <a:pt x="0" y="0"/>
                </a:moveTo>
                <a:lnTo>
                  <a:pt x="8752136" y="0"/>
                </a:lnTo>
                <a:lnTo>
                  <a:pt x="8752136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1F375B"/>
          </a:solidFill>
        </p:spPr>
        <p:txBody>
          <a:bodyPr wrap="square" lIns="0" tIns="0" rIns="0" bIns="0" rtlCol="0"/>
          <a:lstStyle/>
          <a:p>
            <a:endParaRPr sz="2037"/>
          </a:p>
        </p:txBody>
      </p:sp>
      <p:sp>
        <p:nvSpPr>
          <p:cNvPr id="5" name="object 5"/>
          <p:cNvSpPr/>
          <p:nvPr/>
        </p:nvSpPr>
        <p:spPr>
          <a:xfrm>
            <a:off x="511930" y="310488"/>
            <a:ext cx="8915549" cy="97028"/>
          </a:xfrm>
          <a:custGeom>
            <a:avLst/>
            <a:gdLst/>
            <a:ahLst/>
            <a:cxnLst/>
            <a:rect l="l" t="t" r="r" b="b"/>
            <a:pathLst>
              <a:path w="8752205" h="95250">
                <a:moveTo>
                  <a:pt x="0" y="0"/>
                </a:moveTo>
                <a:lnTo>
                  <a:pt x="8752136" y="0"/>
                </a:lnTo>
                <a:lnTo>
                  <a:pt x="8752136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1F375B"/>
          </a:solidFill>
        </p:spPr>
        <p:txBody>
          <a:bodyPr wrap="square" lIns="0" tIns="0" rIns="0" bIns="0" rtlCol="0"/>
          <a:lstStyle/>
          <a:p>
            <a:endParaRPr sz="2037"/>
          </a:p>
        </p:txBody>
      </p:sp>
      <p:sp>
        <p:nvSpPr>
          <p:cNvPr id="7" name="object 7"/>
          <p:cNvSpPr txBox="1"/>
          <p:nvPr/>
        </p:nvSpPr>
        <p:spPr>
          <a:xfrm>
            <a:off x="511930" y="1779533"/>
            <a:ext cx="8915548" cy="4818477"/>
          </a:xfrm>
          <a:prstGeom prst="rect">
            <a:avLst/>
          </a:prstGeom>
        </p:spPr>
        <p:txBody>
          <a:bodyPr vert="horz" wrap="square" lIns="0" tIns="199877" rIns="0" bIns="0" rtlCol="0">
            <a:spAutoFit/>
          </a:bodyPr>
          <a:lstStyle/>
          <a:p>
            <a:r>
              <a:rPr lang="da-DK" dirty="0"/>
              <a:t>På baggrund af tilstandsrapport og elinstallationsrapport indhentes et tilbud om ejerskifteforsikring</a:t>
            </a:r>
          </a:p>
          <a:p>
            <a:endParaRPr lang="da-DK" dirty="0"/>
          </a:p>
          <a:p>
            <a:pPr marL="457200" indent="-457200">
              <a:buAutoNum type="arabicPeriod"/>
            </a:pPr>
            <a:r>
              <a:rPr lang="da-DK" dirty="0"/>
              <a:t>Hvad er betingelserne for at sælger er fri for ansvar for fejl og mangler ved den faste ejendom – i henhold til LFFE?</a:t>
            </a:r>
          </a:p>
          <a:p>
            <a:endParaRPr lang="da-DK" dirty="0">
              <a:solidFill>
                <a:srgbClr val="FF0000"/>
              </a:solidFill>
            </a:endParaRPr>
          </a:p>
          <a:p>
            <a:r>
              <a:rPr lang="da-DK" dirty="0">
                <a:solidFill>
                  <a:srgbClr val="FF0000"/>
                </a:solidFill>
              </a:rPr>
              <a:t>Sælger er fri for ansvar for fejl og mangler ved den faste ejendom (jf. LFFE § 2), hvis:</a:t>
            </a:r>
          </a:p>
          <a:p>
            <a:pPr lvl="1"/>
            <a:endParaRPr lang="da-DK" dirty="0">
              <a:solidFill>
                <a:srgbClr val="FF0000"/>
              </a:solidFill>
            </a:endParaRPr>
          </a:p>
          <a:p>
            <a:pPr marL="839785" lvl="1" indent="-342900">
              <a:buFont typeface="Wingdings" panose="05000000000000000000" pitchFamily="2" charset="2"/>
              <a:buChar char="ü"/>
            </a:pPr>
            <a:r>
              <a:rPr lang="da-DK" dirty="0">
                <a:solidFill>
                  <a:srgbClr val="FF0000"/>
                </a:solidFill>
              </a:rPr>
              <a:t>Køber har modtaget tilstandsrapport, som er mindre end 6 mdr. gammel</a:t>
            </a:r>
          </a:p>
          <a:p>
            <a:pPr marL="839785" lvl="1" indent="-342900">
              <a:buFont typeface="Wingdings" panose="05000000000000000000" pitchFamily="2" charset="2"/>
              <a:buChar char="ü"/>
            </a:pPr>
            <a:r>
              <a:rPr lang="da-DK" dirty="0">
                <a:solidFill>
                  <a:srgbClr val="FF0000"/>
                </a:solidFill>
              </a:rPr>
              <a:t>Køber har modtaget en elinstallationsrapport, som er mindre end 1 år gammel</a:t>
            </a:r>
          </a:p>
          <a:p>
            <a:pPr marL="839785" lvl="1" indent="-342900">
              <a:buFont typeface="Wingdings" panose="05000000000000000000" pitchFamily="2" charset="2"/>
              <a:buChar char="ü"/>
            </a:pPr>
            <a:r>
              <a:rPr lang="da-DK" dirty="0">
                <a:solidFill>
                  <a:srgbClr val="FF0000"/>
                </a:solidFill>
              </a:rPr>
              <a:t>Køber samtidig har modtaget tilbud på en ejerskifteforsikring</a:t>
            </a:r>
          </a:p>
          <a:p>
            <a:pPr marL="839785" lvl="1" indent="-342900">
              <a:buFont typeface="Wingdings" panose="05000000000000000000" pitchFamily="2" charset="2"/>
              <a:buChar char="ü"/>
            </a:pPr>
            <a:r>
              <a:rPr lang="da-DK" dirty="0">
                <a:solidFill>
                  <a:srgbClr val="FF0000"/>
                </a:solidFill>
              </a:rPr>
              <a:t>Køber har modtaget tilbud fra sælger om betaling af ½ præmie på 5-årig forsikring</a:t>
            </a:r>
          </a:p>
          <a:p>
            <a:endParaRPr lang="da-DK" dirty="0"/>
          </a:p>
        </p:txBody>
      </p:sp>
      <p:sp>
        <p:nvSpPr>
          <p:cNvPr id="3" name="Pladsholder til slidenummer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da-DK" smtClean="0"/>
              <a:t>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35948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1930" y="614591"/>
            <a:ext cx="9282309" cy="752380"/>
          </a:xfrm>
          <a:prstGeom prst="rect">
            <a:avLst/>
          </a:prstGeom>
        </p:spPr>
        <p:txBody>
          <a:bodyPr vert="horz" wrap="square" lIns="0" tIns="13584" rIns="0" bIns="0" rtlCol="0">
            <a:spAutoFit/>
          </a:bodyPr>
          <a:lstStyle/>
          <a:p>
            <a:r>
              <a:rPr lang="da-DK" sz="2400" dirty="0"/>
              <a:t>2.5. Købsaftale</a:t>
            </a:r>
            <a:br>
              <a:rPr lang="da-DK" sz="2400" dirty="0"/>
            </a:br>
            <a:endParaRPr lang="da-DK" sz="2400" dirty="0"/>
          </a:p>
        </p:txBody>
      </p:sp>
      <p:sp>
        <p:nvSpPr>
          <p:cNvPr id="4" name="object 4"/>
          <p:cNvSpPr/>
          <p:nvPr/>
        </p:nvSpPr>
        <p:spPr>
          <a:xfrm>
            <a:off x="511930" y="1164331"/>
            <a:ext cx="8915549" cy="97028"/>
          </a:xfrm>
          <a:custGeom>
            <a:avLst/>
            <a:gdLst/>
            <a:ahLst/>
            <a:cxnLst/>
            <a:rect l="l" t="t" r="r" b="b"/>
            <a:pathLst>
              <a:path w="8752205" h="95250">
                <a:moveTo>
                  <a:pt x="0" y="0"/>
                </a:moveTo>
                <a:lnTo>
                  <a:pt x="8752136" y="0"/>
                </a:lnTo>
                <a:lnTo>
                  <a:pt x="8752136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1F375B"/>
          </a:solidFill>
        </p:spPr>
        <p:txBody>
          <a:bodyPr wrap="square" lIns="0" tIns="0" rIns="0" bIns="0" rtlCol="0"/>
          <a:lstStyle/>
          <a:p>
            <a:endParaRPr sz="2037"/>
          </a:p>
        </p:txBody>
      </p:sp>
      <p:sp>
        <p:nvSpPr>
          <p:cNvPr id="5" name="object 5"/>
          <p:cNvSpPr/>
          <p:nvPr/>
        </p:nvSpPr>
        <p:spPr>
          <a:xfrm>
            <a:off x="511930" y="310488"/>
            <a:ext cx="8915549" cy="97028"/>
          </a:xfrm>
          <a:custGeom>
            <a:avLst/>
            <a:gdLst/>
            <a:ahLst/>
            <a:cxnLst/>
            <a:rect l="l" t="t" r="r" b="b"/>
            <a:pathLst>
              <a:path w="8752205" h="95250">
                <a:moveTo>
                  <a:pt x="0" y="0"/>
                </a:moveTo>
                <a:lnTo>
                  <a:pt x="8752136" y="0"/>
                </a:lnTo>
                <a:lnTo>
                  <a:pt x="8752136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1F375B"/>
          </a:solidFill>
        </p:spPr>
        <p:txBody>
          <a:bodyPr wrap="square" lIns="0" tIns="0" rIns="0" bIns="0" rtlCol="0"/>
          <a:lstStyle/>
          <a:p>
            <a:endParaRPr sz="2037"/>
          </a:p>
        </p:txBody>
      </p:sp>
      <p:sp>
        <p:nvSpPr>
          <p:cNvPr id="7" name="object 7"/>
          <p:cNvSpPr txBox="1"/>
          <p:nvPr/>
        </p:nvSpPr>
        <p:spPr>
          <a:xfrm>
            <a:off x="511930" y="1779533"/>
            <a:ext cx="8915548" cy="4510701"/>
          </a:xfrm>
          <a:prstGeom prst="rect">
            <a:avLst/>
          </a:prstGeom>
        </p:spPr>
        <p:txBody>
          <a:bodyPr vert="horz" wrap="square" lIns="0" tIns="199877" rIns="0" bIns="0" rtlCol="0">
            <a:spAutoFit/>
          </a:bodyPr>
          <a:lstStyle/>
          <a:p>
            <a:r>
              <a:rPr lang="da-DK" dirty="0"/>
              <a:t>1. Hvem udfærdiger købsaftalen?</a:t>
            </a:r>
          </a:p>
          <a:p>
            <a:r>
              <a:rPr lang="da-DK" dirty="0">
                <a:solidFill>
                  <a:srgbClr val="FF0000"/>
                </a:solidFill>
              </a:rPr>
              <a:t>Ejendomsmægler udfærdiger købsaftale, jf. LOFE § 37</a:t>
            </a:r>
          </a:p>
          <a:p>
            <a:endParaRPr lang="da-DK" dirty="0"/>
          </a:p>
          <a:p>
            <a:r>
              <a:rPr lang="da-DK" dirty="0"/>
              <a:t>2. På hvilket grundlag udarbejdes købsaftalen?</a:t>
            </a:r>
          </a:p>
          <a:p>
            <a:r>
              <a:rPr lang="da-DK" dirty="0">
                <a:solidFill>
                  <a:srgbClr val="FF0000"/>
                </a:solidFill>
              </a:rPr>
              <a:t>Udarbejdes på baggrund af standardkøbsaftale</a:t>
            </a:r>
          </a:p>
          <a:p>
            <a:endParaRPr lang="da-DK" dirty="0"/>
          </a:p>
          <a:p>
            <a:r>
              <a:rPr lang="da-DK" dirty="0"/>
              <a:t>3. Hvad skal fremhæves i købsaftalen?</a:t>
            </a:r>
          </a:p>
          <a:p>
            <a:r>
              <a:rPr lang="da-DK" dirty="0">
                <a:solidFill>
                  <a:srgbClr val="FF0000"/>
                </a:solidFill>
              </a:rPr>
              <a:t>Fravigelser fra standarden skal fremhæves</a:t>
            </a:r>
          </a:p>
          <a:p>
            <a:endParaRPr lang="da-DK" dirty="0"/>
          </a:p>
          <a:p>
            <a:r>
              <a:rPr lang="da-DK" dirty="0"/>
              <a:t>4. Hvilke forbehold indsættes der ofte i en købsaftale fra købers side?</a:t>
            </a:r>
          </a:p>
          <a:p>
            <a:r>
              <a:rPr lang="da-DK" dirty="0">
                <a:solidFill>
                  <a:srgbClr val="FF0000"/>
                </a:solidFill>
              </a:rPr>
              <a:t>Der indsættes ofte et advokat og/eller et finansieringsforbehold</a:t>
            </a:r>
          </a:p>
          <a:p>
            <a:endParaRPr lang="da-DK" dirty="0"/>
          </a:p>
          <a:p>
            <a:r>
              <a:rPr lang="da-DK" dirty="0"/>
              <a:t>5. Hvem engagerer køber ofte til at gennemse købsaftalen?</a:t>
            </a:r>
          </a:p>
          <a:p>
            <a:r>
              <a:rPr lang="da-DK" dirty="0">
                <a:solidFill>
                  <a:srgbClr val="FF0000"/>
                </a:solidFill>
              </a:rPr>
              <a:t>Købsaftalen gennemses af købers advokat</a:t>
            </a:r>
          </a:p>
        </p:txBody>
      </p:sp>
      <p:sp>
        <p:nvSpPr>
          <p:cNvPr id="3" name="Pladsholder til slidenummer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da-DK" smtClean="0"/>
              <a:t>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5359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1930" y="614591"/>
            <a:ext cx="9282309" cy="752380"/>
          </a:xfrm>
          <a:prstGeom prst="rect">
            <a:avLst/>
          </a:prstGeom>
        </p:spPr>
        <p:txBody>
          <a:bodyPr vert="horz" wrap="square" lIns="0" tIns="13584" rIns="0" bIns="0" rtlCol="0">
            <a:spAutoFit/>
          </a:bodyPr>
          <a:lstStyle/>
          <a:p>
            <a:r>
              <a:rPr lang="da-DK" sz="2400" dirty="0"/>
              <a:t>2.6. Fortrydelsesret</a:t>
            </a:r>
            <a:br>
              <a:rPr lang="da-DK" sz="2400" dirty="0"/>
            </a:br>
            <a:endParaRPr lang="da-DK" sz="2400" dirty="0"/>
          </a:p>
        </p:txBody>
      </p:sp>
      <p:sp>
        <p:nvSpPr>
          <p:cNvPr id="4" name="object 4"/>
          <p:cNvSpPr/>
          <p:nvPr/>
        </p:nvSpPr>
        <p:spPr>
          <a:xfrm>
            <a:off x="511930" y="1164331"/>
            <a:ext cx="8915549" cy="97028"/>
          </a:xfrm>
          <a:custGeom>
            <a:avLst/>
            <a:gdLst/>
            <a:ahLst/>
            <a:cxnLst/>
            <a:rect l="l" t="t" r="r" b="b"/>
            <a:pathLst>
              <a:path w="8752205" h="95250">
                <a:moveTo>
                  <a:pt x="0" y="0"/>
                </a:moveTo>
                <a:lnTo>
                  <a:pt x="8752136" y="0"/>
                </a:lnTo>
                <a:lnTo>
                  <a:pt x="8752136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1F375B"/>
          </a:solidFill>
        </p:spPr>
        <p:txBody>
          <a:bodyPr wrap="square" lIns="0" tIns="0" rIns="0" bIns="0" rtlCol="0"/>
          <a:lstStyle/>
          <a:p>
            <a:endParaRPr sz="2037"/>
          </a:p>
        </p:txBody>
      </p:sp>
      <p:sp>
        <p:nvSpPr>
          <p:cNvPr id="5" name="object 5"/>
          <p:cNvSpPr/>
          <p:nvPr/>
        </p:nvSpPr>
        <p:spPr>
          <a:xfrm>
            <a:off x="511930" y="310488"/>
            <a:ext cx="8915549" cy="97028"/>
          </a:xfrm>
          <a:custGeom>
            <a:avLst/>
            <a:gdLst/>
            <a:ahLst/>
            <a:cxnLst/>
            <a:rect l="l" t="t" r="r" b="b"/>
            <a:pathLst>
              <a:path w="8752205" h="95250">
                <a:moveTo>
                  <a:pt x="0" y="0"/>
                </a:moveTo>
                <a:lnTo>
                  <a:pt x="8752136" y="0"/>
                </a:lnTo>
                <a:lnTo>
                  <a:pt x="8752136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1F375B"/>
          </a:solidFill>
        </p:spPr>
        <p:txBody>
          <a:bodyPr wrap="square" lIns="0" tIns="0" rIns="0" bIns="0" rtlCol="0"/>
          <a:lstStyle/>
          <a:p>
            <a:endParaRPr sz="2037"/>
          </a:p>
        </p:txBody>
      </p:sp>
      <p:sp>
        <p:nvSpPr>
          <p:cNvPr id="7" name="object 7"/>
          <p:cNvSpPr txBox="1"/>
          <p:nvPr/>
        </p:nvSpPr>
        <p:spPr>
          <a:xfrm>
            <a:off x="511930" y="1779533"/>
            <a:ext cx="8915548" cy="4818477"/>
          </a:xfrm>
          <a:prstGeom prst="rect">
            <a:avLst/>
          </a:prstGeom>
        </p:spPr>
        <p:txBody>
          <a:bodyPr vert="horz" wrap="square" lIns="0" tIns="199877" rIns="0" bIns="0" rtlCol="0">
            <a:spAutoFit/>
          </a:bodyPr>
          <a:lstStyle/>
          <a:p>
            <a:r>
              <a:rPr lang="da-DK" dirty="0"/>
              <a:t>Fortrydelsesretten er en fravigelse af princippet om, at aftaler skal holdes</a:t>
            </a:r>
          </a:p>
          <a:p>
            <a:endParaRPr lang="da-DK" dirty="0"/>
          </a:p>
          <a:p>
            <a:r>
              <a:rPr lang="da-DK" dirty="0"/>
              <a:t>1. Indtil hvornår kan en køber tilbagekalde sit tilbud? </a:t>
            </a:r>
          </a:p>
          <a:p>
            <a:r>
              <a:rPr lang="da-DK" dirty="0">
                <a:solidFill>
                  <a:srgbClr val="FF0000"/>
                </a:solidFill>
              </a:rPr>
              <a:t>Køber kan tilbagekalde sit tilbud indtil sælgers accept er kommet frem til køber, jf. LFFE § 7</a:t>
            </a:r>
          </a:p>
          <a:p>
            <a:endParaRPr lang="da-DK" dirty="0"/>
          </a:p>
          <a:p>
            <a:r>
              <a:rPr lang="da-DK" dirty="0"/>
              <a:t>2. Indtil hvornår kan en køber fortryde sit tilbud?</a:t>
            </a:r>
          </a:p>
          <a:p>
            <a:r>
              <a:rPr lang="da-DK" dirty="0">
                <a:solidFill>
                  <a:srgbClr val="FF0000"/>
                </a:solidFill>
              </a:rPr>
              <a:t>Efter aftalen er indgået kan køber fortryde handlen, jf. LFFE § 7 og § 8</a:t>
            </a:r>
          </a:p>
          <a:p>
            <a:endParaRPr lang="da-DK" dirty="0">
              <a:solidFill>
                <a:srgbClr val="FF0000"/>
              </a:solidFill>
            </a:endParaRPr>
          </a:p>
          <a:p>
            <a:pPr marL="839785" lvl="1" indent="-342900">
              <a:buFont typeface="Wingdings" panose="05000000000000000000" pitchFamily="2" charset="2"/>
              <a:buChar char="ü"/>
            </a:pPr>
            <a:r>
              <a:rPr lang="da-DK" dirty="0">
                <a:solidFill>
                  <a:srgbClr val="FF0000"/>
                </a:solidFill>
              </a:rPr>
              <a:t>Meddelelse om fortrydelse skal gives til sælger inden 6 hverdage efter aftalen er indgået</a:t>
            </a:r>
          </a:p>
          <a:p>
            <a:pPr marL="839785" lvl="1" indent="-342900">
              <a:buFont typeface="Wingdings" panose="05000000000000000000" pitchFamily="2" charset="2"/>
              <a:buChar char="ü"/>
            </a:pPr>
            <a:r>
              <a:rPr lang="da-DK" dirty="0">
                <a:solidFill>
                  <a:srgbClr val="FF0000"/>
                </a:solidFill>
              </a:rPr>
              <a:t>Køber skal samtidig betale en godtgørelse på 1 % af den nominelle købesum</a:t>
            </a:r>
          </a:p>
          <a:p>
            <a:endParaRPr lang="da-DK" dirty="0"/>
          </a:p>
          <a:p>
            <a:r>
              <a:rPr lang="da-DK" dirty="0"/>
              <a:t>3. Har sælger en fortrydelsesret?</a:t>
            </a:r>
          </a:p>
          <a:p>
            <a:r>
              <a:rPr lang="da-DK" dirty="0">
                <a:solidFill>
                  <a:srgbClr val="FF0000"/>
                </a:solidFill>
              </a:rPr>
              <a:t>Sælger har ikke tilsvarende fortrydelsesret</a:t>
            </a:r>
          </a:p>
        </p:txBody>
      </p:sp>
      <p:sp>
        <p:nvSpPr>
          <p:cNvPr id="3" name="Pladsholder til slidenummer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da-DK" smtClean="0"/>
              <a:t>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48454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1930" y="614591"/>
            <a:ext cx="9282309" cy="752380"/>
          </a:xfrm>
          <a:prstGeom prst="rect">
            <a:avLst/>
          </a:prstGeom>
        </p:spPr>
        <p:txBody>
          <a:bodyPr vert="horz" wrap="square" lIns="0" tIns="13584" rIns="0" bIns="0" rtlCol="0">
            <a:spAutoFit/>
          </a:bodyPr>
          <a:lstStyle/>
          <a:p>
            <a:r>
              <a:rPr lang="da-DK" sz="2400" dirty="0"/>
              <a:t>2.7. Finansiering</a:t>
            </a:r>
            <a:br>
              <a:rPr lang="da-DK" sz="2400" dirty="0"/>
            </a:br>
            <a:endParaRPr lang="da-DK" sz="2400" dirty="0"/>
          </a:p>
        </p:txBody>
      </p:sp>
      <p:sp>
        <p:nvSpPr>
          <p:cNvPr id="4" name="object 4"/>
          <p:cNvSpPr/>
          <p:nvPr/>
        </p:nvSpPr>
        <p:spPr>
          <a:xfrm>
            <a:off x="511930" y="1164331"/>
            <a:ext cx="8915549" cy="97028"/>
          </a:xfrm>
          <a:custGeom>
            <a:avLst/>
            <a:gdLst/>
            <a:ahLst/>
            <a:cxnLst/>
            <a:rect l="l" t="t" r="r" b="b"/>
            <a:pathLst>
              <a:path w="8752205" h="95250">
                <a:moveTo>
                  <a:pt x="0" y="0"/>
                </a:moveTo>
                <a:lnTo>
                  <a:pt x="8752136" y="0"/>
                </a:lnTo>
                <a:lnTo>
                  <a:pt x="8752136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1F375B"/>
          </a:solidFill>
        </p:spPr>
        <p:txBody>
          <a:bodyPr wrap="square" lIns="0" tIns="0" rIns="0" bIns="0" rtlCol="0"/>
          <a:lstStyle/>
          <a:p>
            <a:endParaRPr sz="2037"/>
          </a:p>
        </p:txBody>
      </p:sp>
      <p:sp>
        <p:nvSpPr>
          <p:cNvPr id="5" name="object 5"/>
          <p:cNvSpPr/>
          <p:nvPr/>
        </p:nvSpPr>
        <p:spPr>
          <a:xfrm>
            <a:off x="511930" y="310488"/>
            <a:ext cx="8915549" cy="97028"/>
          </a:xfrm>
          <a:custGeom>
            <a:avLst/>
            <a:gdLst/>
            <a:ahLst/>
            <a:cxnLst/>
            <a:rect l="l" t="t" r="r" b="b"/>
            <a:pathLst>
              <a:path w="8752205" h="95250">
                <a:moveTo>
                  <a:pt x="0" y="0"/>
                </a:moveTo>
                <a:lnTo>
                  <a:pt x="8752136" y="0"/>
                </a:lnTo>
                <a:lnTo>
                  <a:pt x="8752136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1F375B"/>
          </a:solidFill>
        </p:spPr>
        <p:txBody>
          <a:bodyPr wrap="square" lIns="0" tIns="0" rIns="0" bIns="0" rtlCol="0"/>
          <a:lstStyle/>
          <a:p>
            <a:endParaRPr sz="2037"/>
          </a:p>
        </p:txBody>
      </p:sp>
      <p:sp>
        <p:nvSpPr>
          <p:cNvPr id="7" name="object 7"/>
          <p:cNvSpPr txBox="1"/>
          <p:nvPr/>
        </p:nvSpPr>
        <p:spPr>
          <a:xfrm>
            <a:off x="511930" y="1779533"/>
            <a:ext cx="8915548" cy="4202924"/>
          </a:xfrm>
          <a:prstGeom prst="rect">
            <a:avLst/>
          </a:prstGeom>
        </p:spPr>
        <p:txBody>
          <a:bodyPr vert="horz" wrap="square" lIns="0" tIns="199877" rIns="0" bIns="0" rtlCol="0">
            <a:spAutoFit/>
          </a:bodyPr>
          <a:lstStyle/>
          <a:p>
            <a:r>
              <a:rPr lang="da-DK" dirty="0"/>
              <a:t>1. Hvordan kan køber forberede finansiering af ejendomshandel?</a:t>
            </a:r>
          </a:p>
          <a:p>
            <a:r>
              <a:rPr lang="da-DK" dirty="0">
                <a:solidFill>
                  <a:srgbClr val="FF0000"/>
                </a:solidFill>
              </a:rPr>
              <a:t>Køber kan forberede finansiering af handlen ved at få et lånebevis fra sin bank</a:t>
            </a:r>
          </a:p>
          <a:p>
            <a:endParaRPr lang="da-DK" dirty="0"/>
          </a:p>
          <a:p>
            <a:r>
              <a:rPr lang="da-DK" dirty="0"/>
              <a:t>2. Hvem skal yde køber rådgivning om finansiering?</a:t>
            </a:r>
          </a:p>
          <a:p>
            <a:r>
              <a:rPr lang="da-DK" dirty="0">
                <a:solidFill>
                  <a:srgbClr val="FF0000"/>
                </a:solidFill>
              </a:rPr>
              <a:t>Banken skal yde rådgivning om finansiering af fast ejendom</a:t>
            </a:r>
          </a:p>
          <a:p>
            <a:endParaRPr lang="da-DK" dirty="0"/>
          </a:p>
          <a:p>
            <a:r>
              <a:rPr lang="da-DK" dirty="0"/>
              <a:t>3. Hvilke to handelstyper kan parterne vælge i </a:t>
            </a:r>
          </a:p>
          <a:p>
            <a:r>
              <a:rPr lang="da-DK" dirty="0">
                <a:solidFill>
                  <a:srgbClr val="FF0000"/>
                </a:solidFill>
              </a:rPr>
              <a:t>I en købsaftale kan parterne vælge:</a:t>
            </a:r>
          </a:p>
          <a:p>
            <a:endParaRPr lang="da-DK" dirty="0">
              <a:solidFill>
                <a:srgbClr val="FF0000"/>
              </a:solidFill>
            </a:endParaRPr>
          </a:p>
          <a:p>
            <a:pPr marL="839785" lvl="1" indent="-342900">
              <a:buFont typeface="Arial" panose="020B0604020202020204" pitchFamily="34" charset="0"/>
              <a:buChar char="•"/>
            </a:pPr>
            <a:r>
              <a:rPr lang="da-DK" dirty="0">
                <a:solidFill>
                  <a:srgbClr val="FF0000"/>
                </a:solidFill>
              </a:rPr>
              <a:t>Kontanthandel: Købesummen betales til sælger ved at købers bank deponerer beløbet i sælgers bank</a:t>
            </a:r>
          </a:p>
          <a:p>
            <a:pPr marL="839785" lvl="1" indent="-342900">
              <a:buFont typeface="Arial" panose="020B0604020202020204" pitchFamily="34" charset="0"/>
              <a:buChar char="•"/>
            </a:pPr>
            <a:r>
              <a:rPr lang="da-DK" dirty="0">
                <a:solidFill>
                  <a:srgbClr val="FF0000"/>
                </a:solidFill>
              </a:rPr>
              <a:t>Finansieret handel: Køber overtager sælgers lån i ejendommen – evt. nye lån, som køber har optaget i sælgers navn</a:t>
            </a:r>
          </a:p>
        </p:txBody>
      </p:sp>
      <p:sp>
        <p:nvSpPr>
          <p:cNvPr id="3" name="Pladsholder til slidenummer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da-DK" smtClean="0"/>
              <a:t>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54825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1930" y="614591"/>
            <a:ext cx="9282309" cy="383049"/>
          </a:xfrm>
          <a:prstGeom prst="rect">
            <a:avLst/>
          </a:prstGeom>
        </p:spPr>
        <p:txBody>
          <a:bodyPr vert="horz" wrap="square" lIns="0" tIns="13584" rIns="0" bIns="0" rtlCol="0">
            <a:spAutoFit/>
          </a:bodyPr>
          <a:lstStyle/>
          <a:p>
            <a:r>
              <a:rPr lang="da-DK" sz="2400" dirty="0"/>
              <a:t>2.8. Realkreditlån</a:t>
            </a:r>
          </a:p>
        </p:txBody>
      </p:sp>
      <p:sp>
        <p:nvSpPr>
          <p:cNvPr id="4" name="object 4"/>
          <p:cNvSpPr/>
          <p:nvPr/>
        </p:nvSpPr>
        <p:spPr>
          <a:xfrm>
            <a:off x="511930" y="1164331"/>
            <a:ext cx="8915549" cy="97028"/>
          </a:xfrm>
          <a:custGeom>
            <a:avLst/>
            <a:gdLst/>
            <a:ahLst/>
            <a:cxnLst/>
            <a:rect l="l" t="t" r="r" b="b"/>
            <a:pathLst>
              <a:path w="8752205" h="95250">
                <a:moveTo>
                  <a:pt x="0" y="0"/>
                </a:moveTo>
                <a:lnTo>
                  <a:pt x="8752136" y="0"/>
                </a:lnTo>
                <a:lnTo>
                  <a:pt x="8752136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1F375B"/>
          </a:solidFill>
        </p:spPr>
        <p:txBody>
          <a:bodyPr wrap="square" lIns="0" tIns="0" rIns="0" bIns="0" rtlCol="0"/>
          <a:lstStyle/>
          <a:p>
            <a:endParaRPr sz="2037"/>
          </a:p>
        </p:txBody>
      </p:sp>
      <p:sp>
        <p:nvSpPr>
          <p:cNvPr id="5" name="object 5"/>
          <p:cNvSpPr/>
          <p:nvPr/>
        </p:nvSpPr>
        <p:spPr>
          <a:xfrm>
            <a:off x="511930" y="310488"/>
            <a:ext cx="8915549" cy="97028"/>
          </a:xfrm>
          <a:custGeom>
            <a:avLst/>
            <a:gdLst/>
            <a:ahLst/>
            <a:cxnLst/>
            <a:rect l="l" t="t" r="r" b="b"/>
            <a:pathLst>
              <a:path w="8752205" h="95250">
                <a:moveTo>
                  <a:pt x="0" y="0"/>
                </a:moveTo>
                <a:lnTo>
                  <a:pt x="8752136" y="0"/>
                </a:lnTo>
                <a:lnTo>
                  <a:pt x="8752136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1F375B"/>
          </a:solidFill>
        </p:spPr>
        <p:txBody>
          <a:bodyPr wrap="square" lIns="0" tIns="0" rIns="0" bIns="0" rtlCol="0"/>
          <a:lstStyle/>
          <a:p>
            <a:endParaRPr sz="2037"/>
          </a:p>
        </p:txBody>
      </p:sp>
      <p:sp>
        <p:nvSpPr>
          <p:cNvPr id="7" name="object 7"/>
          <p:cNvSpPr txBox="1"/>
          <p:nvPr/>
        </p:nvSpPr>
        <p:spPr>
          <a:xfrm>
            <a:off x="511930" y="1779533"/>
            <a:ext cx="8915548" cy="3279595"/>
          </a:xfrm>
          <a:prstGeom prst="rect">
            <a:avLst/>
          </a:prstGeom>
        </p:spPr>
        <p:txBody>
          <a:bodyPr vert="horz" wrap="square" lIns="0" tIns="199877" rIns="0" bIns="0" rtlCol="0">
            <a:spAutoFit/>
          </a:bodyPr>
          <a:lstStyle/>
          <a:p>
            <a:r>
              <a:rPr lang="da-DK" dirty="0"/>
              <a:t>1. Hvor mange procent af ejendommens værdi må realkreditlånet maksimalt udgøre?</a:t>
            </a:r>
          </a:p>
          <a:p>
            <a:r>
              <a:rPr lang="da-DK" dirty="0">
                <a:solidFill>
                  <a:srgbClr val="FF0000"/>
                </a:solidFill>
              </a:rPr>
              <a:t>Realkreditbelåning kan maksimalt udgøre 80 % af ejendommens værdi</a:t>
            </a:r>
          </a:p>
          <a:p>
            <a:endParaRPr lang="da-DK" dirty="0"/>
          </a:p>
          <a:p>
            <a:r>
              <a:rPr lang="da-DK" dirty="0"/>
              <a:t>2. Hvad skal man som køber overveje i forbindelse med optagelse af realkreditlån?</a:t>
            </a:r>
          </a:p>
          <a:p>
            <a:r>
              <a:rPr lang="da-DK" dirty="0">
                <a:solidFill>
                  <a:srgbClr val="FF0000"/>
                </a:solidFill>
              </a:rPr>
              <a:t>I forbindelse med optagelse af realkreditlån, skal man overveje:</a:t>
            </a:r>
          </a:p>
          <a:p>
            <a:endParaRPr lang="da-DK" dirty="0">
              <a:solidFill>
                <a:srgbClr val="FF0000"/>
              </a:solidFill>
            </a:endParaRPr>
          </a:p>
          <a:p>
            <a:pPr marL="839785" lvl="1" indent="-342900">
              <a:buFont typeface="Arial" panose="020B0604020202020204" pitchFamily="34" charset="0"/>
              <a:buChar char="•"/>
            </a:pPr>
            <a:r>
              <a:rPr lang="da-DK" dirty="0">
                <a:solidFill>
                  <a:srgbClr val="FF0000"/>
                </a:solidFill>
              </a:rPr>
              <a:t>Løbetid (10, 20 eller 30 år)</a:t>
            </a:r>
          </a:p>
          <a:p>
            <a:pPr marL="839785" lvl="1" indent="-342900">
              <a:buFont typeface="Arial" panose="020B0604020202020204" pitchFamily="34" charset="0"/>
              <a:buChar char="•"/>
            </a:pPr>
            <a:r>
              <a:rPr lang="da-DK" dirty="0">
                <a:solidFill>
                  <a:srgbClr val="FF0000"/>
                </a:solidFill>
              </a:rPr>
              <a:t>Afdragsfrihed (der betales kun renter på lånet og ikke afdrag)</a:t>
            </a:r>
          </a:p>
          <a:p>
            <a:pPr marL="839785" lvl="1" indent="-342900">
              <a:buFont typeface="Arial" panose="020B0604020202020204" pitchFamily="34" charset="0"/>
              <a:buChar char="•"/>
            </a:pPr>
            <a:r>
              <a:rPr lang="da-DK" dirty="0">
                <a:solidFill>
                  <a:srgbClr val="FF0000"/>
                </a:solidFill>
              </a:rPr>
              <a:t>Fast eller variabel rente</a:t>
            </a:r>
          </a:p>
          <a:p>
            <a:pPr marL="839785" lvl="1" indent="-342900">
              <a:buFont typeface="Arial" panose="020B0604020202020204" pitchFamily="34" charset="0"/>
              <a:buChar char="•"/>
            </a:pPr>
            <a:r>
              <a:rPr lang="da-DK" dirty="0">
                <a:solidFill>
                  <a:srgbClr val="FF0000"/>
                </a:solidFill>
              </a:rPr>
              <a:t>Kurssikring af lån</a:t>
            </a:r>
          </a:p>
        </p:txBody>
      </p:sp>
      <p:sp>
        <p:nvSpPr>
          <p:cNvPr id="3" name="Pladsholder til slidenummer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da-DK" smtClean="0"/>
              <a:t>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214445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1930" y="614591"/>
            <a:ext cx="9282309" cy="752380"/>
          </a:xfrm>
          <a:prstGeom prst="rect">
            <a:avLst/>
          </a:prstGeom>
        </p:spPr>
        <p:txBody>
          <a:bodyPr vert="horz" wrap="square" lIns="0" tIns="13584" rIns="0" bIns="0" rtlCol="0">
            <a:spAutoFit/>
          </a:bodyPr>
          <a:lstStyle/>
          <a:p>
            <a:r>
              <a:rPr lang="da-DK" sz="2400" dirty="0"/>
              <a:t>2.9. Berigtigelse og refusionsopgørelse</a:t>
            </a:r>
            <a:br>
              <a:rPr lang="da-DK" sz="2400" dirty="0"/>
            </a:br>
            <a:endParaRPr lang="da-DK" sz="2400" dirty="0"/>
          </a:p>
        </p:txBody>
      </p:sp>
      <p:sp>
        <p:nvSpPr>
          <p:cNvPr id="4" name="object 4"/>
          <p:cNvSpPr/>
          <p:nvPr/>
        </p:nvSpPr>
        <p:spPr>
          <a:xfrm>
            <a:off x="511930" y="1164331"/>
            <a:ext cx="8915549" cy="97028"/>
          </a:xfrm>
          <a:custGeom>
            <a:avLst/>
            <a:gdLst/>
            <a:ahLst/>
            <a:cxnLst/>
            <a:rect l="l" t="t" r="r" b="b"/>
            <a:pathLst>
              <a:path w="8752205" h="95250">
                <a:moveTo>
                  <a:pt x="0" y="0"/>
                </a:moveTo>
                <a:lnTo>
                  <a:pt x="8752136" y="0"/>
                </a:lnTo>
                <a:lnTo>
                  <a:pt x="8752136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1F375B"/>
          </a:solidFill>
        </p:spPr>
        <p:txBody>
          <a:bodyPr wrap="square" lIns="0" tIns="0" rIns="0" bIns="0" rtlCol="0"/>
          <a:lstStyle/>
          <a:p>
            <a:endParaRPr sz="2037"/>
          </a:p>
        </p:txBody>
      </p:sp>
      <p:sp>
        <p:nvSpPr>
          <p:cNvPr id="5" name="object 5"/>
          <p:cNvSpPr/>
          <p:nvPr/>
        </p:nvSpPr>
        <p:spPr>
          <a:xfrm>
            <a:off x="511930" y="310488"/>
            <a:ext cx="8915549" cy="97028"/>
          </a:xfrm>
          <a:custGeom>
            <a:avLst/>
            <a:gdLst/>
            <a:ahLst/>
            <a:cxnLst/>
            <a:rect l="l" t="t" r="r" b="b"/>
            <a:pathLst>
              <a:path w="8752205" h="95250">
                <a:moveTo>
                  <a:pt x="0" y="0"/>
                </a:moveTo>
                <a:lnTo>
                  <a:pt x="8752136" y="0"/>
                </a:lnTo>
                <a:lnTo>
                  <a:pt x="8752136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1F375B"/>
          </a:solidFill>
        </p:spPr>
        <p:txBody>
          <a:bodyPr wrap="square" lIns="0" tIns="0" rIns="0" bIns="0" rtlCol="0"/>
          <a:lstStyle/>
          <a:p>
            <a:endParaRPr sz="2037"/>
          </a:p>
        </p:txBody>
      </p:sp>
      <p:sp>
        <p:nvSpPr>
          <p:cNvPr id="7" name="object 7"/>
          <p:cNvSpPr txBox="1"/>
          <p:nvPr/>
        </p:nvSpPr>
        <p:spPr>
          <a:xfrm>
            <a:off x="511930" y="1779533"/>
            <a:ext cx="8915548" cy="5741807"/>
          </a:xfrm>
          <a:prstGeom prst="rect">
            <a:avLst/>
          </a:prstGeom>
        </p:spPr>
        <p:txBody>
          <a:bodyPr vert="horz" wrap="square" lIns="0" tIns="199877" rIns="0" bIns="0" rtlCol="0">
            <a:spAutoFit/>
          </a:bodyPr>
          <a:lstStyle/>
          <a:p>
            <a:r>
              <a:rPr lang="da-DK" dirty="0"/>
              <a:t>1. Hvem skal rådgive køber om handlen og gennemgå handlens dokumenter?</a:t>
            </a:r>
          </a:p>
          <a:p>
            <a:r>
              <a:rPr lang="da-DK" dirty="0">
                <a:solidFill>
                  <a:srgbClr val="FF0000"/>
                </a:solidFill>
              </a:rPr>
              <a:t>Købers advokat rådgiver om handlen og gennemgår handlens væsentlige dokumenter</a:t>
            </a:r>
          </a:p>
          <a:p>
            <a:endParaRPr lang="da-DK" dirty="0"/>
          </a:p>
          <a:p>
            <a:r>
              <a:rPr lang="da-DK" dirty="0"/>
              <a:t>2. Hvad er det som skal tinglyses på ejendommen, for at sikre købers adkomst?</a:t>
            </a:r>
          </a:p>
          <a:p>
            <a:r>
              <a:rPr lang="da-DK" dirty="0">
                <a:solidFill>
                  <a:srgbClr val="FF0000"/>
                </a:solidFill>
              </a:rPr>
              <a:t>Advokaten skal sørge for at få tinglyst nyt skøde på ejendommen, for at sikre købers adkomst</a:t>
            </a:r>
          </a:p>
          <a:p>
            <a:endParaRPr lang="da-DK" dirty="0"/>
          </a:p>
          <a:p>
            <a:r>
              <a:rPr lang="da-DK" dirty="0"/>
              <a:t>3. Hvilke anmærkninger vil ovennævnte dokument få?</a:t>
            </a:r>
          </a:p>
          <a:p>
            <a:r>
              <a:rPr lang="da-DK" dirty="0">
                <a:solidFill>
                  <a:srgbClr val="FF0000"/>
                </a:solidFill>
              </a:rPr>
              <a:t>Skødet vil få anmærkninger om sælgers endnu ikke aflyste lån</a:t>
            </a:r>
          </a:p>
          <a:p>
            <a:endParaRPr lang="da-DK" dirty="0"/>
          </a:p>
          <a:p>
            <a:r>
              <a:rPr lang="da-DK" dirty="0"/>
              <a:t>4. Hvornår bliver anmærkningerne på ovenstående dokument fjernet?</a:t>
            </a:r>
          </a:p>
          <a:p>
            <a:r>
              <a:rPr lang="da-DK" dirty="0">
                <a:solidFill>
                  <a:srgbClr val="FF0000"/>
                </a:solidFill>
              </a:rPr>
              <a:t>Efterhånden som sælgers lån bliver indfriet, vil anmærkningerne blive fjernet</a:t>
            </a:r>
          </a:p>
          <a:p>
            <a:endParaRPr lang="da-DK" dirty="0"/>
          </a:p>
          <a:p>
            <a:r>
              <a:rPr lang="da-DK" dirty="0"/>
              <a:t>5. Hvornår kan købesummen frigives sælger?</a:t>
            </a:r>
          </a:p>
          <a:p>
            <a:r>
              <a:rPr lang="da-DK" dirty="0">
                <a:solidFill>
                  <a:srgbClr val="FF0000"/>
                </a:solidFill>
              </a:rPr>
              <a:t>Når skødet er anmærkningsfrit kan købesummen frigives til sælger</a:t>
            </a:r>
          </a:p>
          <a:p>
            <a:endParaRPr lang="da-DK" dirty="0"/>
          </a:p>
          <a:p>
            <a:r>
              <a:rPr lang="da-DK" dirty="0"/>
              <a:t>6. Hvem udarbejder refusionsopgørelsen?</a:t>
            </a:r>
            <a:br>
              <a:rPr lang="da-DK" dirty="0"/>
            </a:br>
            <a:r>
              <a:rPr lang="da-DK" dirty="0">
                <a:solidFill>
                  <a:srgbClr val="FF0000"/>
                </a:solidFill>
              </a:rPr>
              <a:t>Købers advokat skal udarbejde refusionsopgørelse</a:t>
            </a:r>
          </a:p>
        </p:txBody>
      </p:sp>
      <p:sp>
        <p:nvSpPr>
          <p:cNvPr id="3" name="Pladsholder til slidenummer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da-DK" smtClean="0"/>
              <a:t>10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05973478"/>
      </p:ext>
    </p:extLst>
  </p:cSld>
  <p:clrMapOvr>
    <a:masterClrMapping/>
  </p:clrMapOvr>
</p:sld>
</file>

<file path=ppt/theme/theme1.xml><?xml version="1.0" encoding="utf-8"?>
<a:theme xmlns:a="http://schemas.openxmlformats.org/drawingml/2006/main" name="cphbusiness POWERPOINT skabelo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Kontortema">
  <a:themeElements>
    <a:clrScheme name="Kont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ont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Kontortema">
  <a:themeElements>
    <a:clrScheme name="Kont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ont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ndhold xmlns="d40e101a-1fec-4fbd-a9d0-ed41492f4cd8" xsi:nil="true"/>
    <_ip_UnifiedCompliancePolicyUIAction xmlns="http://schemas.microsoft.com/sharepoint/v3" xsi:nil="true"/>
    <Initials xmlns="d40e101a-1fec-4fbd-a9d0-ed41492f4cd8" xsi:nil="true"/>
    <Semester xmlns="d40e101a-1fec-4fbd-a9d0-ed41492f4cd8" xsi:nil="true"/>
    <_ip_UnifiedCompliancePolicyProperties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0E7AEDA699A6046B28BDB03A4B3ACE5" ma:contentTypeVersion="18" ma:contentTypeDescription="Create a new document." ma:contentTypeScope="" ma:versionID="02e15c3bcd745aa8f170db0a17cd0653">
  <xsd:schema xmlns:xsd="http://www.w3.org/2001/XMLSchema" xmlns:xs="http://www.w3.org/2001/XMLSchema" xmlns:p="http://schemas.microsoft.com/office/2006/metadata/properties" xmlns:ns1="http://schemas.microsoft.com/sharepoint/v3" xmlns:ns2="7d4bd1a6-963b-4ce5-9d6a-82f9bec88dc5" xmlns:ns3="d40e101a-1fec-4fbd-a9d0-ed41492f4cd8" targetNamespace="http://schemas.microsoft.com/office/2006/metadata/properties" ma:root="true" ma:fieldsID="e9ef13896b839d8d93edccf46d0a437c" ns1:_="" ns2:_="" ns3:_="">
    <xsd:import namespace="http://schemas.microsoft.com/sharepoint/v3"/>
    <xsd:import namespace="7d4bd1a6-963b-4ce5-9d6a-82f9bec88dc5"/>
    <xsd:import namespace="d40e101a-1fec-4fbd-a9d0-ed41492f4cd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Initials" minOccurs="0"/>
                <xsd:element ref="ns3:Semester" minOccurs="0"/>
                <xsd:element ref="ns3:Indhold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9" nillable="true" ma:displayName="Unified Compliance Policy Properties" ma:description="" ma:hidden="true" ma:internalName="_ip_UnifiedCompliancePolicyProperties">
      <xsd:simpleType>
        <xsd:restriction base="dms:Note"/>
      </xsd:simpleType>
    </xsd:element>
    <xsd:element name="_ip_UnifiedCompliancePolicyUIAction" ma:index="20" nillable="true" ma:displayName="Unified Compliance Policy UI Action" ma:description="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4bd1a6-963b-4ce5-9d6a-82f9bec88dc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0e101a-1fec-4fbd-a9d0-ed41492f4cd8" elementFormDefault="qualified">
    <xsd:import namespace="http://schemas.microsoft.com/office/2006/documentManagement/types"/>
    <xsd:import namespace="http://schemas.microsoft.com/office/infopath/2007/PartnerControls"/>
    <xsd:element name="Initials" ma:index="10" nillable="true" ma:displayName="Flow" ma:internalName="Initials">
      <xsd:simpleType>
        <xsd:restriction base="dms:Text">
          <xsd:maxLength value="255"/>
        </xsd:restriction>
      </xsd:simpleType>
    </xsd:element>
    <xsd:element name="Semester" ma:index="12" nillable="true" ma:displayName="Semester" ma:internalName="Semester">
      <xsd:simpleType>
        <xsd:restriction base="dms:Text">
          <xsd:maxLength value="255"/>
        </xsd:restriction>
      </xsd:simpleType>
    </xsd:element>
    <xsd:element name="Indhold" ma:index="13" nillable="true" ma:displayName="Indhold" ma:internalName="Indhold">
      <xsd:simpleType>
        <xsd:restriction base="dms:Note">
          <xsd:maxLength value="255"/>
        </xsd:restriction>
      </xsd:simpleType>
    </xsd:element>
    <xsd:element name="MediaServiceMetadata" ma:index="14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6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description="" ma:internalName="MediaServiceAutoTags" ma:readOnly="true">
      <xsd:simpleType>
        <xsd:restriction base="dms:Text"/>
      </xsd:simpleType>
    </xsd:element>
    <xsd:element name="MediaServiceLocation" ma:index="18" nillable="true" ma:displayName="MediaServiceLocation" ma:description="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 ma:index="11" ma:displayName="Subject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0C7140B-B232-46A9-9118-1C333411689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C83B8EF-2B6D-4B79-9A29-2F5E34987912}">
  <ds:schemaRefs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d40e101a-1fec-4fbd-a9d0-ed41492f4cd8"/>
    <ds:schemaRef ds:uri="7d4bd1a6-963b-4ce5-9d6a-82f9bec88dc5"/>
    <ds:schemaRef ds:uri="http://schemas.microsoft.com/sharepoint/v3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17DD3E5E-6749-43E6-B4E0-0299C6A3760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d4bd1a6-963b-4ce5-9d6a-82f9bec88dc5"/>
    <ds:schemaRef ds:uri="d40e101a-1fec-4fbd-a9d0-ed41492f4cd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14998</TotalTime>
  <Words>930</Words>
  <Application>Microsoft Office PowerPoint</Application>
  <PresentationFormat>Brugerdefineret</PresentationFormat>
  <Paragraphs>141</Paragraphs>
  <Slides>10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10</vt:i4>
      </vt:variant>
    </vt:vector>
  </HeadingPairs>
  <TitlesOfParts>
    <vt:vector size="15" baseType="lpstr">
      <vt:lpstr>Arial</vt:lpstr>
      <vt:lpstr>Calibri</vt:lpstr>
      <vt:lpstr>Verdana</vt:lpstr>
      <vt:lpstr>Wingdings</vt:lpstr>
      <vt:lpstr>cphbusiness POWERPOINT skabelon</vt:lpstr>
      <vt:lpstr>PowerPoint-præsentation</vt:lpstr>
      <vt:lpstr>2.1. Formidlingsaftale</vt:lpstr>
      <vt:lpstr>2.2. Ejendomsmæglers opgaver </vt:lpstr>
      <vt:lpstr>2.3. Tilstandsrapport &amp; El-installationsrapport </vt:lpstr>
      <vt:lpstr>2.4. Ejerskifteforsikring </vt:lpstr>
      <vt:lpstr>2.5. Købsaftale </vt:lpstr>
      <vt:lpstr>2.6. Fortrydelsesret </vt:lpstr>
      <vt:lpstr>2.7. Finansiering </vt:lpstr>
      <vt:lpstr>2.8. Realkreditlån</vt:lpstr>
      <vt:lpstr>2.9. Berigtigelse og refusionsopgørelse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Dias nummer 1</dc:title>
  <dc:creator>Søren Thestrup (SOTH - Lektor - Cphbusiness)</dc:creator>
  <cp:keywords>Erhvervsjura</cp:keywords>
  <cp:lastModifiedBy>Søren Thestrup (SOTH - Lektor - Cphbusiness)</cp:lastModifiedBy>
  <cp:revision>537</cp:revision>
  <cp:lastPrinted>2018-12-11T14:55:36Z</cp:lastPrinted>
  <dcterms:created xsi:type="dcterms:W3CDTF">2012-08-10T08:33:35Z</dcterms:created>
  <dcterms:modified xsi:type="dcterms:W3CDTF">2024-05-27T09:55:24Z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0x01010050E7AEDA699A6046B28BDB03A4B3ACE5</vt:lpwstr>
  </property>
</Properties>
</file>