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710" r:id="rId5"/>
    <p:sldId id="764" r:id="rId6"/>
    <p:sldId id="790" r:id="rId7"/>
    <p:sldId id="778" r:id="rId8"/>
    <p:sldId id="785" r:id="rId9"/>
    <p:sldId id="786" r:id="rId10"/>
    <p:sldId id="787" r:id="rId11"/>
    <p:sldId id="788" r:id="rId12"/>
    <p:sldId id="789" r:id="rId13"/>
    <p:sldId id="791" r:id="rId14"/>
    <p:sldId id="792" r:id="rId15"/>
    <p:sldId id="793" r:id="rId16"/>
    <p:sldId id="794" r:id="rId17"/>
    <p:sldId id="795" r:id="rId18"/>
    <p:sldId id="796" r:id="rId19"/>
    <p:sldId id="797" r:id="rId20"/>
  </p:sldIdLst>
  <p:sldSz cx="9939338" cy="7451725"/>
  <p:notesSz cx="6797675" cy="9926638"/>
  <p:defaultTextStyle>
    <a:defPPr>
      <a:defRPr lang="en-US"/>
    </a:defPPr>
    <a:lvl1pPr marL="0" algn="l" defTabSz="496885" rtl="0" eaLnBrk="1" latinLnBrk="0" hangingPunct="1">
      <a:defRPr sz="2000" kern="1200">
        <a:solidFill>
          <a:schemeClr val="tx1"/>
        </a:solidFill>
        <a:latin typeface="+mn-lt"/>
        <a:ea typeface="+mn-ea"/>
        <a:cs typeface="+mn-cs"/>
      </a:defRPr>
    </a:lvl1pPr>
    <a:lvl2pPr marL="496885" algn="l" defTabSz="496885" rtl="0" eaLnBrk="1" latinLnBrk="0" hangingPunct="1">
      <a:defRPr sz="2000" kern="1200">
        <a:solidFill>
          <a:schemeClr val="tx1"/>
        </a:solidFill>
        <a:latin typeface="+mn-lt"/>
        <a:ea typeface="+mn-ea"/>
        <a:cs typeface="+mn-cs"/>
      </a:defRPr>
    </a:lvl2pPr>
    <a:lvl3pPr marL="993770" algn="l" defTabSz="496885" rtl="0" eaLnBrk="1" latinLnBrk="0" hangingPunct="1">
      <a:defRPr sz="2000" kern="1200">
        <a:solidFill>
          <a:schemeClr val="tx1"/>
        </a:solidFill>
        <a:latin typeface="+mn-lt"/>
        <a:ea typeface="+mn-ea"/>
        <a:cs typeface="+mn-cs"/>
      </a:defRPr>
    </a:lvl3pPr>
    <a:lvl4pPr marL="1490655" algn="l" defTabSz="496885" rtl="0" eaLnBrk="1" latinLnBrk="0" hangingPunct="1">
      <a:defRPr sz="2000" kern="1200">
        <a:solidFill>
          <a:schemeClr val="tx1"/>
        </a:solidFill>
        <a:latin typeface="+mn-lt"/>
        <a:ea typeface="+mn-ea"/>
        <a:cs typeface="+mn-cs"/>
      </a:defRPr>
    </a:lvl4pPr>
    <a:lvl5pPr marL="1987540" algn="l" defTabSz="496885" rtl="0" eaLnBrk="1" latinLnBrk="0" hangingPunct="1">
      <a:defRPr sz="2000" kern="1200">
        <a:solidFill>
          <a:schemeClr val="tx1"/>
        </a:solidFill>
        <a:latin typeface="+mn-lt"/>
        <a:ea typeface="+mn-ea"/>
        <a:cs typeface="+mn-cs"/>
      </a:defRPr>
    </a:lvl5pPr>
    <a:lvl6pPr marL="2484425" algn="l" defTabSz="496885" rtl="0" eaLnBrk="1" latinLnBrk="0" hangingPunct="1">
      <a:defRPr sz="2000" kern="1200">
        <a:solidFill>
          <a:schemeClr val="tx1"/>
        </a:solidFill>
        <a:latin typeface="+mn-lt"/>
        <a:ea typeface="+mn-ea"/>
        <a:cs typeface="+mn-cs"/>
      </a:defRPr>
    </a:lvl6pPr>
    <a:lvl7pPr marL="2981310" algn="l" defTabSz="496885" rtl="0" eaLnBrk="1" latinLnBrk="0" hangingPunct="1">
      <a:defRPr sz="2000" kern="1200">
        <a:solidFill>
          <a:schemeClr val="tx1"/>
        </a:solidFill>
        <a:latin typeface="+mn-lt"/>
        <a:ea typeface="+mn-ea"/>
        <a:cs typeface="+mn-cs"/>
      </a:defRPr>
    </a:lvl7pPr>
    <a:lvl8pPr marL="3478195" algn="l" defTabSz="496885" rtl="0" eaLnBrk="1" latinLnBrk="0" hangingPunct="1">
      <a:defRPr sz="2000" kern="1200">
        <a:solidFill>
          <a:schemeClr val="tx1"/>
        </a:solidFill>
        <a:latin typeface="+mn-lt"/>
        <a:ea typeface="+mn-ea"/>
        <a:cs typeface="+mn-cs"/>
      </a:defRPr>
    </a:lvl8pPr>
    <a:lvl9pPr marL="3975080" algn="l" defTabSz="496885"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47">
          <p15:clr>
            <a:srgbClr val="A4A3A4"/>
          </p15:clr>
        </p15:guide>
        <p15:guide id="2" pos="31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63B"/>
    <a:srgbClr val="FBB0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29" autoAdjust="0"/>
    <p:restoredTop sz="94671" autoAdjust="0"/>
  </p:normalViewPr>
  <p:slideViewPr>
    <p:cSldViewPr snapToGrid="0" snapToObjects="1">
      <p:cViewPr varScale="1">
        <p:scale>
          <a:sx n="59" d="100"/>
          <a:sy n="59" d="100"/>
        </p:scale>
        <p:origin x="1392" y="60"/>
      </p:cViewPr>
      <p:guideLst>
        <p:guide orient="horz" pos="2347"/>
        <p:guide pos="3131"/>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44958" cy="4968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sz="quarter" idx="1"/>
          </p:nvPr>
        </p:nvSpPr>
        <p:spPr>
          <a:xfrm>
            <a:off x="3851098" y="0"/>
            <a:ext cx="2944958" cy="496888"/>
          </a:xfrm>
          <a:prstGeom prst="rect">
            <a:avLst/>
          </a:prstGeom>
        </p:spPr>
        <p:txBody>
          <a:bodyPr vert="horz" lIns="91440" tIns="45720" rIns="91440" bIns="45720" rtlCol="0"/>
          <a:lstStyle>
            <a:lvl1pPr algn="r">
              <a:defRPr sz="1200"/>
            </a:lvl1pPr>
          </a:lstStyle>
          <a:p>
            <a:r>
              <a:rPr lang="da-DK"/>
              <a:t>21-11-2017</a:t>
            </a:r>
          </a:p>
        </p:txBody>
      </p:sp>
      <p:sp>
        <p:nvSpPr>
          <p:cNvPr id="4" name="Pladsholder til sidefod 3"/>
          <p:cNvSpPr>
            <a:spLocks noGrp="1"/>
          </p:cNvSpPr>
          <p:nvPr>
            <p:ph type="ftr" sz="quarter" idx="2"/>
          </p:nvPr>
        </p:nvSpPr>
        <p:spPr>
          <a:xfrm>
            <a:off x="0" y="9428164"/>
            <a:ext cx="2944958" cy="496886"/>
          </a:xfrm>
          <a:prstGeom prst="rect">
            <a:avLst/>
          </a:prstGeom>
        </p:spPr>
        <p:txBody>
          <a:bodyPr vert="horz" lIns="91440" tIns="45720" rIns="91440" bIns="45720" rtlCol="0" anchor="b"/>
          <a:lstStyle>
            <a:lvl1pPr algn="l">
              <a:defRPr sz="1200"/>
            </a:lvl1pPr>
          </a:lstStyle>
          <a:p>
            <a:endParaRPr lang="da-DK"/>
          </a:p>
        </p:txBody>
      </p:sp>
      <p:sp>
        <p:nvSpPr>
          <p:cNvPr id="5" name="Pladsholder til diasnummer 4"/>
          <p:cNvSpPr>
            <a:spLocks noGrp="1"/>
          </p:cNvSpPr>
          <p:nvPr>
            <p:ph type="sldNum" sz="quarter" idx="3"/>
          </p:nvPr>
        </p:nvSpPr>
        <p:spPr>
          <a:xfrm>
            <a:off x="3851098" y="9428164"/>
            <a:ext cx="2944958" cy="496886"/>
          </a:xfrm>
          <a:prstGeom prst="rect">
            <a:avLst/>
          </a:prstGeom>
        </p:spPr>
        <p:txBody>
          <a:bodyPr vert="horz" lIns="91440" tIns="45720" rIns="91440" bIns="45720" rtlCol="0" anchor="b"/>
          <a:lstStyle>
            <a:lvl1pPr algn="r">
              <a:defRPr sz="1200"/>
            </a:lvl1pPr>
          </a:lstStyle>
          <a:p>
            <a:fld id="{8927331A-7756-4870-A527-9B237FF0DA0D}" type="slidenum">
              <a:rPr lang="da-DK" smtClean="0"/>
              <a:t>‹nr.›</a:t>
            </a:fld>
            <a:endParaRPr lang="da-DK"/>
          </a:p>
        </p:txBody>
      </p:sp>
    </p:spTree>
    <p:extLst>
      <p:ext uri="{BB962C8B-B14F-4D97-AF65-F5344CB8AC3E}">
        <p14:creationId xmlns:p14="http://schemas.microsoft.com/office/powerpoint/2010/main" val="109121029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1"/>
            <a:ext cx="2945659" cy="496331"/>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50443" y="1"/>
            <a:ext cx="2945659" cy="496331"/>
          </a:xfrm>
          <a:prstGeom prst="rect">
            <a:avLst/>
          </a:prstGeom>
        </p:spPr>
        <p:txBody>
          <a:bodyPr vert="horz" lIns="91440" tIns="45720" rIns="91440" bIns="45720" rtlCol="0"/>
          <a:lstStyle>
            <a:lvl1pPr algn="r">
              <a:defRPr sz="1200"/>
            </a:lvl1pPr>
          </a:lstStyle>
          <a:p>
            <a:r>
              <a:rPr lang="da-DK"/>
              <a:t>21-11-2017</a:t>
            </a:r>
          </a:p>
        </p:txBody>
      </p:sp>
      <p:sp>
        <p:nvSpPr>
          <p:cNvPr id="4" name="Pladsholder til diasbillede 3"/>
          <p:cNvSpPr>
            <a:spLocks noGrp="1" noRot="1" noChangeAspect="1"/>
          </p:cNvSpPr>
          <p:nvPr>
            <p:ph type="sldImg" idx="2"/>
          </p:nvPr>
        </p:nvSpPr>
        <p:spPr>
          <a:xfrm>
            <a:off x="914400" y="744538"/>
            <a:ext cx="4968875" cy="3724275"/>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79768" y="4715153"/>
            <a:ext cx="5438140" cy="4466988"/>
          </a:xfrm>
          <a:prstGeom prst="rect">
            <a:avLst/>
          </a:prstGeom>
        </p:spPr>
        <p:txBody>
          <a:bodyPr vert="horz" lIns="91440" tIns="45720" rIns="91440" bIns="45720" rtlCol="0"/>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9428584"/>
            <a:ext cx="2945659" cy="496331"/>
          </a:xfrm>
          <a:prstGeom prst="rect">
            <a:avLst/>
          </a:prstGeom>
        </p:spPr>
        <p:txBody>
          <a:bodyPr vert="horz" lIns="91440" tIns="45720" rIns="91440" bIns="45720" rtlCol="0" anchor="b"/>
          <a:lstStyle>
            <a:lvl1pPr algn="l">
              <a:defRPr sz="1200"/>
            </a:lvl1pPr>
          </a:lstStyle>
          <a:p>
            <a:endParaRPr lang="da-DK"/>
          </a:p>
        </p:txBody>
      </p:sp>
      <p:sp>
        <p:nvSpPr>
          <p:cNvPr id="7" name="Pladsholder til diasnummer 6"/>
          <p:cNvSpPr>
            <a:spLocks noGrp="1"/>
          </p:cNvSpPr>
          <p:nvPr>
            <p:ph type="sldNum" sz="quarter" idx="5"/>
          </p:nvPr>
        </p:nvSpPr>
        <p:spPr>
          <a:xfrm>
            <a:off x="3850443" y="9428584"/>
            <a:ext cx="2945659" cy="496331"/>
          </a:xfrm>
          <a:prstGeom prst="rect">
            <a:avLst/>
          </a:prstGeom>
        </p:spPr>
        <p:txBody>
          <a:bodyPr vert="horz" lIns="91440" tIns="45720" rIns="91440" bIns="45720" rtlCol="0" anchor="b"/>
          <a:lstStyle>
            <a:lvl1pPr algn="r">
              <a:defRPr sz="1200"/>
            </a:lvl1pPr>
          </a:lstStyle>
          <a:p>
            <a:fld id="{5A3E0AAE-854D-43E9-AAB2-9F030F854ACC}" type="slidenum">
              <a:rPr lang="da-DK" smtClean="0"/>
              <a:t>‹nr.›</a:t>
            </a:fld>
            <a:endParaRPr lang="da-DK"/>
          </a:p>
        </p:txBody>
      </p:sp>
    </p:spTree>
    <p:extLst>
      <p:ext uri="{BB962C8B-B14F-4D97-AF65-F5344CB8AC3E}">
        <p14:creationId xmlns:p14="http://schemas.microsoft.com/office/powerpoint/2010/main" val="4000666054"/>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og indholdsobjekt">
    <p:spTree>
      <p:nvGrpSpPr>
        <p:cNvPr id="1" name=""/>
        <p:cNvGrpSpPr/>
        <p:nvPr/>
      </p:nvGrpSpPr>
      <p:grpSpPr>
        <a:xfrm>
          <a:off x="0" y="0"/>
          <a:ext cx="0" cy="0"/>
          <a:chOff x="0" y="0"/>
          <a:chExt cx="0" cy="0"/>
        </a:xfrm>
      </p:grpSpPr>
      <p:sp>
        <p:nvSpPr>
          <p:cNvPr id="7" name="Rectangle 7"/>
          <p:cNvSpPr/>
          <p:nvPr userDrawn="1"/>
        </p:nvSpPr>
        <p:spPr>
          <a:xfrm>
            <a:off x="0" y="0"/>
            <a:ext cx="9944004" cy="7451725"/>
          </a:xfrm>
          <a:prstGeom prst="rect">
            <a:avLst/>
          </a:prstGeom>
          <a:solidFill>
            <a:srgbClr val="00163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1" descr="5fotos.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5788" y="1279054"/>
            <a:ext cx="8309043" cy="2029164"/>
          </a:xfrm>
          <a:prstGeom prst="rect">
            <a:avLst/>
          </a:prstGeom>
        </p:spPr>
      </p:pic>
      <p:pic>
        <p:nvPicPr>
          <p:cNvPr id="10" name="Picture 2" descr="CPH_CBA_Payoff_NEG_CMYK.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15790" y="1149719"/>
            <a:ext cx="7311326" cy="198320"/>
          </a:xfrm>
          <a:prstGeom prst="rect">
            <a:avLst/>
          </a:prstGeom>
        </p:spPr>
      </p:pic>
      <p:sp>
        <p:nvSpPr>
          <p:cNvPr id="20" name="Pladsholder til tekst 19"/>
          <p:cNvSpPr>
            <a:spLocks noGrp="1"/>
          </p:cNvSpPr>
          <p:nvPr>
            <p:ph type="body" sz="quarter" idx="10" hasCustomPrompt="1"/>
          </p:nvPr>
        </p:nvSpPr>
        <p:spPr>
          <a:xfrm>
            <a:off x="1127236" y="3639312"/>
            <a:ext cx="7399879" cy="784687"/>
          </a:xfrm>
          <a:prstGeom prst="rect">
            <a:avLst/>
          </a:prstGeom>
          <a:ln>
            <a:noFill/>
          </a:ln>
        </p:spPr>
        <p:txBody>
          <a:bodyPr/>
          <a:lstStyle>
            <a:lvl1pPr>
              <a:buNone/>
              <a:defRPr sz="3600">
                <a:solidFill>
                  <a:srgbClr val="FBB040"/>
                </a:solidFill>
              </a:defRPr>
            </a:lvl1pPr>
            <a:lvl2pPr>
              <a:buNone/>
              <a:defRPr/>
            </a:lvl2pPr>
            <a:lvl3pPr>
              <a:buNone/>
              <a:defRPr/>
            </a:lvl3pPr>
          </a:lstStyle>
          <a:p>
            <a:pPr lvl="0"/>
            <a:r>
              <a:rPr lang="da-DK" dirty="0"/>
              <a:t>Tilføj titel</a:t>
            </a:r>
          </a:p>
        </p:txBody>
      </p:sp>
      <p:sp>
        <p:nvSpPr>
          <p:cNvPr id="22" name="Pladsholder til tekst 21"/>
          <p:cNvSpPr>
            <a:spLocks noGrp="1"/>
          </p:cNvSpPr>
          <p:nvPr>
            <p:ph type="body" sz="quarter" idx="11" hasCustomPrompt="1"/>
          </p:nvPr>
        </p:nvSpPr>
        <p:spPr>
          <a:xfrm>
            <a:off x="1127236" y="4426458"/>
            <a:ext cx="7409023" cy="2285238"/>
          </a:xfrm>
          <a:prstGeom prst="rect">
            <a:avLst/>
          </a:prstGeom>
        </p:spPr>
        <p:txBody>
          <a:bodyPr/>
          <a:lstStyle>
            <a:lvl1pPr>
              <a:buNone/>
              <a:defRPr sz="1400" baseline="0">
                <a:solidFill>
                  <a:srgbClr val="FFFFFF"/>
                </a:solidFill>
              </a:defRPr>
            </a:lvl1pPr>
          </a:lstStyle>
          <a:p>
            <a:pPr lvl="0"/>
            <a:r>
              <a:rPr lang="da-DK" dirty="0">
                <a:solidFill>
                  <a:srgbClr val="FFFFFF"/>
                </a:solidFill>
              </a:rPr>
              <a:t>PowerPoint 31.07.2012 [RET DATO]</a:t>
            </a:r>
            <a:endParaRPr lang="da-DK" dirty="0"/>
          </a:p>
        </p:txBody>
      </p:sp>
      <p:pic>
        <p:nvPicPr>
          <p:cNvPr id="11" name="Picture 5" descr="CPHbusinessNEG_RGB.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04008" y="10855"/>
            <a:ext cx="2339996" cy="927977"/>
          </a:xfrm>
          <a:prstGeom prst="rect">
            <a:avLst/>
          </a:prstGeom>
        </p:spPr>
      </p:pic>
    </p:spTree>
    <p:extLst>
      <p:ext uri="{BB962C8B-B14F-4D97-AF65-F5344CB8AC3E}">
        <p14:creationId xmlns:p14="http://schemas.microsoft.com/office/powerpoint/2010/main" val="1183340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yt emne">
    <p:spTree>
      <p:nvGrpSpPr>
        <p:cNvPr id="1" name=""/>
        <p:cNvGrpSpPr/>
        <p:nvPr/>
      </p:nvGrpSpPr>
      <p:grpSpPr>
        <a:xfrm>
          <a:off x="0" y="0"/>
          <a:ext cx="0" cy="0"/>
          <a:chOff x="0" y="0"/>
          <a:chExt cx="0" cy="0"/>
        </a:xfrm>
      </p:grpSpPr>
      <p:sp>
        <p:nvSpPr>
          <p:cNvPr id="3" name="Rectangle 7"/>
          <p:cNvSpPr/>
          <p:nvPr userDrawn="1"/>
        </p:nvSpPr>
        <p:spPr>
          <a:xfrm>
            <a:off x="0" y="0"/>
            <a:ext cx="9944004" cy="7451725"/>
          </a:xfrm>
          <a:prstGeom prst="rect">
            <a:avLst/>
          </a:prstGeom>
          <a:solidFill>
            <a:srgbClr val="00163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6" descr="3fotos.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5788" y="1304241"/>
            <a:ext cx="7500977" cy="3443013"/>
          </a:xfrm>
          <a:prstGeom prst="rect">
            <a:avLst/>
          </a:prstGeom>
        </p:spPr>
      </p:pic>
      <p:sp>
        <p:nvSpPr>
          <p:cNvPr id="8" name="Pladsholder til tekst 7"/>
          <p:cNvSpPr>
            <a:spLocks noGrp="1"/>
          </p:cNvSpPr>
          <p:nvPr>
            <p:ph type="body" sz="quarter" idx="10" hasCustomPrompt="1"/>
          </p:nvPr>
        </p:nvSpPr>
        <p:spPr>
          <a:xfrm>
            <a:off x="1127402" y="4855464"/>
            <a:ext cx="7589363" cy="779609"/>
          </a:xfrm>
          <a:prstGeom prst="rect">
            <a:avLst/>
          </a:prstGeom>
        </p:spPr>
        <p:txBody>
          <a:bodyPr/>
          <a:lstStyle>
            <a:lvl1pPr>
              <a:buNone/>
              <a:defRPr sz="3600">
                <a:solidFill>
                  <a:srgbClr val="FBB040"/>
                </a:solidFill>
              </a:defRPr>
            </a:lvl1pPr>
          </a:lstStyle>
          <a:p>
            <a:pPr lvl="0"/>
            <a:r>
              <a:rPr lang="da-DK" dirty="0"/>
              <a:t>Overskrift</a:t>
            </a:r>
          </a:p>
        </p:txBody>
      </p:sp>
      <p:sp>
        <p:nvSpPr>
          <p:cNvPr id="12" name="Pladsholder til tekst 11"/>
          <p:cNvSpPr>
            <a:spLocks noGrp="1"/>
          </p:cNvSpPr>
          <p:nvPr>
            <p:ph type="body" sz="quarter" idx="11" hasCustomPrompt="1"/>
          </p:nvPr>
        </p:nvSpPr>
        <p:spPr>
          <a:xfrm>
            <a:off x="1127237" y="5644216"/>
            <a:ext cx="7589528" cy="1488103"/>
          </a:xfrm>
          <a:prstGeom prst="rect">
            <a:avLst/>
          </a:prstGeom>
        </p:spPr>
        <p:txBody>
          <a:bodyPr/>
          <a:lstStyle>
            <a:lvl1pPr marL="0" indent="0">
              <a:buFontTx/>
              <a:buNone/>
              <a:defRPr baseline="0">
                <a:solidFill>
                  <a:srgbClr val="FFFFFF"/>
                </a:solidFill>
              </a:defRPr>
            </a:lvl1pPr>
          </a:lstStyle>
          <a:p>
            <a:pPr lvl="0"/>
            <a:r>
              <a:rPr lang="da-DK" dirty="0" err="1"/>
              <a:t>Duis</a:t>
            </a:r>
            <a:r>
              <a:rPr lang="da-DK" dirty="0"/>
              <a:t> </a:t>
            </a:r>
            <a:r>
              <a:rPr lang="da-DK" dirty="0" err="1"/>
              <a:t>autem</a:t>
            </a:r>
            <a:r>
              <a:rPr lang="da-DK" dirty="0"/>
              <a:t> vel </a:t>
            </a:r>
            <a:r>
              <a:rPr lang="da-DK" dirty="0" err="1"/>
              <a:t>eum</a:t>
            </a:r>
            <a:r>
              <a:rPr lang="da-DK" dirty="0"/>
              <a:t> </a:t>
            </a:r>
            <a:r>
              <a:rPr lang="da-DK" dirty="0" err="1"/>
              <a:t>iriure</a:t>
            </a:r>
            <a:r>
              <a:rPr lang="da-DK" dirty="0"/>
              <a:t> </a:t>
            </a:r>
            <a:r>
              <a:rPr lang="da-DK" dirty="0" err="1"/>
              <a:t>dolor</a:t>
            </a:r>
            <a:r>
              <a:rPr lang="da-DK" dirty="0"/>
              <a:t> in </a:t>
            </a:r>
            <a:r>
              <a:rPr lang="da-DK" dirty="0" err="1"/>
              <a:t>hendrerit</a:t>
            </a:r>
            <a:r>
              <a:rPr lang="da-DK" dirty="0"/>
              <a:t> in </a:t>
            </a:r>
            <a:r>
              <a:rPr lang="da-DK" dirty="0" err="1"/>
              <a:t>vulputate</a:t>
            </a:r>
            <a:r>
              <a:rPr lang="da-DK" dirty="0"/>
              <a:t> </a:t>
            </a:r>
            <a:r>
              <a:rPr lang="da-DK" dirty="0" err="1"/>
              <a:t>velit</a:t>
            </a:r>
            <a:r>
              <a:rPr lang="da-DK" dirty="0"/>
              <a:t> </a:t>
            </a:r>
            <a:r>
              <a:rPr lang="da-DK" dirty="0" err="1"/>
              <a:t>hendrerit</a:t>
            </a:r>
            <a:r>
              <a:rPr lang="da-DK" dirty="0"/>
              <a:t> in </a:t>
            </a:r>
            <a:r>
              <a:rPr lang="da-DK" dirty="0" err="1"/>
              <a:t>vulputate</a:t>
            </a:r>
            <a:r>
              <a:rPr lang="da-DK" dirty="0"/>
              <a:t> </a:t>
            </a:r>
            <a:r>
              <a:rPr lang="da-DK" dirty="0" err="1"/>
              <a:t>velit</a:t>
            </a:r>
            <a:r>
              <a:rPr lang="da-DK" dirty="0"/>
              <a:t> </a:t>
            </a:r>
            <a:r>
              <a:rPr lang="da-DK" dirty="0" err="1"/>
              <a:t>hendrerit</a:t>
            </a:r>
            <a:r>
              <a:rPr lang="da-DK" dirty="0"/>
              <a:t> in </a:t>
            </a:r>
            <a:r>
              <a:rPr lang="da-DK" dirty="0" err="1"/>
              <a:t>vulputate</a:t>
            </a:r>
            <a:r>
              <a:rPr lang="da-DK" dirty="0"/>
              <a:t> </a:t>
            </a:r>
            <a:r>
              <a:rPr lang="da-DK" dirty="0" err="1"/>
              <a:t>velit</a:t>
            </a:r>
            <a:endParaRPr lang="da-DK" dirty="0"/>
          </a:p>
        </p:txBody>
      </p:sp>
      <p:pic>
        <p:nvPicPr>
          <p:cNvPr id="6" name="Picture 5" descr="CPHbusinessNEG_RGB.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04008" y="10855"/>
            <a:ext cx="2339996" cy="92797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ormal side">
    <p:spTree>
      <p:nvGrpSpPr>
        <p:cNvPr id="1" name=""/>
        <p:cNvGrpSpPr/>
        <p:nvPr/>
      </p:nvGrpSpPr>
      <p:grpSpPr>
        <a:xfrm>
          <a:off x="0" y="0"/>
          <a:ext cx="0" cy="0"/>
          <a:chOff x="0" y="0"/>
          <a:chExt cx="0" cy="0"/>
        </a:xfrm>
      </p:grpSpPr>
      <p:sp>
        <p:nvSpPr>
          <p:cNvPr id="6" name="Pladsholder til tekst 5"/>
          <p:cNvSpPr>
            <a:spLocks noGrp="1"/>
          </p:cNvSpPr>
          <p:nvPr>
            <p:ph type="body" sz="quarter" idx="10" hasCustomPrompt="1"/>
          </p:nvPr>
        </p:nvSpPr>
        <p:spPr>
          <a:xfrm>
            <a:off x="554736" y="727670"/>
            <a:ext cx="8789988" cy="1242418"/>
          </a:xfrm>
          <a:prstGeom prst="rect">
            <a:avLst/>
          </a:prstGeom>
        </p:spPr>
        <p:txBody>
          <a:bodyPr/>
          <a:lstStyle>
            <a:lvl1pPr>
              <a:buNone/>
              <a:defRPr sz="3600" b="1" baseline="0">
                <a:solidFill>
                  <a:srgbClr val="FBB040"/>
                </a:solidFill>
              </a:defRPr>
            </a:lvl1pPr>
          </a:lstStyle>
          <a:p>
            <a:pPr lvl="0"/>
            <a:r>
              <a:rPr lang="da-DK" dirty="0"/>
              <a:t>Skriv titel</a:t>
            </a:r>
          </a:p>
        </p:txBody>
      </p:sp>
      <p:sp>
        <p:nvSpPr>
          <p:cNvPr id="10" name="Pladsholder til tekst 9"/>
          <p:cNvSpPr>
            <a:spLocks noGrp="1"/>
          </p:cNvSpPr>
          <p:nvPr>
            <p:ph type="body" sz="quarter" idx="11"/>
          </p:nvPr>
        </p:nvSpPr>
        <p:spPr>
          <a:xfrm>
            <a:off x="879373" y="2773085"/>
            <a:ext cx="8054315" cy="3600500"/>
          </a:xfrm>
          <a:prstGeom prst="rect">
            <a:avLst/>
          </a:prstGeom>
        </p:spPr>
        <p:txBody>
          <a:bodyPr/>
          <a:lstStyle>
            <a:lvl1pPr>
              <a:defRPr>
                <a:solidFill>
                  <a:srgbClr val="00163B"/>
                </a:solidFill>
              </a:defRPr>
            </a:lvl1pPr>
            <a:lvl2pPr>
              <a:defRPr>
                <a:solidFill>
                  <a:srgbClr val="00163B"/>
                </a:solidFill>
              </a:defRPr>
            </a:lvl2pPr>
            <a:lvl3pPr>
              <a:defRPr>
                <a:solidFill>
                  <a:srgbClr val="00163B"/>
                </a:solidFill>
              </a:defRPr>
            </a:lvl3pPr>
            <a:lvl4pPr>
              <a:defRPr>
                <a:solidFill>
                  <a:srgbClr val="00163B"/>
                </a:solidFill>
              </a:defRPr>
            </a:lvl4pPr>
            <a:lvl5pPr>
              <a:defRPr>
                <a:solidFill>
                  <a:srgbClr val="00163B"/>
                </a:solidFill>
              </a:defRPr>
            </a:lvl5pPr>
          </a:lstStyle>
          <a:p>
            <a:pPr lvl="0"/>
            <a:r>
              <a:rPr lang="da-DK"/>
              <a:t>Klik for at redigere typografi i masteren</a:t>
            </a:r>
          </a:p>
          <a:p>
            <a:pPr lvl="1"/>
            <a:r>
              <a:rPr lang="da-DK"/>
              <a:t>Andet niveau</a:t>
            </a:r>
          </a:p>
          <a:p>
            <a:pPr lvl="2"/>
            <a:r>
              <a:rPr lang="da-DK"/>
              <a:t>Tredje niveau</a:t>
            </a:r>
          </a:p>
          <a:p>
            <a:pPr lvl="3"/>
            <a:r>
              <a:rPr lang="da-DK"/>
              <a:t>Fjerde niveau</a:t>
            </a:r>
          </a:p>
          <a:p>
            <a:pPr lvl="4"/>
            <a:r>
              <a:rPr lang="da-DK"/>
              <a:t>Femte niveau</a:t>
            </a:r>
            <a:endParaRPr lang="da-DK"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20" b="0" i="0">
                <a:solidFill>
                  <a:srgbClr val="1F375B"/>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D834052-9428-4883-86A8-E540AA80AF32}" type="datetime1">
              <a:rPr lang="en-US" smtClean="0"/>
              <a:t>5/17/2024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extLst>
      <p:ext uri="{BB962C8B-B14F-4D97-AF65-F5344CB8AC3E}">
        <p14:creationId xmlns:p14="http://schemas.microsoft.com/office/powerpoint/2010/main" val="39165224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PHbusiness_RGB.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2334" y="10867"/>
            <a:ext cx="2347874" cy="930762"/>
          </a:xfrm>
          <a:prstGeom prst="rect">
            <a:avLst/>
          </a:prstGeom>
        </p:spPr>
      </p:pic>
    </p:spTree>
    <p:extLst>
      <p:ext uri="{BB962C8B-B14F-4D97-AF65-F5344CB8AC3E}">
        <p14:creationId xmlns:p14="http://schemas.microsoft.com/office/powerpoint/2010/main" val="623532874"/>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4" r:id="rId4"/>
  </p:sldLayoutIdLst>
  <p:hf hdr="0" ftr="0" dt="0"/>
  <p:txStyles>
    <p:titleStyle>
      <a:lvl1pPr algn="l" defTabSz="496885" rtl="0" eaLnBrk="1" latinLnBrk="0" hangingPunct="1">
        <a:spcBef>
          <a:spcPct val="0"/>
        </a:spcBef>
        <a:buNone/>
        <a:defRPr sz="3600" kern="1200">
          <a:solidFill>
            <a:srgbClr val="FBB040"/>
          </a:solidFill>
          <a:latin typeface="Verdana"/>
          <a:ea typeface="+mj-ea"/>
          <a:cs typeface="Verdana"/>
        </a:defRPr>
      </a:lvl1pPr>
    </p:titleStyle>
    <p:bodyStyle>
      <a:lvl1pPr marL="372664" indent="-372664" algn="l" defTabSz="496885" rtl="0" eaLnBrk="1" latinLnBrk="0" hangingPunct="1">
        <a:spcBef>
          <a:spcPct val="20000"/>
        </a:spcBef>
        <a:buClr>
          <a:srgbClr val="FBB040"/>
        </a:buClr>
        <a:buFont typeface="Wingdings" charset="2"/>
        <a:buChar char="§"/>
        <a:defRPr sz="1800" kern="1200">
          <a:solidFill>
            <a:srgbClr val="00163B"/>
          </a:solidFill>
          <a:latin typeface="Verdana"/>
          <a:ea typeface="+mn-ea"/>
          <a:cs typeface="Verdana"/>
        </a:defRPr>
      </a:lvl1pPr>
      <a:lvl2pPr marL="807438" indent="-310553" algn="l" defTabSz="496885" rtl="0" eaLnBrk="1" latinLnBrk="0" hangingPunct="1">
        <a:spcBef>
          <a:spcPct val="20000"/>
        </a:spcBef>
        <a:buClr>
          <a:srgbClr val="FBB040"/>
        </a:buClr>
        <a:buFont typeface="Wingdings" charset="2"/>
        <a:buChar char="§"/>
        <a:defRPr sz="1800" kern="1200">
          <a:solidFill>
            <a:srgbClr val="00163B"/>
          </a:solidFill>
          <a:latin typeface="Verdana"/>
          <a:ea typeface="+mn-ea"/>
          <a:cs typeface="Verdana"/>
        </a:defRPr>
      </a:lvl2pPr>
      <a:lvl3pPr marL="1242212" indent="-248442" algn="l" defTabSz="496885" rtl="0" eaLnBrk="1" latinLnBrk="0" hangingPunct="1">
        <a:spcBef>
          <a:spcPct val="20000"/>
        </a:spcBef>
        <a:buClr>
          <a:srgbClr val="FBB040"/>
        </a:buClr>
        <a:buFont typeface="Wingdings" charset="2"/>
        <a:buChar char="§"/>
        <a:defRPr sz="1800" kern="1200">
          <a:solidFill>
            <a:srgbClr val="00163B"/>
          </a:solidFill>
          <a:latin typeface="Verdana"/>
          <a:ea typeface="+mn-ea"/>
          <a:cs typeface="Verdana"/>
        </a:defRPr>
      </a:lvl3pPr>
      <a:lvl4pPr marL="1739097" indent="-248442" algn="l" defTabSz="496885" rtl="0" eaLnBrk="1" latinLnBrk="0" hangingPunct="1">
        <a:spcBef>
          <a:spcPct val="20000"/>
        </a:spcBef>
        <a:buClr>
          <a:srgbClr val="FBB040"/>
        </a:buClr>
        <a:buFont typeface="Wingdings" charset="2"/>
        <a:buChar char="§"/>
        <a:defRPr sz="1800" kern="1200">
          <a:solidFill>
            <a:srgbClr val="00163B"/>
          </a:solidFill>
          <a:latin typeface="Verdana"/>
          <a:ea typeface="+mn-ea"/>
          <a:cs typeface="Verdana"/>
        </a:defRPr>
      </a:lvl4pPr>
      <a:lvl5pPr marL="2235982" indent="-248442" algn="l" defTabSz="496885" rtl="0" eaLnBrk="1" latinLnBrk="0" hangingPunct="1">
        <a:spcBef>
          <a:spcPct val="20000"/>
        </a:spcBef>
        <a:buClr>
          <a:srgbClr val="FBB040"/>
        </a:buClr>
        <a:buFont typeface="Wingdings" charset="2"/>
        <a:buChar char="§"/>
        <a:defRPr sz="1800" kern="1200">
          <a:solidFill>
            <a:srgbClr val="00163B"/>
          </a:solidFill>
          <a:latin typeface="Verdana"/>
          <a:ea typeface="+mn-ea"/>
          <a:cs typeface="Verdana"/>
        </a:defRPr>
      </a:lvl5pPr>
      <a:lvl6pPr marL="2732867" indent="-248442" algn="l" defTabSz="496885" rtl="0" eaLnBrk="1" latinLnBrk="0" hangingPunct="1">
        <a:spcBef>
          <a:spcPct val="20000"/>
        </a:spcBef>
        <a:buFont typeface="Arial"/>
        <a:buChar char="•"/>
        <a:defRPr sz="2200" kern="1200">
          <a:solidFill>
            <a:schemeClr val="tx1"/>
          </a:solidFill>
          <a:latin typeface="+mn-lt"/>
          <a:ea typeface="+mn-ea"/>
          <a:cs typeface="+mn-cs"/>
        </a:defRPr>
      </a:lvl6pPr>
      <a:lvl7pPr marL="3229752" indent="-248442" algn="l" defTabSz="496885" rtl="0" eaLnBrk="1" latinLnBrk="0" hangingPunct="1">
        <a:spcBef>
          <a:spcPct val="20000"/>
        </a:spcBef>
        <a:buFont typeface="Arial"/>
        <a:buChar char="•"/>
        <a:defRPr sz="2200" kern="1200">
          <a:solidFill>
            <a:schemeClr val="tx1"/>
          </a:solidFill>
          <a:latin typeface="+mn-lt"/>
          <a:ea typeface="+mn-ea"/>
          <a:cs typeface="+mn-cs"/>
        </a:defRPr>
      </a:lvl7pPr>
      <a:lvl8pPr marL="3726637" indent="-248442" algn="l" defTabSz="496885" rtl="0" eaLnBrk="1" latinLnBrk="0" hangingPunct="1">
        <a:spcBef>
          <a:spcPct val="20000"/>
        </a:spcBef>
        <a:buFont typeface="Arial"/>
        <a:buChar char="•"/>
        <a:defRPr sz="2200" kern="1200">
          <a:solidFill>
            <a:schemeClr val="tx1"/>
          </a:solidFill>
          <a:latin typeface="+mn-lt"/>
          <a:ea typeface="+mn-ea"/>
          <a:cs typeface="+mn-cs"/>
        </a:defRPr>
      </a:lvl8pPr>
      <a:lvl9pPr marL="4223522" indent="-248442" algn="l" defTabSz="496885"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496885" rtl="0" eaLnBrk="1" latinLnBrk="0" hangingPunct="1">
        <a:defRPr sz="2000" kern="1200">
          <a:solidFill>
            <a:schemeClr val="tx1"/>
          </a:solidFill>
          <a:latin typeface="+mn-lt"/>
          <a:ea typeface="+mn-ea"/>
          <a:cs typeface="+mn-cs"/>
        </a:defRPr>
      </a:lvl1pPr>
      <a:lvl2pPr marL="496885" algn="l" defTabSz="496885" rtl="0" eaLnBrk="1" latinLnBrk="0" hangingPunct="1">
        <a:defRPr sz="2000" kern="1200">
          <a:solidFill>
            <a:schemeClr val="tx1"/>
          </a:solidFill>
          <a:latin typeface="+mn-lt"/>
          <a:ea typeface="+mn-ea"/>
          <a:cs typeface="+mn-cs"/>
        </a:defRPr>
      </a:lvl2pPr>
      <a:lvl3pPr marL="993770" algn="l" defTabSz="496885" rtl="0" eaLnBrk="1" latinLnBrk="0" hangingPunct="1">
        <a:defRPr sz="2000" kern="1200">
          <a:solidFill>
            <a:schemeClr val="tx1"/>
          </a:solidFill>
          <a:latin typeface="+mn-lt"/>
          <a:ea typeface="+mn-ea"/>
          <a:cs typeface="+mn-cs"/>
        </a:defRPr>
      </a:lvl3pPr>
      <a:lvl4pPr marL="1490655" algn="l" defTabSz="496885" rtl="0" eaLnBrk="1" latinLnBrk="0" hangingPunct="1">
        <a:defRPr sz="2000" kern="1200">
          <a:solidFill>
            <a:schemeClr val="tx1"/>
          </a:solidFill>
          <a:latin typeface="+mn-lt"/>
          <a:ea typeface="+mn-ea"/>
          <a:cs typeface="+mn-cs"/>
        </a:defRPr>
      </a:lvl4pPr>
      <a:lvl5pPr marL="1987540" algn="l" defTabSz="496885" rtl="0" eaLnBrk="1" latinLnBrk="0" hangingPunct="1">
        <a:defRPr sz="2000" kern="1200">
          <a:solidFill>
            <a:schemeClr val="tx1"/>
          </a:solidFill>
          <a:latin typeface="+mn-lt"/>
          <a:ea typeface="+mn-ea"/>
          <a:cs typeface="+mn-cs"/>
        </a:defRPr>
      </a:lvl5pPr>
      <a:lvl6pPr marL="2484425" algn="l" defTabSz="496885" rtl="0" eaLnBrk="1" latinLnBrk="0" hangingPunct="1">
        <a:defRPr sz="2000" kern="1200">
          <a:solidFill>
            <a:schemeClr val="tx1"/>
          </a:solidFill>
          <a:latin typeface="+mn-lt"/>
          <a:ea typeface="+mn-ea"/>
          <a:cs typeface="+mn-cs"/>
        </a:defRPr>
      </a:lvl6pPr>
      <a:lvl7pPr marL="2981310" algn="l" defTabSz="496885" rtl="0" eaLnBrk="1" latinLnBrk="0" hangingPunct="1">
        <a:defRPr sz="2000" kern="1200">
          <a:solidFill>
            <a:schemeClr val="tx1"/>
          </a:solidFill>
          <a:latin typeface="+mn-lt"/>
          <a:ea typeface="+mn-ea"/>
          <a:cs typeface="+mn-cs"/>
        </a:defRPr>
      </a:lvl7pPr>
      <a:lvl8pPr marL="3478195" algn="l" defTabSz="496885" rtl="0" eaLnBrk="1" latinLnBrk="0" hangingPunct="1">
        <a:defRPr sz="2000" kern="1200">
          <a:solidFill>
            <a:schemeClr val="tx1"/>
          </a:solidFill>
          <a:latin typeface="+mn-lt"/>
          <a:ea typeface="+mn-ea"/>
          <a:cs typeface="+mn-cs"/>
        </a:defRPr>
      </a:lvl8pPr>
      <a:lvl9pPr marL="3975080" algn="l" defTabSz="49688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1019" y="31175"/>
            <a:ext cx="9944004" cy="7456750"/>
          </a:xfrm>
          <a:prstGeom prst="rect">
            <a:avLst/>
          </a:prstGeom>
          <a:solidFill>
            <a:srgbClr val="00163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Placeholder 1"/>
          <p:cNvSpPr txBox="1">
            <a:spLocks/>
          </p:cNvSpPr>
          <p:nvPr/>
        </p:nvSpPr>
        <p:spPr>
          <a:xfrm>
            <a:off x="769740" y="3342399"/>
            <a:ext cx="9070946" cy="1694296"/>
          </a:xfrm>
          <a:prstGeom prst="rect">
            <a:avLst/>
          </a:prstGeom>
        </p:spPr>
        <p:txBody>
          <a:bodyPr vert="horz" lIns="99377" tIns="49688" rIns="99377" bIns="49688" rtlCol="0" anchor="ctr">
            <a:noAutofit/>
          </a:bodyPr>
          <a:lstStyle>
            <a:lvl1pPr algn="l" defTabSz="496885" rtl="0" eaLnBrk="1" latinLnBrk="0" hangingPunct="1">
              <a:spcBef>
                <a:spcPct val="0"/>
              </a:spcBef>
              <a:buNone/>
              <a:defRPr sz="3600" kern="1200">
                <a:solidFill>
                  <a:srgbClr val="FBB040"/>
                </a:solidFill>
                <a:latin typeface="Verdana"/>
                <a:ea typeface="+mj-ea"/>
                <a:cs typeface="Verdana"/>
              </a:defRPr>
            </a:lvl1pPr>
          </a:lstStyle>
          <a:p>
            <a:r>
              <a:rPr lang="da-DK" b="1" dirty="0"/>
              <a:t>Kaution / </a:t>
            </a:r>
            <a:r>
              <a:rPr lang="da-DK" b="1" dirty="0">
                <a:solidFill>
                  <a:srgbClr val="FF0000"/>
                </a:solidFill>
              </a:rPr>
              <a:t>Rettevejledning</a:t>
            </a:r>
          </a:p>
        </p:txBody>
      </p:sp>
      <p:sp>
        <p:nvSpPr>
          <p:cNvPr id="5" name="Text Placeholder 2"/>
          <p:cNvSpPr txBox="1">
            <a:spLocks/>
          </p:cNvSpPr>
          <p:nvPr/>
        </p:nvSpPr>
        <p:spPr>
          <a:xfrm>
            <a:off x="788366" y="4765040"/>
            <a:ext cx="8497147" cy="2499360"/>
          </a:xfrm>
          <a:prstGeom prst="rect">
            <a:avLst/>
          </a:prstGeom>
        </p:spPr>
        <p:txBody>
          <a:bodyPr vert="horz" lIns="99377" tIns="49688" rIns="99377" bIns="49688" rtlCol="0">
            <a:noAutofit/>
          </a:bodyPr>
          <a:lstStyle>
            <a:lvl1pPr marL="372664" indent="-372664" algn="l" defTabSz="496885" rtl="0" eaLnBrk="1" latinLnBrk="0" hangingPunct="1">
              <a:spcBef>
                <a:spcPct val="20000"/>
              </a:spcBef>
              <a:buClr>
                <a:srgbClr val="FBB040"/>
              </a:buClr>
              <a:buFont typeface="Wingdings" charset="2"/>
              <a:buChar char="§"/>
              <a:defRPr sz="1800" kern="1200">
                <a:solidFill>
                  <a:srgbClr val="00163B"/>
                </a:solidFill>
                <a:latin typeface="Verdana"/>
                <a:ea typeface="+mn-ea"/>
                <a:cs typeface="Verdana"/>
              </a:defRPr>
            </a:lvl1pPr>
            <a:lvl2pPr marL="807438" indent="-310553" algn="l" defTabSz="496885" rtl="0" eaLnBrk="1" latinLnBrk="0" hangingPunct="1">
              <a:spcBef>
                <a:spcPct val="20000"/>
              </a:spcBef>
              <a:buClr>
                <a:srgbClr val="FBB040"/>
              </a:buClr>
              <a:buFont typeface="Wingdings" charset="2"/>
              <a:buChar char="§"/>
              <a:defRPr sz="1800" kern="1200">
                <a:solidFill>
                  <a:srgbClr val="00163B"/>
                </a:solidFill>
                <a:latin typeface="Verdana"/>
                <a:ea typeface="+mn-ea"/>
                <a:cs typeface="Verdana"/>
              </a:defRPr>
            </a:lvl2pPr>
            <a:lvl3pPr marL="1242212" indent="-248442" algn="l" defTabSz="496885" rtl="0" eaLnBrk="1" latinLnBrk="0" hangingPunct="1">
              <a:spcBef>
                <a:spcPct val="20000"/>
              </a:spcBef>
              <a:buClr>
                <a:srgbClr val="FBB040"/>
              </a:buClr>
              <a:buFont typeface="Wingdings" charset="2"/>
              <a:buChar char="§"/>
              <a:defRPr sz="1800" kern="1200">
                <a:solidFill>
                  <a:srgbClr val="00163B"/>
                </a:solidFill>
                <a:latin typeface="Verdana"/>
                <a:ea typeface="+mn-ea"/>
                <a:cs typeface="Verdana"/>
              </a:defRPr>
            </a:lvl3pPr>
            <a:lvl4pPr marL="1739097" indent="-248442" algn="l" defTabSz="496885" rtl="0" eaLnBrk="1" latinLnBrk="0" hangingPunct="1">
              <a:spcBef>
                <a:spcPct val="20000"/>
              </a:spcBef>
              <a:buClr>
                <a:srgbClr val="FBB040"/>
              </a:buClr>
              <a:buFont typeface="Wingdings" charset="2"/>
              <a:buChar char="§"/>
              <a:defRPr sz="1800" kern="1200">
                <a:solidFill>
                  <a:srgbClr val="00163B"/>
                </a:solidFill>
                <a:latin typeface="Verdana"/>
                <a:ea typeface="+mn-ea"/>
                <a:cs typeface="Verdana"/>
              </a:defRPr>
            </a:lvl4pPr>
            <a:lvl5pPr marL="2235982" indent="-248442" algn="l" defTabSz="496885" rtl="0" eaLnBrk="1" latinLnBrk="0" hangingPunct="1">
              <a:spcBef>
                <a:spcPct val="20000"/>
              </a:spcBef>
              <a:buClr>
                <a:srgbClr val="FBB040"/>
              </a:buClr>
              <a:buFont typeface="Wingdings" charset="2"/>
              <a:buChar char="§"/>
              <a:defRPr sz="1800" kern="1200">
                <a:solidFill>
                  <a:srgbClr val="00163B"/>
                </a:solidFill>
                <a:latin typeface="Verdana"/>
                <a:ea typeface="+mn-ea"/>
                <a:cs typeface="Verdana"/>
              </a:defRPr>
            </a:lvl5pPr>
            <a:lvl6pPr marL="2732867" indent="-248442" algn="l" defTabSz="496885" rtl="0" eaLnBrk="1" latinLnBrk="0" hangingPunct="1">
              <a:spcBef>
                <a:spcPct val="20000"/>
              </a:spcBef>
              <a:buFont typeface="Arial"/>
              <a:buChar char="•"/>
              <a:defRPr sz="2200" kern="1200">
                <a:solidFill>
                  <a:schemeClr val="tx1"/>
                </a:solidFill>
                <a:latin typeface="+mn-lt"/>
                <a:ea typeface="+mn-ea"/>
                <a:cs typeface="+mn-cs"/>
              </a:defRPr>
            </a:lvl6pPr>
            <a:lvl7pPr marL="3229752" indent="-248442" algn="l" defTabSz="496885" rtl="0" eaLnBrk="1" latinLnBrk="0" hangingPunct="1">
              <a:spcBef>
                <a:spcPct val="20000"/>
              </a:spcBef>
              <a:buFont typeface="Arial"/>
              <a:buChar char="•"/>
              <a:defRPr sz="2200" kern="1200">
                <a:solidFill>
                  <a:schemeClr val="tx1"/>
                </a:solidFill>
                <a:latin typeface="+mn-lt"/>
                <a:ea typeface="+mn-ea"/>
                <a:cs typeface="+mn-cs"/>
              </a:defRPr>
            </a:lvl7pPr>
            <a:lvl8pPr marL="3726637" indent="-248442" algn="l" defTabSz="496885" rtl="0" eaLnBrk="1" latinLnBrk="0" hangingPunct="1">
              <a:spcBef>
                <a:spcPct val="20000"/>
              </a:spcBef>
              <a:buFont typeface="Arial"/>
              <a:buChar char="•"/>
              <a:defRPr sz="2200" kern="1200">
                <a:solidFill>
                  <a:schemeClr val="tx1"/>
                </a:solidFill>
                <a:latin typeface="+mn-lt"/>
                <a:ea typeface="+mn-ea"/>
                <a:cs typeface="+mn-cs"/>
              </a:defRPr>
            </a:lvl8pPr>
            <a:lvl9pPr marL="4223522" indent="-248442" algn="l" defTabSz="496885" rtl="0" eaLnBrk="1" latinLnBrk="0" hangingPunct="1">
              <a:spcBef>
                <a:spcPct val="20000"/>
              </a:spcBef>
              <a:buFont typeface="Arial"/>
              <a:buChar char="•"/>
              <a:defRPr sz="2200" kern="1200">
                <a:solidFill>
                  <a:schemeClr val="tx1"/>
                </a:solidFill>
                <a:latin typeface="+mn-lt"/>
                <a:ea typeface="+mn-ea"/>
                <a:cs typeface="+mn-cs"/>
              </a:defRPr>
            </a:lvl9pPr>
          </a:lstStyle>
          <a:p>
            <a:pPr marL="0" indent="0">
              <a:buNone/>
            </a:pPr>
            <a:r>
              <a:rPr lang="da-DK" sz="1200" dirty="0">
                <a:solidFill>
                  <a:schemeClr val="bg1"/>
                </a:solidFill>
              </a:rPr>
              <a:t>Uddannelsessted: </a:t>
            </a:r>
          </a:p>
          <a:p>
            <a:pPr marL="0" indent="0">
              <a:buNone/>
            </a:pPr>
            <a:r>
              <a:rPr lang="da-DK" sz="1200" dirty="0">
                <a:solidFill>
                  <a:schemeClr val="bg1"/>
                </a:solidFill>
              </a:rPr>
              <a:t>CPH Business Academy, Hillerød afdeling </a:t>
            </a:r>
          </a:p>
          <a:p>
            <a:pPr marL="0" indent="0">
              <a:buNone/>
            </a:pPr>
            <a:endParaRPr lang="da-DK" sz="1200" dirty="0">
              <a:solidFill>
                <a:schemeClr val="bg1"/>
              </a:solidFill>
            </a:endParaRPr>
          </a:p>
          <a:p>
            <a:pPr marL="0" indent="0">
              <a:buNone/>
            </a:pPr>
            <a:r>
              <a:rPr lang="da-DK" sz="1200" dirty="0">
                <a:solidFill>
                  <a:schemeClr val="bg1"/>
                </a:solidFill>
              </a:rPr>
              <a:t>Mål: 	</a:t>
            </a:r>
          </a:p>
          <a:p>
            <a:pPr marL="0" indent="0">
              <a:buNone/>
            </a:pPr>
            <a:r>
              <a:rPr lang="da-DK" sz="1200" dirty="0">
                <a:solidFill>
                  <a:schemeClr val="bg1"/>
                </a:solidFill>
              </a:rPr>
              <a:t>Opnå viden om kaution</a:t>
            </a:r>
          </a:p>
          <a:p>
            <a:pPr marL="0" indent="0">
              <a:buNone/>
            </a:pPr>
            <a:endParaRPr lang="da-DK" sz="1200" dirty="0">
              <a:solidFill>
                <a:schemeClr val="bg1"/>
              </a:solidFill>
            </a:endParaRPr>
          </a:p>
          <a:p>
            <a:pPr marL="0" indent="0">
              <a:buNone/>
            </a:pPr>
            <a:r>
              <a:rPr lang="da-DK" sz="1200" dirty="0">
                <a:solidFill>
                  <a:schemeClr val="bg1"/>
                </a:solidFill>
              </a:rPr>
              <a:t>Undervisningsdag: </a:t>
            </a:r>
          </a:p>
          <a:p>
            <a:pPr marL="0" indent="0">
              <a:buNone/>
            </a:pPr>
            <a:r>
              <a:rPr lang="da-DK" sz="1200" dirty="0">
                <a:solidFill>
                  <a:schemeClr val="bg1"/>
                </a:solidFill>
              </a:rPr>
              <a:t>2024</a:t>
            </a:r>
          </a:p>
          <a:p>
            <a:pPr marL="0" indent="0">
              <a:buNone/>
            </a:pPr>
            <a:endParaRPr lang="da-DK" sz="1200" dirty="0">
              <a:solidFill>
                <a:schemeClr val="bg1"/>
              </a:solidFill>
            </a:endParaRPr>
          </a:p>
          <a:p>
            <a:pPr marL="0" indent="0">
              <a:buNone/>
            </a:pPr>
            <a:r>
              <a:rPr lang="da-DK" sz="1200" dirty="0">
                <a:solidFill>
                  <a:schemeClr val="bg1"/>
                </a:solidFill>
              </a:rPr>
              <a:t>Underviser:</a:t>
            </a:r>
          </a:p>
          <a:p>
            <a:pPr marL="0" indent="0">
              <a:buNone/>
            </a:pPr>
            <a:r>
              <a:rPr lang="da-DK" sz="1200" dirty="0">
                <a:solidFill>
                  <a:schemeClr val="bg1"/>
                </a:solidFill>
              </a:rPr>
              <a:t>Søren Thestrup, lektor, cand.jur.</a:t>
            </a:r>
          </a:p>
        </p:txBody>
      </p:sp>
      <p:pic>
        <p:nvPicPr>
          <p:cNvPr id="6" name="Picture 5" descr="CPHbusinessNEG_RGB.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008" y="10855"/>
            <a:ext cx="2339996" cy="927977"/>
          </a:xfrm>
          <a:prstGeom prst="rect">
            <a:avLst/>
          </a:prstGeom>
        </p:spPr>
      </p:pic>
      <p:pic>
        <p:nvPicPr>
          <p:cNvPr id="3" name="Picture 2" descr="CPH_CBA_Payoff_NEG_CMYK.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904" y="1149719"/>
            <a:ext cx="7311326" cy="198320"/>
          </a:xfrm>
          <a:prstGeom prst="rect">
            <a:avLst/>
          </a:prstGeom>
        </p:spPr>
      </p:pic>
      <p:pic>
        <p:nvPicPr>
          <p:cNvPr id="7" name="Billede 6"/>
          <p:cNvPicPr>
            <a:picLocks noChangeAspect="1"/>
          </p:cNvPicPr>
          <p:nvPr/>
        </p:nvPicPr>
        <p:blipFill>
          <a:blip r:embed="rId4"/>
          <a:stretch>
            <a:fillRect/>
          </a:stretch>
        </p:blipFill>
        <p:spPr>
          <a:xfrm>
            <a:off x="818724" y="1722476"/>
            <a:ext cx="3783970" cy="1433322"/>
          </a:xfrm>
          <a:prstGeom prst="rect">
            <a:avLst/>
          </a:prstGeom>
        </p:spPr>
      </p:pic>
      <p:pic>
        <p:nvPicPr>
          <p:cNvPr id="9" name="Billede 8"/>
          <p:cNvPicPr>
            <a:picLocks noChangeAspect="1"/>
          </p:cNvPicPr>
          <p:nvPr/>
        </p:nvPicPr>
        <p:blipFill>
          <a:blip r:embed="rId5"/>
          <a:stretch>
            <a:fillRect/>
          </a:stretch>
        </p:blipFill>
        <p:spPr>
          <a:xfrm>
            <a:off x="4950983" y="1722476"/>
            <a:ext cx="1471131" cy="1433322"/>
          </a:xfrm>
          <a:prstGeom prst="rect">
            <a:avLst/>
          </a:prstGeom>
        </p:spPr>
      </p:pic>
      <p:pic>
        <p:nvPicPr>
          <p:cNvPr id="10" name="Billede 9"/>
          <p:cNvPicPr>
            <a:picLocks noChangeAspect="1"/>
          </p:cNvPicPr>
          <p:nvPr/>
        </p:nvPicPr>
        <p:blipFill>
          <a:blip r:embed="rId6"/>
          <a:stretch>
            <a:fillRect/>
          </a:stretch>
        </p:blipFill>
        <p:spPr>
          <a:xfrm>
            <a:off x="6743473" y="1722476"/>
            <a:ext cx="1707442" cy="1451702"/>
          </a:xfrm>
          <a:prstGeom prst="rect">
            <a:avLst/>
          </a:prstGeom>
        </p:spPr>
      </p:pic>
    </p:spTree>
    <p:extLst>
      <p:ext uri="{BB962C8B-B14F-4D97-AF65-F5344CB8AC3E}">
        <p14:creationId xmlns:p14="http://schemas.microsoft.com/office/powerpoint/2010/main" val="2572456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1</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2941040"/>
          </a:xfrm>
          <a:prstGeom prst="rect">
            <a:avLst/>
          </a:prstGeom>
        </p:spPr>
        <p:txBody>
          <a:bodyPr vert="horz" wrap="square" lIns="0" tIns="199877" rIns="0" bIns="0" rtlCol="0">
            <a:spAutoFit/>
          </a:bodyPr>
          <a:lstStyle/>
          <a:p>
            <a:pPr lvl="0"/>
            <a:r>
              <a:rPr lang="da-DK" sz="1800" dirty="0"/>
              <a:t>1) Er Pablos kaution stadig gældende?</a:t>
            </a:r>
          </a:p>
          <a:p>
            <a:pPr lvl="0"/>
            <a:endParaRPr lang="da-DK" sz="1800" dirty="0"/>
          </a:p>
          <a:p>
            <a:pPr lvl="0"/>
            <a:r>
              <a:rPr lang="da-DK" sz="1800" dirty="0"/>
              <a:t>2) Hvis vi – uanset svaret på spørgsmål 1 – lægger til grund, at kautionen stadig er gældende, hvornår kan sparekassen så kræve pengene af Pablo?</a:t>
            </a:r>
          </a:p>
          <a:p>
            <a:pPr lvl="0"/>
            <a:endParaRPr lang="da-DK" sz="1800" dirty="0"/>
          </a:p>
          <a:p>
            <a:pPr lvl="0"/>
            <a:r>
              <a:rPr lang="da-DK" sz="1800" dirty="0"/>
              <a:t>3) Kan Pablo kontakte banken og kræve at blive frigjort for sin kautionsforpligtelse?</a:t>
            </a:r>
          </a:p>
          <a:p>
            <a:pPr lvl="0"/>
            <a:endParaRPr lang="da-DK" sz="1800" dirty="0"/>
          </a:p>
          <a:p>
            <a:pPr lvl="0"/>
            <a:r>
              <a:rPr lang="da-DK" sz="1800" dirty="0"/>
              <a:t>4) Hvis Michael får dårlig samvittighed og gerne vil overtage Pablos forpligtelser, kan de to så i fællesskab kræve, at banken overfører kautionsforpligtelsen til Michael?</a:t>
            </a:r>
          </a:p>
          <a:p>
            <a:r>
              <a:rPr lang="da-DK" sz="1600" dirty="0"/>
              <a:t> </a:t>
            </a:r>
            <a:endParaRPr lang="da-DK" sz="1800" i="1" dirty="0"/>
          </a:p>
        </p:txBody>
      </p:sp>
      <p:sp>
        <p:nvSpPr>
          <p:cNvPr id="16" name="object 16"/>
          <p:cNvSpPr txBox="1"/>
          <p:nvPr/>
        </p:nvSpPr>
        <p:spPr>
          <a:xfrm>
            <a:off x="8294635" y="4815450"/>
            <a:ext cx="499369" cy="309842"/>
          </a:xfrm>
          <a:prstGeom prst="rect">
            <a:avLst/>
          </a:prstGeom>
        </p:spPr>
        <p:txBody>
          <a:bodyPr vert="horz" wrap="square" lIns="0" tIns="16171" rIns="0" bIns="0" rtlCol="0">
            <a:spAutoFit/>
          </a:bodyPr>
          <a:lstStyle/>
          <a:p>
            <a:pPr marL="12937">
              <a:spcBef>
                <a:spcPts val="127"/>
              </a:spcBef>
            </a:pPr>
            <a:r>
              <a:rPr sz="1834" i="1" spc="10" dirty="0">
                <a:solidFill>
                  <a:srgbClr val="FFFFFF"/>
                </a:solidFill>
                <a:latin typeface="Arial"/>
                <a:cs typeface="Arial"/>
              </a:rPr>
              <a:t>25</a:t>
            </a:r>
            <a:r>
              <a:rPr sz="1834" i="1" spc="20" dirty="0">
                <a:solidFill>
                  <a:srgbClr val="FFFFFF"/>
                </a:solidFill>
                <a:latin typeface="Arial"/>
                <a:cs typeface="Arial"/>
              </a:rPr>
              <a:t>%</a:t>
            </a:r>
            <a:endParaRPr sz="1834">
              <a:latin typeface="Arial"/>
              <a:cs typeface="Arial"/>
            </a:endParaRPr>
          </a:p>
        </p:txBody>
      </p:sp>
      <p:sp>
        <p:nvSpPr>
          <p:cNvPr id="3" name="Pladsholder til slidenummer 2"/>
          <p:cNvSpPr>
            <a:spLocks noGrp="1"/>
          </p:cNvSpPr>
          <p:nvPr>
            <p:ph type="sldNum" sz="quarter" idx="7"/>
          </p:nvPr>
        </p:nvSpPr>
        <p:spPr/>
        <p:txBody>
          <a:bodyPr/>
          <a:lstStyle/>
          <a:p>
            <a:fld id="{B6F15528-21DE-4FAA-801E-634DDDAF4B2B}" type="slidenum">
              <a:rPr lang="da-DK" smtClean="0"/>
              <a:t>2</a:t>
            </a:fld>
            <a:endParaRPr lang="da-DK"/>
          </a:p>
        </p:txBody>
      </p:sp>
    </p:spTree>
    <p:extLst>
      <p:ext uri="{BB962C8B-B14F-4D97-AF65-F5344CB8AC3E}">
        <p14:creationId xmlns:p14="http://schemas.microsoft.com/office/powerpoint/2010/main" val="1169070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1</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5187809"/>
          </a:xfrm>
          <a:prstGeom prst="rect">
            <a:avLst/>
          </a:prstGeom>
        </p:spPr>
        <p:txBody>
          <a:bodyPr vert="horz" wrap="square" lIns="0" tIns="199877" rIns="0" bIns="0" rtlCol="0">
            <a:spAutoFit/>
          </a:bodyPr>
          <a:lstStyle/>
          <a:p>
            <a:r>
              <a:rPr lang="da-DK" sz="1800" i="1" dirty="0">
                <a:solidFill>
                  <a:srgbClr val="FF0000"/>
                </a:solidFill>
              </a:rPr>
              <a:t>Vejledende svar:</a:t>
            </a:r>
          </a:p>
          <a:p>
            <a:pPr lvl="0"/>
            <a:endParaRPr lang="da-DK" sz="1800" i="1" dirty="0">
              <a:solidFill>
                <a:srgbClr val="FF0000"/>
              </a:solidFill>
            </a:endParaRPr>
          </a:p>
          <a:p>
            <a:pPr lvl="0"/>
            <a:r>
              <a:rPr lang="da-DK" sz="1800" i="1" dirty="0">
                <a:solidFill>
                  <a:srgbClr val="FF0000"/>
                </a:solidFill>
              </a:rPr>
              <a:t>Ad 1) </a:t>
            </a:r>
          </a:p>
          <a:p>
            <a:pPr lvl="0"/>
            <a:r>
              <a:rPr lang="da-DK" sz="1800" i="1" dirty="0">
                <a:solidFill>
                  <a:srgbClr val="FF0000"/>
                </a:solidFill>
              </a:rPr>
              <a:t>Kautionen er stadig gældende, og Pablo er stadig forpligtet over for sparekassen. Det, at han ikke længere er kæreste med Terese, er ikke tilstrækkeligt til, at kautionen kan bortfalde.</a:t>
            </a:r>
            <a:endParaRPr lang="da-DK" sz="1800" dirty="0">
              <a:solidFill>
                <a:srgbClr val="FF0000"/>
              </a:solidFill>
            </a:endParaRPr>
          </a:p>
          <a:p>
            <a:pPr lvl="0"/>
            <a:endParaRPr lang="da-DK" sz="1800" i="1" dirty="0">
              <a:solidFill>
                <a:srgbClr val="FF0000"/>
              </a:solidFill>
            </a:endParaRPr>
          </a:p>
          <a:p>
            <a:pPr lvl="0"/>
            <a:r>
              <a:rPr lang="da-DK" sz="1800" i="1" dirty="0">
                <a:solidFill>
                  <a:srgbClr val="FF0000"/>
                </a:solidFill>
              </a:rPr>
              <a:t>Ad 2) </a:t>
            </a:r>
          </a:p>
          <a:p>
            <a:pPr lvl="0"/>
            <a:r>
              <a:rPr lang="da-DK" sz="1800" i="1" dirty="0">
                <a:solidFill>
                  <a:srgbClr val="FF0000"/>
                </a:solidFill>
              </a:rPr>
              <a:t>Der er tale om en selvskyldnerkaution, og forpligtelsen indtræder derfor, så snart Terese misligholder sin betalingsforpligtelse.</a:t>
            </a:r>
            <a:endParaRPr lang="da-DK" sz="1800" dirty="0">
              <a:solidFill>
                <a:srgbClr val="FF0000"/>
              </a:solidFill>
            </a:endParaRPr>
          </a:p>
          <a:p>
            <a:pPr lvl="0"/>
            <a:endParaRPr lang="da-DK" sz="1800" i="1" dirty="0">
              <a:solidFill>
                <a:srgbClr val="FF0000"/>
              </a:solidFill>
            </a:endParaRPr>
          </a:p>
          <a:p>
            <a:pPr lvl="0"/>
            <a:r>
              <a:rPr lang="da-DK" sz="1800" i="1" dirty="0">
                <a:solidFill>
                  <a:srgbClr val="FF0000"/>
                </a:solidFill>
              </a:rPr>
              <a:t>Ad 3) </a:t>
            </a:r>
          </a:p>
          <a:p>
            <a:pPr lvl="0"/>
            <a:r>
              <a:rPr lang="da-DK" sz="1800" i="1" dirty="0">
                <a:solidFill>
                  <a:srgbClr val="FF0000"/>
                </a:solidFill>
              </a:rPr>
              <a:t>Næppe, da det ville kræve, at kautionsaftalen indeholder en bestemmelse om, at Pablo kan opsige sin forpligtelse, hvilket vil være usædvanligt. </a:t>
            </a:r>
          </a:p>
          <a:p>
            <a:pPr lvl="0"/>
            <a:endParaRPr lang="da-DK" sz="1800" i="1" dirty="0">
              <a:solidFill>
                <a:srgbClr val="FF0000"/>
              </a:solidFill>
            </a:endParaRPr>
          </a:p>
          <a:p>
            <a:pPr lvl="0"/>
            <a:r>
              <a:rPr lang="da-DK" sz="1800" i="1" dirty="0">
                <a:solidFill>
                  <a:srgbClr val="FF0000"/>
                </a:solidFill>
              </a:rPr>
              <a:t>Ad 4) </a:t>
            </a:r>
          </a:p>
          <a:p>
            <a:pPr lvl="0"/>
            <a:r>
              <a:rPr lang="da-DK" sz="1800" i="1" dirty="0">
                <a:solidFill>
                  <a:srgbClr val="FF0000"/>
                </a:solidFill>
              </a:rPr>
              <a:t>Det klare udgangspunkt er, at kautionisten ikke har sådan en ret.</a:t>
            </a:r>
            <a:r>
              <a:rPr lang="da-DK" sz="1800" dirty="0">
                <a:solidFill>
                  <a:srgbClr val="FF0000"/>
                </a:solidFill>
              </a:rPr>
              <a:t> </a:t>
            </a:r>
            <a:r>
              <a:rPr lang="da-DK" sz="1800" i="1" dirty="0">
                <a:solidFill>
                  <a:srgbClr val="FF0000"/>
                </a:solidFill>
              </a:rPr>
              <a:t>Sparekassen er ikke forpligtet til at acceptere, at en anden kautionist overtager forpligtelsen.</a:t>
            </a:r>
            <a:endParaRPr lang="da-DK" sz="1800" dirty="0">
              <a:solidFill>
                <a:srgbClr val="FF0000"/>
              </a:solidFill>
            </a:endParaRPr>
          </a:p>
          <a:p>
            <a:pPr lvl="0"/>
            <a:endParaRPr lang="da-DK" sz="1800" i="1" dirty="0"/>
          </a:p>
        </p:txBody>
      </p:sp>
      <p:sp>
        <p:nvSpPr>
          <p:cNvPr id="16" name="object 16"/>
          <p:cNvSpPr txBox="1"/>
          <p:nvPr/>
        </p:nvSpPr>
        <p:spPr>
          <a:xfrm>
            <a:off x="8294635" y="4815450"/>
            <a:ext cx="499369" cy="309842"/>
          </a:xfrm>
          <a:prstGeom prst="rect">
            <a:avLst/>
          </a:prstGeom>
        </p:spPr>
        <p:txBody>
          <a:bodyPr vert="horz" wrap="square" lIns="0" tIns="16171" rIns="0" bIns="0" rtlCol="0">
            <a:spAutoFit/>
          </a:bodyPr>
          <a:lstStyle/>
          <a:p>
            <a:pPr marL="12937">
              <a:spcBef>
                <a:spcPts val="127"/>
              </a:spcBef>
            </a:pPr>
            <a:r>
              <a:rPr sz="1834" i="1" spc="10" dirty="0">
                <a:solidFill>
                  <a:srgbClr val="FFFFFF"/>
                </a:solidFill>
                <a:latin typeface="Arial"/>
                <a:cs typeface="Arial"/>
              </a:rPr>
              <a:t>25</a:t>
            </a:r>
            <a:r>
              <a:rPr sz="1834" i="1" spc="20" dirty="0">
                <a:solidFill>
                  <a:srgbClr val="FFFFFF"/>
                </a:solidFill>
                <a:latin typeface="Arial"/>
                <a:cs typeface="Arial"/>
              </a:rPr>
              <a:t>%</a:t>
            </a:r>
            <a:endParaRPr sz="1834">
              <a:latin typeface="Arial"/>
              <a:cs typeface="Arial"/>
            </a:endParaRPr>
          </a:p>
        </p:txBody>
      </p:sp>
      <p:sp>
        <p:nvSpPr>
          <p:cNvPr id="3" name="Pladsholder til slidenummer 2"/>
          <p:cNvSpPr>
            <a:spLocks noGrp="1"/>
          </p:cNvSpPr>
          <p:nvPr>
            <p:ph type="sldNum" sz="quarter" idx="7"/>
          </p:nvPr>
        </p:nvSpPr>
        <p:spPr/>
        <p:txBody>
          <a:bodyPr/>
          <a:lstStyle/>
          <a:p>
            <a:fld id="{B6F15528-21DE-4FAA-801E-634DDDAF4B2B}" type="slidenum">
              <a:rPr lang="da-DK" smtClean="0"/>
              <a:t>3</a:t>
            </a:fld>
            <a:endParaRPr lang="da-DK"/>
          </a:p>
        </p:txBody>
      </p:sp>
    </p:spTree>
    <p:extLst>
      <p:ext uri="{BB962C8B-B14F-4D97-AF65-F5344CB8AC3E}">
        <p14:creationId xmlns:p14="http://schemas.microsoft.com/office/powerpoint/2010/main" val="1665431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2</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5464808"/>
          </a:xfrm>
          <a:prstGeom prst="rect">
            <a:avLst/>
          </a:prstGeom>
        </p:spPr>
        <p:txBody>
          <a:bodyPr vert="horz" wrap="square" lIns="0" tIns="199877" rIns="0" bIns="0" rtlCol="0">
            <a:spAutoFit/>
          </a:bodyPr>
          <a:lstStyle/>
          <a:p>
            <a:pPr lvl="0"/>
            <a:r>
              <a:rPr lang="da-DK" sz="1800" dirty="0"/>
              <a:t>1) Hvilken type af kaution er der tale om, hvis du blot skriver, at ”[navn på kautionist] kautionerer hermed for Haralds gæld til Spar Aggersborg”?</a:t>
            </a:r>
          </a:p>
          <a:p>
            <a:pPr lvl="0"/>
            <a:endParaRPr lang="da-DK" sz="1800" dirty="0"/>
          </a:p>
          <a:p>
            <a:pPr lvl="0"/>
            <a:r>
              <a:rPr lang="da-DK" sz="1800" dirty="0"/>
              <a:t>2) Hvilken type kaution skal du få kautionisterne til at underskrive, hvis du skal sikre banken bedst muligt?</a:t>
            </a:r>
          </a:p>
          <a:p>
            <a:pPr lvl="0"/>
            <a:endParaRPr lang="da-DK" sz="1800" dirty="0"/>
          </a:p>
          <a:p>
            <a:pPr lvl="0"/>
            <a:r>
              <a:rPr lang="da-DK" sz="1800" dirty="0"/>
              <a:t>3) Da du får talt med Thyra, gør hun det klart, at hun kun er interesseret i at kautionere som efterkautionist for Gorm. Hvad betyder det?</a:t>
            </a:r>
          </a:p>
          <a:p>
            <a:pPr lvl="0"/>
            <a:br>
              <a:rPr lang="da-DK" sz="1800" dirty="0"/>
            </a:br>
            <a:r>
              <a:rPr lang="da-DK" sz="1800" dirty="0"/>
              <a:t>4) Thyra forklarer desuden, at hun over for Harald har stillet som betingelse, at Olav – en af Haralds bekendte – kontrakautionerer for hende, hvilket Olav har accepteret. Du er ved at være godt træt af Thyra, men beslutter dig alligevel for at kigge nærmere på det. Hvad betyder det, at Olav kontrakautionerer for Thyra?</a:t>
            </a:r>
          </a:p>
          <a:p>
            <a:pPr lvl="0"/>
            <a:endParaRPr lang="da-DK" sz="1800" dirty="0"/>
          </a:p>
          <a:p>
            <a:pPr lvl="0"/>
            <a:r>
              <a:rPr lang="da-DK" sz="1800" dirty="0"/>
              <a:t>5) Hvilke oplysninger skal du sørge for at kautionisterne får, inden de kautionerer?</a:t>
            </a:r>
          </a:p>
          <a:p>
            <a:pPr lvl="0"/>
            <a:endParaRPr lang="da-DK" sz="1800" dirty="0"/>
          </a:p>
          <a:p>
            <a:pPr lvl="0"/>
            <a:r>
              <a:rPr lang="da-DK" sz="1800" dirty="0"/>
              <a:t>6) Når man lægger de beløb sammen, kautionisterne har lovet at kautionere for, er summen højere end lånebeløbet. Hvorfor er det en god ide for banken?</a:t>
            </a:r>
          </a:p>
          <a:p>
            <a:r>
              <a:rPr lang="da-DK" sz="1800" dirty="0"/>
              <a:t> </a:t>
            </a:r>
            <a:endParaRPr lang="da-DK" sz="1800" i="1" dirty="0"/>
          </a:p>
        </p:txBody>
      </p:sp>
      <p:sp>
        <p:nvSpPr>
          <p:cNvPr id="16" name="object 16"/>
          <p:cNvSpPr txBox="1"/>
          <p:nvPr/>
        </p:nvSpPr>
        <p:spPr>
          <a:xfrm>
            <a:off x="8294635" y="4815450"/>
            <a:ext cx="499369" cy="309842"/>
          </a:xfrm>
          <a:prstGeom prst="rect">
            <a:avLst/>
          </a:prstGeom>
        </p:spPr>
        <p:txBody>
          <a:bodyPr vert="horz" wrap="square" lIns="0" tIns="16171" rIns="0" bIns="0" rtlCol="0">
            <a:spAutoFit/>
          </a:bodyPr>
          <a:lstStyle/>
          <a:p>
            <a:pPr marL="12937">
              <a:spcBef>
                <a:spcPts val="127"/>
              </a:spcBef>
            </a:pPr>
            <a:r>
              <a:rPr sz="1834" i="1" spc="10" dirty="0">
                <a:solidFill>
                  <a:srgbClr val="FFFFFF"/>
                </a:solidFill>
                <a:latin typeface="Arial"/>
                <a:cs typeface="Arial"/>
              </a:rPr>
              <a:t>25</a:t>
            </a:r>
            <a:r>
              <a:rPr sz="1834" i="1" spc="20" dirty="0">
                <a:solidFill>
                  <a:srgbClr val="FFFFFF"/>
                </a:solidFill>
                <a:latin typeface="Arial"/>
                <a:cs typeface="Arial"/>
              </a:rPr>
              <a:t>%</a:t>
            </a:r>
            <a:endParaRPr sz="1834">
              <a:latin typeface="Arial"/>
              <a:cs typeface="Arial"/>
            </a:endParaRPr>
          </a:p>
        </p:txBody>
      </p:sp>
      <p:sp>
        <p:nvSpPr>
          <p:cNvPr id="3" name="Pladsholder til slidenummer 2"/>
          <p:cNvSpPr>
            <a:spLocks noGrp="1"/>
          </p:cNvSpPr>
          <p:nvPr>
            <p:ph type="sldNum" sz="quarter" idx="7"/>
          </p:nvPr>
        </p:nvSpPr>
        <p:spPr/>
        <p:txBody>
          <a:bodyPr/>
          <a:lstStyle/>
          <a:p>
            <a:fld id="{B6F15528-21DE-4FAA-801E-634DDDAF4B2B}" type="slidenum">
              <a:rPr lang="da-DK" smtClean="0"/>
              <a:t>4</a:t>
            </a:fld>
            <a:endParaRPr lang="da-DK"/>
          </a:p>
        </p:txBody>
      </p:sp>
    </p:spTree>
    <p:extLst>
      <p:ext uri="{BB962C8B-B14F-4D97-AF65-F5344CB8AC3E}">
        <p14:creationId xmlns:p14="http://schemas.microsoft.com/office/powerpoint/2010/main" val="2475841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2</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5741807"/>
          </a:xfrm>
          <a:prstGeom prst="rect">
            <a:avLst/>
          </a:prstGeom>
        </p:spPr>
        <p:txBody>
          <a:bodyPr vert="horz" wrap="square" lIns="0" tIns="199877" rIns="0" bIns="0" rtlCol="0">
            <a:spAutoFit/>
          </a:bodyPr>
          <a:lstStyle/>
          <a:p>
            <a:r>
              <a:rPr lang="da-DK" sz="1800" i="1" dirty="0">
                <a:solidFill>
                  <a:srgbClr val="FF0000"/>
                </a:solidFill>
              </a:rPr>
              <a:t>Vejledende svar:</a:t>
            </a:r>
          </a:p>
          <a:p>
            <a:pPr lvl="0"/>
            <a:endParaRPr lang="da-DK" sz="1800" i="1" dirty="0">
              <a:solidFill>
                <a:srgbClr val="FF0000"/>
              </a:solidFill>
            </a:endParaRPr>
          </a:p>
          <a:p>
            <a:pPr lvl="0"/>
            <a:r>
              <a:rPr lang="da-DK" sz="1800" i="1" dirty="0">
                <a:solidFill>
                  <a:srgbClr val="FF0000"/>
                </a:solidFill>
              </a:rPr>
              <a:t>Ad 1) Når ikke andet er udtrykkeligt aftalt, er der tale om simpel kaution.</a:t>
            </a:r>
            <a:r>
              <a:rPr lang="da-DK" sz="1800" dirty="0">
                <a:solidFill>
                  <a:srgbClr val="FF0000"/>
                </a:solidFill>
              </a:rPr>
              <a:t> </a:t>
            </a:r>
          </a:p>
          <a:p>
            <a:pPr lvl="0"/>
            <a:endParaRPr lang="da-DK" sz="1800" i="1" dirty="0">
              <a:solidFill>
                <a:srgbClr val="FF0000"/>
              </a:solidFill>
            </a:endParaRPr>
          </a:p>
          <a:p>
            <a:pPr lvl="0"/>
            <a:r>
              <a:rPr lang="da-DK" sz="1800" i="1" dirty="0">
                <a:solidFill>
                  <a:srgbClr val="FF0000"/>
                </a:solidFill>
              </a:rPr>
              <a:t>Ad 2) Hvis banken skal sikres bedst muligt, skal der laves en selvskyldnerkaution</a:t>
            </a:r>
            <a:endParaRPr lang="da-DK" sz="1800" dirty="0">
              <a:solidFill>
                <a:srgbClr val="FF0000"/>
              </a:solidFill>
            </a:endParaRPr>
          </a:p>
          <a:p>
            <a:pPr lvl="0"/>
            <a:endParaRPr lang="da-DK" sz="1800" i="1" dirty="0">
              <a:solidFill>
                <a:srgbClr val="FF0000"/>
              </a:solidFill>
            </a:endParaRPr>
          </a:p>
          <a:p>
            <a:pPr lvl="0"/>
            <a:r>
              <a:rPr lang="da-DK" sz="1800" i="1" dirty="0">
                <a:solidFill>
                  <a:srgbClr val="FF0000"/>
                </a:solidFill>
              </a:rPr>
              <a:t>Ad 3) Hvis Thyra kautionerer som efterkautionist, bliver hendes kautionsforpligtelse først aktuel, når det viser sig, at Gorm ikke kan betale i henhold til sin kautionsforpligtelse.</a:t>
            </a:r>
            <a:endParaRPr lang="da-DK" sz="1800" dirty="0">
              <a:solidFill>
                <a:srgbClr val="FF0000"/>
              </a:solidFill>
            </a:endParaRPr>
          </a:p>
          <a:p>
            <a:pPr lvl="0"/>
            <a:endParaRPr lang="da-DK" sz="1800" i="1" dirty="0">
              <a:solidFill>
                <a:srgbClr val="FF0000"/>
              </a:solidFill>
            </a:endParaRPr>
          </a:p>
          <a:p>
            <a:pPr lvl="0"/>
            <a:r>
              <a:rPr lang="da-DK" sz="1800" i="1" dirty="0">
                <a:solidFill>
                  <a:srgbClr val="FF0000"/>
                </a:solidFill>
              </a:rPr>
              <a:t>Ad 4) Kontrakautionen betyder, at Thyra vil have mulighed for at afkræve Olav de penge, hun har betalt som kautionist. Hun har selvfølgelig stadig sit regreskrav mod Gorm (og Harald), hun også kan gøre gældende.</a:t>
            </a:r>
            <a:endParaRPr lang="da-DK" sz="1800" dirty="0">
              <a:solidFill>
                <a:srgbClr val="FF0000"/>
              </a:solidFill>
            </a:endParaRPr>
          </a:p>
          <a:p>
            <a:pPr lvl="0"/>
            <a:endParaRPr lang="da-DK" sz="1800" i="1" dirty="0">
              <a:solidFill>
                <a:srgbClr val="FF0000"/>
              </a:solidFill>
            </a:endParaRPr>
          </a:p>
          <a:p>
            <a:pPr lvl="0"/>
            <a:r>
              <a:rPr lang="da-DK" sz="1800" i="1" dirty="0">
                <a:solidFill>
                  <a:srgbClr val="FF0000"/>
                </a:solidFill>
              </a:rPr>
              <a:t>Ad 5) Der er i alle de i opgaven nævnte tilfælde tale om privatkaution, hvilket påfører banken en række forpligtelser både i forbindelse med indgåelsen af kautionsaftalen og løbende under kautionsforholdets bestået, jf. lov om finansiel virksomhed § 48.</a:t>
            </a:r>
          </a:p>
          <a:p>
            <a:pPr lvl="0"/>
            <a:endParaRPr lang="da-DK" sz="1800" i="1" dirty="0">
              <a:solidFill>
                <a:srgbClr val="FF0000"/>
              </a:solidFill>
            </a:endParaRPr>
          </a:p>
          <a:p>
            <a:r>
              <a:rPr lang="da-DK" sz="1800" i="1" dirty="0">
                <a:solidFill>
                  <a:srgbClr val="FF0000"/>
                </a:solidFill>
              </a:rPr>
              <a:t>Ad 6) Hvis det viser sig at en af kautionisterne ikke kan betale, hvad de skal, når deres kautionsforpligtelse bliver aktuel, er banken bedre sikret med ”for meget” sikkerhed.</a:t>
            </a:r>
            <a:endParaRPr lang="da-DK" sz="1800" dirty="0">
              <a:solidFill>
                <a:srgbClr val="FF0000"/>
              </a:solidFill>
            </a:endParaRPr>
          </a:p>
          <a:p>
            <a:pPr lvl="0"/>
            <a:endParaRPr lang="da-DK" sz="1800" dirty="0">
              <a:solidFill>
                <a:srgbClr val="FF0000"/>
              </a:solidFill>
            </a:endParaRPr>
          </a:p>
        </p:txBody>
      </p:sp>
      <p:sp>
        <p:nvSpPr>
          <p:cNvPr id="3" name="Pladsholder til slidenummer 2"/>
          <p:cNvSpPr>
            <a:spLocks noGrp="1"/>
          </p:cNvSpPr>
          <p:nvPr>
            <p:ph type="sldNum" sz="quarter" idx="7"/>
          </p:nvPr>
        </p:nvSpPr>
        <p:spPr/>
        <p:txBody>
          <a:bodyPr/>
          <a:lstStyle/>
          <a:p>
            <a:fld id="{B6F15528-21DE-4FAA-801E-634DDDAF4B2B}" type="slidenum">
              <a:rPr lang="da-DK" smtClean="0"/>
              <a:t>5</a:t>
            </a:fld>
            <a:endParaRPr lang="da-DK"/>
          </a:p>
        </p:txBody>
      </p:sp>
    </p:spTree>
    <p:extLst>
      <p:ext uri="{BB962C8B-B14F-4D97-AF65-F5344CB8AC3E}">
        <p14:creationId xmlns:p14="http://schemas.microsoft.com/office/powerpoint/2010/main" val="3304763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3</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3525816"/>
          </a:xfrm>
          <a:prstGeom prst="rect">
            <a:avLst/>
          </a:prstGeom>
        </p:spPr>
        <p:txBody>
          <a:bodyPr vert="horz" wrap="square" lIns="0" tIns="199877" rIns="0" bIns="0" rtlCol="0">
            <a:spAutoFit/>
          </a:bodyPr>
          <a:lstStyle/>
          <a:p>
            <a:pPr lvl="0"/>
            <a:r>
              <a:rPr lang="da-DK" sz="1800" dirty="0"/>
              <a:t>1. Hvis du går ud fra, at alle kautionisterne kan betale, hvordan skal tabet så fordeles mellem dem? (Husk at Thyra ”kun” var efterkautionist, og at Olav var kontrakautionist for Thyra).</a:t>
            </a:r>
          </a:p>
          <a:p>
            <a:pPr lvl="0"/>
            <a:endParaRPr lang="da-DK" sz="1800" dirty="0"/>
          </a:p>
          <a:p>
            <a:pPr lvl="0"/>
            <a:r>
              <a:rPr lang="da-DK" sz="1800" dirty="0"/>
              <a:t>2. Hvis det viser sig, at Gunhild er udrejst permanent af landet, uden at nogen ved, hvor hun opholder sig, hvordan skal tabet så fordeles mellem de øvrige kautionister?</a:t>
            </a:r>
          </a:p>
          <a:p>
            <a:pPr lvl="0"/>
            <a:endParaRPr lang="da-DK" sz="1800" dirty="0"/>
          </a:p>
          <a:p>
            <a:pPr lvl="0"/>
            <a:r>
              <a:rPr lang="da-DK" sz="1800" dirty="0"/>
              <a:t>3. Hvis det viser sig, at Gorm ikke kan betale, hvordan skal tabet så fordeles mellem kautionisterne?</a:t>
            </a:r>
          </a:p>
          <a:p>
            <a:pPr lvl="0"/>
            <a:endParaRPr lang="da-DK" sz="1800" dirty="0"/>
          </a:p>
          <a:p>
            <a:pPr lvl="0"/>
            <a:r>
              <a:rPr lang="da-DK" sz="1800" dirty="0"/>
              <a:t>4. Tove fortæller, at hun, da hun underskrev kautionserklæringen, var kærester med Harald. Det er hun ikke længere, og derfor mener hun ikke, hun skal betale noget som helst. Kan banken stadig holde fast i, at Tove skal betale?</a:t>
            </a:r>
          </a:p>
        </p:txBody>
      </p:sp>
      <p:sp>
        <p:nvSpPr>
          <p:cNvPr id="16" name="object 16"/>
          <p:cNvSpPr txBox="1"/>
          <p:nvPr/>
        </p:nvSpPr>
        <p:spPr>
          <a:xfrm>
            <a:off x="8294635" y="4815450"/>
            <a:ext cx="499369" cy="309842"/>
          </a:xfrm>
          <a:prstGeom prst="rect">
            <a:avLst/>
          </a:prstGeom>
        </p:spPr>
        <p:txBody>
          <a:bodyPr vert="horz" wrap="square" lIns="0" tIns="16171" rIns="0" bIns="0" rtlCol="0">
            <a:spAutoFit/>
          </a:bodyPr>
          <a:lstStyle/>
          <a:p>
            <a:pPr marL="12937">
              <a:spcBef>
                <a:spcPts val="127"/>
              </a:spcBef>
            </a:pPr>
            <a:r>
              <a:rPr sz="1834" i="1" spc="10" dirty="0">
                <a:solidFill>
                  <a:srgbClr val="FFFFFF"/>
                </a:solidFill>
                <a:latin typeface="Arial"/>
                <a:cs typeface="Arial"/>
              </a:rPr>
              <a:t>25</a:t>
            </a:r>
            <a:r>
              <a:rPr sz="1834" i="1" spc="20" dirty="0">
                <a:solidFill>
                  <a:srgbClr val="FFFFFF"/>
                </a:solidFill>
                <a:latin typeface="Arial"/>
                <a:cs typeface="Arial"/>
              </a:rPr>
              <a:t>%</a:t>
            </a:r>
            <a:endParaRPr sz="1834">
              <a:latin typeface="Arial"/>
              <a:cs typeface="Arial"/>
            </a:endParaRPr>
          </a:p>
        </p:txBody>
      </p:sp>
      <p:sp>
        <p:nvSpPr>
          <p:cNvPr id="3" name="Pladsholder til slidenummer 2"/>
          <p:cNvSpPr>
            <a:spLocks noGrp="1"/>
          </p:cNvSpPr>
          <p:nvPr>
            <p:ph type="sldNum" sz="quarter" idx="7"/>
          </p:nvPr>
        </p:nvSpPr>
        <p:spPr/>
        <p:txBody>
          <a:bodyPr/>
          <a:lstStyle/>
          <a:p>
            <a:fld id="{B6F15528-21DE-4FAA-801E-634DDDAF4B2B}" type="slidenum">
              <a:rPr lang="da-DK" smtClean="0"/>
              <a:t>6</a:t>
            </a:fld>
            <a:endParaRPr lang="da-DK"/>
          </a:p>
        </p:txBody>
      </p:sp>
    </p:spTree>
    <p:extLst>
      <p:ext uri="{BB962C8B-B14F-4D97-AF65-F5344CB8AC3E}">
        <p14:creationId xmlns:p14="http://schemas.microsoft.com/office/powerpoint/2010/main" val="3077936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3</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5464808"/>
          </a:xfrm>
          <a:prstGeom prst="rect">
            <a:avLst/>
          </a:prstGeom>
        </p:spPr>
        <p:txBody>
          <a:bodyPr vert="horz" wrap="square" lIns="0" tIns="199877" rIns="0" bIns="0" rtlCol="0">
            <a:spAutoFit/>
          </a:bodyPr>
          <a:lstStyle/>
          <a:p>
            <a:r>
              <a:rPr lang="da-DK" sz="1800" i="1" dirty="0">
                <a:solidFill>
                  <a:srgbClr val="FF0000"/>
                </a:solidFill>
              </a:rPr>
              <a:t>Vejledende svar:</a:t>
            </a:r>
          </a:p>
          <a:p>
            <a:pPr lvl="0"/>
            <a:endParaRPr lang="da-DK" sz="1800" i="1" dirty="0">
              <a:solidFill>
                <a:srgbClr val="FF0000"/>
              </a:solidFill>
            </a:endParaRPr>
          </a:p>
          <a:p>
            <a:pPr lvl="0"/>
            <a:r>
              <a:rPr lang="da-DK" sz="1800" i="1" dirty="0">
                <a:solidFill>
                  <a:srgbClr val="FF0000"/>
                </a:solidFill>
              </a:rPr>
              <a:t>Ad 1)  Gælden er på 400.000 kr. og der er følgende kautioner:</a:t>
            </a:r>
            <a:endParaRPr lang="da-DK" sz="1800" dirty="0">
              <a:solidFill>
                <a:srgbClr val="FF0000"/>
              </a:solidFill>
            </a:endParaRPr>
          </a:p>
          <a:p>
            <a:r>
              <a:rPr lang="da-DK" sz="1800" i="1" dirty="0">
                <a:solidFill>
                  <a:srgbClr val="FF0000"/>
                </a:solidFill>
              </a:rPr>
              <a:t> </a:t>
            </a:r>
          </a:p>
          <a:p>
            <a:pPr marL="342900" indent="-342900">
              <a:buFont typeface="Arial" panose="020B0604020202020204" pitchFamily="34" charset="0"/>
              <a:buChar char="•"/>
            </a:pPr>
            <a:r>
              <a:rPr lang="da-DK" sz="1800" i="1" dirty="0">
                <a:solidFill>
                  <a:srgbClr val="FF0000"/>
                </a:solidFill>
              </a:rPr>
              <a:t>Gorm (Haralds far) – 200.000 kr. (med Thyra som efterkautionist og Olav som kontrakautionist for Thyra)</a:t>
            </a:r>
          </a:p>
          <a:p>
            <a:pPr marL="342900" indent="-342900">
              <a:buFont typeface="Arial" panose="020B0604020202020204" pitchFamily="34" charset="0"/>
              <a:buChar char="•"/>
            </a:pPr>
            <a:r>
              <a:rPr lang="da-DK" sz="1800" i="1" dirty="0">
                <a:solidFill>
                  <a:srgbClr val="FF0000"/>
                </a:solidFill>
              </a:rPr>
              <a:t>Saxo – 150.000 kr.</a:t>
            </a:r>
            <a:endParaRPr lang="da-DK" sz="1800" dirty="0">
              <a:solidFill>
                <a:srgbClr val="FF0000"/>
              </a:solidFill>
            </a:endParaRPr>
          </a:p>
          <a:p>
            <a:pPr marL="342900" indent="-342900">
              <a:buFont typeface="Arial" panose="020B0604020202020204" pitchFamily="34" charset="0"/>
              <a:buChar char="•"/>
            </a:pPr>
            <a:r>
              <a:rPr lang="da-DK" sz="1800" i="1" dirty="0">
                <a:solidFill>
                  <a:srgbClr val="FF0000"/>
                </a:solidFill>
              </a:rPr>
              <a:t>Gunhild – 100.000 kr.</a:t>
            </a:r>
            <a:endParaRPr lang="da-DK" sz="1800" dirty="0">
              <a:solidFill>
                <a:srgbClr val="FF0000"/>
              </a:solidFill>
            </a:endParaRPr>
          </a:p>
          <a:p>
            <a:pPr marL="342900" indent="-342900">
              <a:buFont typeface="Arial" panose="020B0604020202020204" pitchFamily="34" charset="0"/>
              <a:buChar char="•"/>
            </a:pPr>
            <a:r>
              <a:rPr lang="da-DK" sz="1800" i="1" dirty="0">
                <a:solidFill>
                  <a:srgbClr val="FF0000"/>
                </a:solidFill>
              </a:rPr>
              <a:t>Tove – 50.000 kr.</a:t>
            </a:r>
            <a:endParaRPr lang="da-DK" sz="1800" dirty="0">
              <a:solidFill>
                <a:srgbClr val="FF0000"/>
              </a:solidFill>
            </a:endParaRPr>
          </a:p>
          <a:p>
            <a:r>
              <a:rPr lang="da-DK" sz="1800" i="1" dirty="0">
                <a:solidFill>
                  <a:srgbClr val="FF0000"/>
                </a:solidFill>
              </a:rPr>
              <a:t> </a:t>
            </a:r>
          </a:p>
          <a:p>
            <a:r>
              <a:rPr lang="da-DK" sz="1800" i="1" dirty="0">
                <a:solidFill>
                  <a:srgbClr val="FF0000"/>
                </a:solidFill>
              </a:rPr>
              <a:t>I alt er der kautioneret for 500.000 kr.</a:t>
            </a:r>
          </a:p>
          <a:p>
            <a:br>
              <a:rPr lang="da-DK" sz="1800" dirty="0">
                <a:solidFill>
                  <a:srgbClr val="FF0000"/>
                </a:solidFill>
              </a:rPr>
            </a:br>
            <a:r>
              <a:rPr lang="da-DK" sz="1800" i="1" dirty="0">
                <a:solidFill>
                  <a:srgbClr val="FF0000"/>
                </a:solidFill>
              </a:rPr>
              <a:t>Gorm har kautioneret for 200.000 kr./500.000 kr. = 2/5. Da det samlede tab er på 400.000 kr., udgør Gorms andel 160.000 kr.</a:t>
            </a:r>
          </a:p>
          <a:p>
            <a:endParaRPr lang="da-DK" sz="1800" i="1" dirty="0">
              <a:solidFill>
                <a:srgbClr val="FF0000"/>
              </a:solidFill>
            </a:endParaRPr>
          </a:p>
          <a:p>
            <a:r>
              <a:rPr lang="da-DK" sz="1800" i="1" dirty="0">
                <a:solidFill>
                  <a:srgbClr val="FF0000"/>
                </a:solidFill>
              </a:rPr>
              <a:t>Saxo har kautioneret for 150.000 kr./500.000 kr. = 3/10. Da det samlede tab er på 400.000 kr., udgør Saxos andel 120.000 kr.</a:t>
            </a:r>
          </a:p>
          <a:p>
            <a:endParaRPr lang="da-DK" sz="1800" i="1" dirty="0"/>
          </a:p>
          <a:p>
            <a:endParaRPr lang="da-DK" sz="1800" i="1" dirty="0"/>
          </a:p>
        </p:txBody>
      </p:sp>
      <p:sp>
        <p:nvSpPr>
          <p:cNvPr id="16" name="object 16"/>
          <p:cNvSpPr txBox="1"/>
          <p:nvPr/>
        </p:nvSpPr>
        <p:spPr>
          <a:xfrm>
            <a:off x="8294635" y="4815450"/>
            <a:ext cx="499369" cy="309842"/>
          </a:xfrm>
          <a:prstGeom prst="rect">
            <a:avLst/>
          </a:prstGeom>
        </p:spPr>
        <p:txBody>
          <a:bodyPr vert="horz" wrap="square" lIns="0" tIns="16171" rIns="0" bIns="0" rtlCol="0">
            <a:spAutoFit/>
          </a:bodyPr>
          <a:lstStyle/>
          <a:p>
            <a:pPr marL="12937">
              <a:spcBef>
                <a:spcPts val="127"/>
              </a:spcBef>
            </a:pPr>
            <a:r>
              <a:rPr sz="1834" i="1" spc="10" dirty="0">
                <a:solidFill>
                  <a:srgbClr val="FFFFFF"/>
                </a:solidFill>
                <a:latin typeface="Arial"/>
                <a:cs typeface="Arial"/>
              </a:rPr>
              <a:t>25</a:t>
            </a:r>
            <a:r>
              <a:rPr sz="1834" i="1" spc="20" dirty="0">
                <a:solidFill>
                  <a:srgbClr val="FFFFFF"/>
                </a:solidFill>
                <a:latin typeface="Arial"/>
                <a:cs typeface="Arial"/>
              </a:rPr>
              <a:t>%</a:t>
            </a:r>
            <a:endParaRPr sz="1834">
              <a:latin typeface="Arial"/>
              <a:cs typeface="Arial"/>
            </a:endParaRPr>
          </a:p>
        </p:txBody>
      </p:sp>
      <p:sp>
        <p:nvSpPr>
          <p:cNvPr id="3" name="Pladsholder til slidenummer 2"/>
          <p:cNvSpPr>
            <a:spLocks noGrp="1"/>
          </p:cNvSpPr>
          <p:nvPr>
            <p:ph type="sldNum" sz="quarter" idx="7"/>
          </p:nvPr>
        </p:nvSpPr>
        <p:spPr/>
        <p:txBody>
          <a:bodyPr/>
          <a:lstStyle/>
          <a:p>
            <a:fld id="{B6F15528-21DE-4FAA-801E-634DDDAF4B2B}" type="slidenum">
              <a:rPr lang="da-DK" smtClean="0"/>
              <a:t>7</a:t>
            </a:fld>
            <a:endParaRPr lang="da-DK"/>
          </a:p>
        </p:txBody>
      </p:sp>
    </p:spTree>
    <p:extLst>
      <p:ext uri="{BB962C8B-B14F-4D97-AF65-F5344CB8AC3E}">
        <p14:creationId xmlns:p14="http://schemas.microsoft.com/office/powerpoint/2010/main" val="469739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3</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5464808"/>
          </a:xfrm>
          <a:prstGeom prst="rect">
            <a:avLst/>
          </a:prstGeom>
        </p:spPr>
        <p:txBody>
          <a:bodyPr vert="horz" wrap="square" lIns="0" tIns="199877" rIns="0" bIns="0" rtlCol="0">
            <a:spAutoFit/>
          </a:bodyPr>
          <a:lstStyle/>
          <a:p>
            <a:r>
              <a:rPr lang="da-DK" sz="1800" i="1" dirty="0">
                <a:solidFill>
                  <a:srgbClr val="FF0000"/>
                </a:solidFill>
              </a:rPr>
              <a:t>Gunhild har kautioneret for 100.000 kr./500.000 kr. = 1/5. Da det samlede tab er på 400.000 kr., udgør Gunhilds andel 80.000 kr.</a:t>
            </a:r>
          </a:p>
          <a:p>
            <a:endParaRPr lang="da-DK" sz="1800" i="1" dirty="0">
              <a:solidFill>
                <a:srgbClr val="FF0000"/>
              </a:solidFill>
            </a:endParaRPr>
          </a:p>
          <a:p>
            <a:r>
              <a:rPr lang="da-DK" sz="1800" i="1" dirty="0">
                <a:solidFill>
                  <a:srgbClr val="FF0000"/>
                </a:solidFill>
              </a:rPr>
              <a:t>Tove har kautioneret for 50.000 kr./500.000 kr. = 1/10. Da det samlede tab er på 400.000 kr., udgør Toves andel 40.000 kr.</a:t>
            </a:r>
          </a:p>
          <a:p>
            <a:r>
              <a:rPr lang="da-DK" sz="1800" i="1" dirty="0">
                <a:solidFill>
                  <a:srgbClr val="FF0000"/>
                </a:solidFill>
              </a:rPr>
              <a:t> </a:t>
            </a:r>
          </a:p>
          <a:p>
            <a:r>
              <a:rPr lang="da-DK" sz="1800" i="1" dirty="0">
                <a:solidFill>
                  <a:srgbClr val="FF0000"/>
                </a:solidFill>
              </a:rPr>
              <a:t>Det bemærkes, at det står banken frit for at kræve f.eks. 200.000 kr. af Gorm,</a:t>
            </a:r>
          </a:p>
          <a:p>
            <a:r>
              <a:rPr lang="da-DK" sz="1800" i="1" dirty="0">
                <a:solidFill>
                  <a:srgbClr val="FF0000"/>
                </a:solidFill>
              </a:rPr>
              <a:t>150.000 kr. af Saxo og 50.000 kr. af Tove, hvilket i så fald blot medfører, at de tre kautionister kan gøre et regreskrav gældende mod Gunhild (og Harald selvfølgelig).</a:t>
            </a:r>
          </a:p>
          <a:p>
            <a:r>
              <a:rPr lang="da-DK" sz="1800" i="1" dirty="0">
                <a:solidFill>
                  <a:srgbClr val="FF0000"/>
                </a:solidFill>
              </a:rPr>
              <a:t> </a:t>
            </a:r>
          </a:p>
          <a:p>
            <a:pPr lvl="0"/>
            <a:endParaRPr lang="da-DK" sz="1800" i="1" dirty="0">
              <a:solidFill>
                <a:srgbClr val="FF0000"/>
              </a:solidFill>
            </a:endParaRPr>
          </a:p>
          <a:p>
            <a:pPr lvl="0"/>
            <a:r>
              <a:rPr lang="da-DK" sz="1800" i="1" dirty="0">
                <a:solidFill>
                  <a:srgbClr val="FF0000"/>
                </a:solidFill>
              </a:rPr>
              <a:t>Ad 2) </a:t>
            </a:r>
          </a:p>
          <a:p>
            <a:pPr lvl="0"/>
            <a:endParaRPr lang="da-DK" sz="1800" i="1" dirty="0">
              <a:solidFill>
                <a:srgbClr val="FF0000"/>
              </a:solidFill>
            </a:endParaRPr>
          </a:p>
          <a:p>
            <a:pPr lvl="0"/>
            <a:r>
              <a:rPr lang="da-DK" sz="1800" i="1" dirty="0">
                <a:solidFill>
                  <a:srgbClr val="FF0000"/>
                </a:solidFill>
              </a:rPr>
              <a:t>Da det ikke er muligt at gøre Gunhilds kaution gældende, falder den ud af beregningen. Gorm skal derfor betale 200.000 kr., Saxo 150.000 kr. og Tove 50.000 kr. </a:t>
            </a:r>
          </a:p>
          <a:p>
            <a:pPr lvl="0"/>
            <a:endParaRPr lang="da-DK" sz="1800" i="1" dirty="0">
              <a:solidFill>
                <a:srgbClr val="FF0000"/>
              </a:solidFill>
            </a:endParaRPr>
          </a:p>
          <a:p>
            <a:pPr lvl="0"/>
            <a:r>
              <a:rPr lang="da-DK" sz="1800" i="1" dirty="0">
                <a:solidFill>
                  <a:srgbClr val="FF0000"/>
                </a:solidFill>
              </a:rPr>
              <a:t>Kommer Gunhild på et tidspunkt retur, har de øvrige et regreskrav mod hende jf. svaret til spørgsmål 1.</a:t>
            </a:r>
            <a:endParaRPr lang="da-DK" sz="1800" dirty="0">
              <a:solidFill>
                <a:srgbClr val="FF0000"/>
              </a:solidFill>
            </a:endParaRPr>
          </a:p>
          <a:p>
            <a:pPr lvl="0"/>
            <a:endParaRPr lang="da-DK" sz="1800" i="1" dirty="0"/>
          </a:p>
        </p:txBody>
      </p:sp>
      <p:sp>
        <p:nvSpPr>
          <p:cNvPr id="16" name="object 16"/>
          <p:cNvSpPr txBox="1"/>
          <p:nvPr/>
        </p:nvSpPr>
        <p:spPr>
          <a:xfrm>
            <a:off x="8294635" y="4815450"/>
            <a:ext cx="499369" cy="309842"/>
          </a:xfrm>
          <a:prstGeom prst="rect">
            <a:avLst/>
          </a:prstGeom>
        </p:spPr>
        <p:txBody>
          <a:bodyPr vert="horz" wrap="square" lIns="0" tIns="16171" rIns="0" bIns="0" rtlCol="0">
            <a:spAutoFit/>
          </a:bodyPr>
          <a:lstStyle/>
          <a:p>
            <a:pPr marL="12937">
              <a:spcBef>
                <a:spcPts val="127"/>
              </a:spcBef>
            </a:pPr>
            <a:r>
              <a:rPr sz="1834" i="1" spc="10" dirty="0">
                <a:solidFill>
                  <a:srgbClr val="FFFFFF"/>
                </a:solidFill>
                <a:latin typeface="Arial"/>
                <a:cs typeface="Arial"/>
              </a:rPr>
              <a:t>25</a:t>
            </a:r>
            <a:r>
              <a:rPr sz="1834" i="1" spc="20" dirty="0">
                <a:solidFill>
                  <a:srgbClr val="FFFFFF"/>
                </a:solidFill>
                <a:latin typeface="Arial"/>
                <a:cs typeface="Arial"/>
              </a:rPr>
              <a:t>%</a:t>
            </a:r>
            <a:endParaRPr sz="1834">
              <a:latin typeface="Arial"/>
              <a:cs typeface="Arial"/>
            </a:endParaRPr>
          </a:p>
        </p:txBody>
      </p:sp>
      <p:sp>
        <p:nvSpPr>
          <p:cNvPr id="3" name="Pladsholder til slidenummer 2"/>
          <p:cNvSpPr>
            <a:spLocks noGrp="1"/>
          </p:cNvSpPr>
          <p:nvPr>
            <p:ph type="sldNum" sz="quarter" idx="7"/>
          </p:nvPr>
        </p:nvSpPr>
        <p:spPr/>
        <p:txBody>
          <a:bodyPr/>
          <a:lstStyle/>
          <a:p>
            <a:fld id="{B6F15528-21DE-4FAA-801E-634DDDAF4B2B}" type="slidenum">
              <a:rPr lang="da-DK" smtClean="0"/>
              <a:t>8</a:t>
            </a:fld>
            <a:endParaRPr lang="da-DK"/>
          </a:p>
        </p:txBody>
      </p:sp>
    </p:spTree>
    <p:extLst>
      <p:ext uri="{BB962C8B-B14F-4D97-AF65-F5344CB8AC3E}">
        <p14:creationId xmlns:p14="http://schemas.microsoft.com/office/powerpoint/2010/main" val="240924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3</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4202924"/>
          </a:xfrm>
          <a:prstGeom prst="rect">
            <a:avLst/>
          </a:prstGeom>
        </p:spPr>
        <p:txBody>
          <a:bodyPr vert="horz" wrap="square" lIns="0" tIns="199877" rIns="0" bIns="0" rtlCol="0">
            <a:spAutoFit/>
          </a:bodyPr>
          <a:lstStyle/>
          <a:p>
            <a:pPr lvl="0"/>
            <a:r>
              <a:rPr lang="da-DK" i="1" dirty="0">
                <a:solidFill>
                  <a:srgbClr val="FF0000"/>
                </a:solidFill>
              </a:rPr>
              <a:t>Ad 3) </a:t>
            </a:r>
          </a:p>
          <a:p>
            <a:pPr lvl="0"/>
            <a:endParaRPr lang="da-DK" i="1" dirty="0">
              <a:solidFill>
                <a:srgbClr val="FF0000"/>
              </a:solidFill>
            </a:endParaRPr>
          </a:p>
          <a:p>
            <a:pPr lvl="0"/>
            <a:r>
              <a:rPr lang="da-DK" i="1" dirty="0">
                <a:solidFill>
                  <a:srgbClr val="FF0000"/>
                </a:solidFill>
              </a:rPr>
              <a:t>Hvis Gorm ikke kan betale, bliver Thyras efterkaution aktuel, hvilket igen gør Olavs kontrakaution aktuel. Svaret bliver derfor som i opgave 1, dog således at Thyra hæfter over for banken for Gorms del, og at hun derefter kan kræve det, hun har betalt til banken, af Olav.</a:t>
            </a:r>
            <a:endParaRPr lang="da-DK" sz="1800" dirty="0">
              <a:solidFill>
                <a:srgbClr val="FF0000"/>
              </a:solidFill>
            </a:endParaRPr>
          </a:p>
          <a:p>
            <a:pPr lvl="0"/>
            <a:endParaRPr lang="da-DK" i="1" dirty="0">
              <a:solidFill>
                <a:srgbClr val="FF0000"/>
              </a:solidFill>
            </a:endParaRPr>
          </a:p>
          <a:p>
            <a:pPr lvl="0"/>
            <a:r>
              <a:rPr lang="da-DK" i="1" dirty="0">
                <a:solidFill>
                  <a:srgbClr val="FF0000"/>
                </a:solidFill>
              </a:rPr>
              <a:t>Ad 4)</a:t>
            </a:r>
          </a:p>
          <a:p>
            <a:pPr lvl="0"/>
            <a:endParaRPr lang="da-DK" i="1" dirty="0">
              <a:solidFill>
                <a:srgbClr val="FF0000"/>
              </a:solidFill>
            </a:endParaRPr>
          </a:p>
          <a:p>
            <a:pPr lvl="0"/>
            <a:r>
              <a:rPr lang="da-DK" i="1" dirty="0">
                <a:solidFill>
                  <a:srgbClr val="FF0000"/>
                </a:solidFill>
              </a:rPr>
              <a:t>Det klare udgangspunkt er, at kautionen stadig kan gøres gældende. Det er muligt, at f.eks. reglerne om bristende forudsætninger i helt særlige tilfælde kan føre til et andet resultat, men det er absolut ikke udgangspunktet.</a:t>
            </a:r>
            <a:endParaRPr lang="da-DK" sz="1800" dirty="0">
              <a:solidFill>
                <a:srgbClr val="FF0000"/>
              </a:solidFill>
            </a:endParaRPr>
          </a:p>
          <a:p>
            <a:pPr lvl="0"/>
            <a:endParaRPr lang="da-DK" i="1" dirty="0"/>
          </a:p>
        </p:txBody>
      </p:sp>
      <p:sp>
        <p:nvSpPr>
          <p:cNvPr id="3" name="Pladsholder til slidenummer 2"/>
          <p:cNvSpPr>
            <a:spLocks noGrp="1"/>
          </p:cNvSpPr>
          <p:nvPr>
            <p:ph type="sldNum" sz="quarter" idx="7"/>
          </p:nvPr>
        </p:nvSpPr>
        <p:spPr/>
        <p:txBody>
          <a:bodyPr/>
          <a:lstStyle/>
          <a:p>
            <a:fld id="{B6F15528-21DE-4FAA-801E-634DDDAF4B2B}" type="slidenum">
              <a:rPr lang="da-DK" smtClean="0"/>
              <a:t>9</a:t>
            </a:fld>
            <a:endParaRPr lang="da-DK"/>
          </a:p>
        </p:txBody>
      </p:sp>
    </p:spTree>
    <p:extLst>
      <p:ext uri="{BB962C8B-B14F-4D97-AF65-F5344CB8AC3E}">
        <p14:creationId xmlns:p14="http://schemas.microsoft.com/office/powerpoint/2010/main" val="3740465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4</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3556593"/>
          </a:xfrm>
          <a:prstGeom prst="rect">
            <a:avLst/>
          </a:prstGeom>
        </p:spPr>
        <p:txBody>
          <a:bodyPr vert="horz" wrap="square" lIns="0" tIns="199877" rIns="0" bIns="0" rtlCol="0">
            <a:spAutoFit/>
          </a:bodyPr>
          <a:lstStyle/>
          <a:p>
            <a:pPr lvl="0"/>
            <a:r>
              <a:rPr lang="da-DK" sz="1800" dirty="0"/>
              <a:t>1) Er der forskellige regler, banken skal være opmærksom på, afhængig af om det er Klaudia eller Klaus, der kautionerer?</a:t>
            </a:r>
          </a:p>
          <a:p>
            <a:pPr lvl="0"/>
            <a:endParaRPr lang="da-DK" sz="1800" dirty="0"/>
          </a:p>
          <a:p>
            <a:pPr lvl="0"/>
            <a:r>
              <a:rPr lang="da-DK" sz="1800" dirty="0"/>
              <a:t>2) Bank Fyn fandt hurtigt ud af, at Klaus uden sammenligning var den mest solide af de to. De fik ham derfor til at underskrive en kautionserklæring, der dækkede den samlede kredit på 600.000 kr. Er der noget Bank Fyn burde være særligt opmærksom på i den forbindelse?</a:t>
            </a:r>
          </a:p>
          <a:p>
            <a:pPr lvl="0"/>
            <a:br>
              <a:rPr lang="da-DK" sz="1800" dirty="0"/>
            </a:br>
            <a:r>
              <a:rPr lang="da-DK" sz="1800" dirty="0"/>
              <a:t>3) Hvilken forskel havde det gjort, hvis Klaudia i stedet havde kontaktet en anden bank, Syddanske Bank, og lånt 600.000 kr. med Klaus som kautionist, og så brugt de første 350.000 kr. til at indfri engagementet i Bank Fyn?</a:t>
            </a:r>
          </a:p>
          <a:p>
            <a:r>
              <a:rPr lang="da-DK" sz="1800" dirty="0"/>
              <a:t> </a:t>
            </a:r>
          </a:p>
          <a:p>
            <a:endParaRPr lang="da-DK" i="1" dirty="0"/>
          </a:p>
        </p:txBody>
      </p:sp>
      <p:sp>
        <p:nvSpPr>
          <p:cNvPr id="16" name="object 16"/>
          <p:cNvSpPr txBox="1"/>
          <p:nvPr/>
        </p:nvSpPr>
        <p:spPr>
          <a:xfrm>
            <a:off x="8294635" y="4815450"/>
            <a:ext cx="499369" cy="309842"/>
          </a:xfrm>
          <a:prstGeom prst="rect">
            <a:avLst/>
          </a:prstGeom>
        </p:spPr>
        <p:txBody>
          <a:bodyPr vert="horz" wrap="square" lIns="0" tIns="16171" rIns="0" bIns="0" rtlCol="0">
            <a:spAutoFit/>
          </a:bodyPr>
          <a:lstStyle/>
          <a:p>
            <a:pPr marL="12937">
              <a:spcBef>
                <a:spcPts val="127"/>
              </a:spcBef>
            </a:pPr>
            <a:r>
              <a:rPr sz="1834" i="1" spc="10" dirty="0">
                <a:solidFill>
                  <a:srgbClr val="FFFFFF"/>
                </a:solidFill>
                <a:latin typeface="Arial"/>
                <a:cs typeface="Arial"/>
              </a:rPr>
              <a:t>25</a:t>
            </a:r>
            <a:r>
              <a:rPr sz="1834" i="1" spc="20" dirty="0">
                <a:solidFill>
                  <a:srgbClr val="FFFFFF"/>
                </a:solidFill>
                <a:latin typeface="Arial"/>
                <a:cs typeface="Arial"/>
              </a:rPr>
              <a:t>%</a:t>
            </a:r>
            <a:endParaRPr sz="1834">
              <a:latin typeface="Arial"/>
              <a:cs typeface="Arial"/>
            </a:endParaRPr>
          </a:p>
        </p:txBody>
      </p:sp>
      <p:sp>
        <p:nvSpPr>
          <p:cNvPr id="3" name="Pladsholder til slidenummer 2"/>
          <p:cNvSpPr>
            <a:spLocks noGrp="1"/>
          </p:cNvSpPr>
          <p:nvPr>
            <p:ph type="sldNum" sz="quarter" idx="7"/>
          </p:nvPr>
        </p:nvSpPr>
        <p:spPr/>
        <p:txBody>
          <a:bodyPr/>
          <a:lstStyle/>
          <a:p>
            <a:fld id="{B6F15528-21DE-4FAA-801E-634DDDAF4B2B}" type="slidenum">
              <a:rPr lang="da-DK" smtClean="0"/>
              <a:t>10</a:t>
            </a:fld>
            <a:endParaRPr lang="da-DK"/>
          </a:p>
        </p:txBody>
      </p:sp>
    </p:spTree>
    <p:extLst>
      <p:ext uri="{BB962C8B-B14F-4D97-AF65-F5344CB8AC3E}">
        <p14:creationId xmlns:p14="http://schemas.microsoft.com/office/powerpoint/2010/main" val="2459614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4</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5464808"/>
          </a:xfrm>
          <a:prstGeom prst="rect">
            <a:avLst/>
          </a:prstGeom>
        </p:spPr>
        <p:txBody>
          <a:bodyPr vert="horz" wrap="square" lIns="0" tIns="199877" rIns="0" bIns="0" rtlCol="0">
            <a:spAutoFit/>
          </a:bodyPr>
          <a:lstStyle/>
          <a:p>
            <a:r>
              <a:rPr lang="da-DK" sz="1800" i="1" dirty="0">
                <a:solidFill>
                  <a:srgbClr val="FF0000"/>
                </a:solidFill>
              </a:rPr>
              <a:t>Vejledende svar:</a:t>
            </a:r>
          </a:p>
          <a:p>
            <a:pPr lvl="0"/>
            <a:endParaRPr lang="da-DK" sz="1800" i="1" dirty="0">
              <a:solidFill>
                <a:srgbClr val="FF0000"/>
              </a:solidFill>
            </a:endParaRPr>
          </a:p>
          <a:p>
            <a:pPr lvl="0"/>
            <a:r>
              <a:rPr lang="da-DK" sz="1800" i="1" dirty="0">
                <a:solidFill>
                  <a:srgbClr val="FF0000"/>
                </a:solidFill>
              </a:rPr>
              <a:t>Ad 1) </a:t>
            </a:r>
          </a:p>
          <a:p>
            <a:pPr lvl="0"/>
            <a:r>
              <a:rPr lang="da-DK" sz="1800" i="1" dirty="0">
                <a:solidFill>
                  <a:srgbClr val="FF0000"/>
                </a:solidFill>
              </a:rPr>
              <a:t>Ja. Hvis Klaudia kautionerer, er det en erhvervskaution, jf. lov om finansiel virksomhed § 47. Hvis det er Klaus, der kautionerer, er det en privatkaution, jf. lov om finansiel virksomhed § 48. Der er stor forskel på, hvilke oplysninger der skal gives i de to situationer. Ved erhvervsforhold er det meget begrænset, hvad pengeinstituttet skal sørge for at formidle til kautionisten, mens der ved privatkaution skal gives en række oplysninger. Der henvises til lov om finansiel virksomhed § 48.</a:t>
            </a:r>
          </a:p>
          <a:p>
            <a:pPr lvl="0"/>
            <a:endParaRPr lang="da-DK" sz="1800" i="1" dirty="0">
              <a:solidFill>
                <a:srgbClr val="FF0000"/>
              </a:solidFill>
            </a:endParaRPr>
          </a:p>
          <a:p>
            <a:pPr lvl="0"/>
            <a:r>
              <a:rPr lang="da-DK" sz="1800" i="1" dirty="0">
                <a:solidFill>
                  <a:srgbClr val="FF0000"/>
                </a:solidFill>
              </a:rPr>
              <a:t>Ad 2) </a:t>
            </a:r>
          </a:p>
          <a:p>
            <a:pPr lvl="0"/>
            <a:r>
              <a:rPr lang="da-DK" sz="1800" i="1" dirty="0">
                <a:solidFill>
                  <a:srgbClr val="FF0000"/>
                </a:solidFill>
              </a:rPr>
              <a:t>I tilfælde af, at Klaus kautionerer for hele engagementet, vil der være tale om delvis kaution for ”gammel gæld”, dvs. gæld, der er stiftet før og ikke i forbindelse med kautionsforpligtelsen. Ifølge den aftale (Fælles holdning til privat kaution for banklån), Forbrugerrådet og Finansrådet indgik i 2001, bør der ikke stilles kaution for gammel gæld. Sker det helt undtagelsesvis, skal det tydeliggøres, at (en del af) det, der kautioneres for, er gammel gæld, og at hovedmanden derfor ikke får et beløb udbetalt eller stillet til rådighed, der svarer til det, der kautioneres for. Manglende overholdelse af aftalen om, at der ikke bør stilles kaution for gammel gæld, kan medføre, at kautionen tilsidesættes helt eller delvist – også selvom de nævnte oplysninger er givet. </a:t>
            </a:r>
          </a:p>
        </p:txBody>
      </p:sp>
      <p:sp>
        <p:nvSpPr>
          <p:cNvPr id="3" name="Pladsholder til slidenummer 2"/>
          <p:cNvSpPr>
            <a:spLocks noGrp="1"/>
          </p:cNvSpPr>
          <p:nvPr>
            <p:ph type="sldNum" sz="quarter" idx="7"/>
          </p:nvPr>
        </p:nvSpPr>
        <p:spPr/>
        <p:txBody>
          <a:bodyPr/>
          <a:lstStyle/>
          <a:p>
            <a:fld id="{B6F15528-21DE-4FAA-801E-634DDDAF4B2B}" type="slidenum">
              <a:rPr lang="da-DK" smtClean="0"/>
              <a:t>11</a:t>
            </a:fld>
            <a:endParaRPr lang="da-DK"/>
          </a:p>
        </p:txBody>
      </p:sp>
    </p:spTree>
    <p:extLst>
      <p:ext uri="{BB962C8B-B14F-4D97-AF65-F5344CB8AC3E}">
        <p14:creationId xmlns:p14="http://schemas.microsoft.com/office/powerpoint/2010/main" val="622748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4</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1863822"/>
          </a:xfrm>
          <a:prstGeom prst="rect">
            <a:avLst/>
          </a:prstGeom>
        </p:spPr>
        <p:txBody>
          <a:bodyPr vert="horz" wrap="square" lIns="0" tIns="199877" rIns="0" bIns="0" rtlCol="0">
            <a:spAutoFit/>
          </a:bodyPr>
          <a:lstStyle/>
          <a:p>
            <a:pPr lvl="0"/>
            <a:r>
              <a:rPr lang="da-DK" sz="1800" i="1" dirty="0">
                <a:solidFill>
                  <a:srgbClr val="FF0000"/>
                </a:solidFill>
              </a:rPr>
              <a:t>Ad 3)</a:t>
            </a:r>
          </a:p>
          <a:p>
            <a:pPr lvl="0"/>
            <a:endParaRPr lang="da-DK" sz="1800" i="1" dirty="0">
              <a:solidFill>
                <a:srgbClr val="FF0000"/>
              </a:solidFill>
            </a:endParaRPr>
          </a:p>
          <a:p>
            <a:pPr lvl="0"/>
            <a:r>
              <a:rPr lang="da-DK" sz="1800" i="1" dirty="0">
                <a:solidFill>
                  <a:srgbClr val="FF0000"/>
                </a:solidFill>
              </a:rPr>
              <a:t>Der ville i så fald ikke være tale om kaution for gammel gæld. Der er jo – set med Syddanske Banks øjne – tale om et helt nyt engagement. Reglerne i bl.a. lov om finansiel virksomhed § 48 skal selvfølgelig stadig overholdes.</a:t>
            </a:r>
            <a:endParaRPr lang="da-DK" sz="1800" dirty="0">
              <a:solidFill>
                <a:srgbClr val="FF0000"/>
              </a:solidFill>
            </a:endParaRPr>
          </a:p>
          <a:p>
            <a:r>
              <a:rPr lang="da-DK" sz="1800" i="1" dirty="0"/>
              <a:t> </a:t>
            </a:r>
          </a:p>
        </p:txBody>
      </p:sp>
      <p:sp>
        <p:nvSpPr>
          <p:cNvPr id="16" name="object 16"/>
          <p:cNvSpPr txBox="1"/>
          <p:nvPr/>
        </p:nvSpPr>
        <p:spPr>
          <a:xfrm>
            <a:off x="8294635" y="4815450"/>
            <a:ext cx="499369" cy="309842"/>
          </a:xfrm>
          <a:prstGeom prst="rect">
            <a:avLst/>
          </a:prstGeom>
        </p:spPr>
        <p:txBody>
          <a:bodyPr vert="horz" wrap="square" lIns="0" tIns="16171" rIns="0" bIns="0" rtlCol="0">
            <a:spAutoFit/>
          </a:bodyPr>
          <a:lstStyle/>
          <a:p>
            <a:pPr marL="12937">
              <a:spcBef>
                <a:spcPts val="127"/>
              </a:spcBef>
            </a:pPr>
            <a:r>
              <a:rPr sz="1834" i="1" spc="10" dirty="0">
                <a:solidFill>
                  <a:srgbClr val="FFFFFF"/>
                </a:solidFill>
                <a:latin typeface="Arial"/>
                <a:cs typeface="Arial"/>
              </a:rPr>
              <a:t>25</a:t>
            </a:r>
            <a:r>
              <a:rPr sz="1834" i="1" spc="20" dirty="0">
                <a:solidFill>
                  <a:srgbClr val="FFFFFF"/>
                </a:solidFill>
                <a:latin typeface="Arial"/>
                <a:cs typeface="Arial"/>
              </a:rPr>
              <a:t>%</a:t>
            </a:r>
            <a:endParaRPr sz="1834">
              <a:latin typeface="Arial"/>
              <a:cs typeface="Arial"/>
            </a:endParaRPr>
          </a:p>
        </p:txBody>
      </p:sp>
      <p:sp>
        <p:nvSpPr>
          <p:cNvPr id="3" name="Pladsholder til slidenummer 2"/>
          <p:cNvSpPr>
            <a:spLocks noGrp="1"/>
          </p:cNvSpPr>
          <p:nvPr>
            <p:ph type="sldNum" sz="quarter" idx="7"/>
          </p:nvPr>
        </p:nvSpPr>
        <p:spPr/>
        <p:txBody>
          <a:bodyPr/>
          <a:lstStyle/>
          <a:p>
            <a:fld id="{B6F15528-21DE-4FAA-801E-634DDDAF4B2B}" type="slidenum">
              <a:rPr lang="da-DK" smtClean="0"/>
              <a:t>12</a:t>
            </a:fld>
            <a:endParaRPr lang="da-DK"/>
          </a:p>
        </p:txBody>
      </p:sp>
    </p:spTree>
    <p:extLst>
      <p:ext uri="{BB962C8B-B14F-4D97-AF65-F5344CB8AC3E}">
        <p14:creationId xmlns:p14="http://schemas.microsoft.com/office/powerpoint/2010/main" val="133386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5</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1740712"/>
          </a:xfrm>
          <a:prstGeom prst="rect">
            <a:avLst/>
          </a:prstGeom>
        </p:spPr>
        <p:txBody>
          <a:bodyPr vert="horz" wrap="square" lIns="0" tIns="199877" rIns="0" bIns="0" rtlCol="0">
            <a:spAutoFit/>
          </a:bodyPr>
          <a:lstStyle/>
          <a:p>
            <a:pPr lvl="0"/>
            <a:r>
              <a:rPr lang="da-DK" dirty="0"/>
              <a:t>1) Er der tale om erhvervs- eller privatkaution?</a:t>
            </a:r>
          </a:p>
          <a:p>
            <a:pPr lvl="0"/>
            <a:endParaRPr lang="da-DK" dirty="0"/>
          </a:p>
          <a:p>
            <a:pPr lvl="0"/>
            <a:r>
              <a:rPr lang="da-DK" dirty="0"/>
              <a:t>2) Kan HCA Bank gøre Harrys kautionsforpligtelse gældende?</a:t>
            </a:r>
          </a:p>
          <a:p>
            <a:r>
              <a:rPr lang="da-DK" dirty="0"/>
              <a:t> </a:t>
            </a:r>
          </a:p>
          <a:p>
            <a:endParaRPr lang="da-DK" i="1" dirty="0"/>
          </a:p>
        </p:txBody>
      </p:sp>
      <p:sp>
        <p:nvSpPr>
          <p:cNvPr id="16" name="object 16"/>
          <p:cNvSpPr txBox="1"/>
          <p:nvPr/>
        </p:nvSpPr>
        <p:spPr>
          <a:xfrm>
            <a:off x="8294635" y="4815450"/>
            <a:ext cx="499369" cy="309842"/>
          </a:xfrm>
          <a:prstGeom prst="rect">
            <a:avLst/>
          </a:prstGeom>
        </p:spPr>
        <p:txBody>
          <a:bodyPr vert="horz" wrap="square" lIns="0" tIns="16171" rIns="0" bIns="0" rtlCol="0">
            <a:spAutoFit/>
          </a:bodyPr>
          <a:lstStyle/>
          <a:p>
            <a:pPr marL="12937">
              <a:spcBef>
                <a:spcPts val="127"/>
              </a:spcBef>
            </a:pPr>
            <a:r>
              <a:rPr sz="1834" i="1" spc="10" dirty="0">
                <a:solidFill>
                  <a:srgbClr val="FFFFFF"/>
                </a:solidFill>
                <a:latin typeface="Arial"/>
                <a:cs typeface="Arial"/>
              </a:rPr>
              <a:t>25</a:t>
            </a:r>
            <a:r>
              <a:rPr sz="1834" i="1" spc="20" dirty="0">
                <a:solidFill>
                  <a:srgbClr val="FFFFFF"/>
                </a:solidFill>
                <a:latin typeface="Arial"/>
                <a:cs typeface="Arial"/>
              </a:rPr>
              <a:t>%</a:t>
            </a:r>
            <a:endParaRPr sz="1834">
              <a:latin typeface="Arial"/>
              <a:cs typeface="Arial"/>
            </a:endParaRPr>
          </a:p>
        </p:txBody>
      </p:sp>
      <p:sp>
        <p:nvSpPr>
          <p:cNvPr id="3" name="Pladsholder til slidenummer 2"/>
          <p:cNvSpPr>
            <a:spLocks noGrp="1"/>
          </p:cNvSpPr>
          <p:nvPr>
            <p:ph type="sldNum" sz="quarter" idx="7"/>
          </p:nvPr>
        </p:nvSpPr>
        <p:spPr/>
        <p:txBody>
          <a:bodyPr/>
          <a:lstStyle/>
          <a:p>
            <a:fld id="{B6F15528-21DE-4FAA-801E-634DDDAF4B2B}" type="slidenum">
              <a:rPr lang="da-DK" smtClean="0"/>
              <a:t>13</a:t>
            </a:fld>
            <a:endParaRPr lang="da-DK"/>
          </a:p>
        </p:txBody>
      </p:sp>
    </p:spTree>
    <p:extLst>
      <p:ext uri="{BB962C8B-B14F-4D97-AF65-F5344CB8AC3E}">
        <p14:creationId xmlns:p14="http://schemas.microsoft.com/office/powerpoint/2010/main" val="1516889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5</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5187809"/>
          </a:xfrm>
          <a:prstGeom prst="rect">
            <a:avLst/>
          </a:prstGeom>
        </p:spPr>
        <p:txBody>
          <a:bodyPr vert="horz" wrap="square" lIns="0" tIns="199877" rIns="0" bIns="0" rtlCol="0">
            <a:spAutoFit/>
          </a:bodyPr>
          <a:lstStyle/>
          <a:p>
            <a:r>
              <a:rPr lang="da-DK" sz="1800" i="1" dirty="0">
                <a:solidFill>
                  <a:srgbClr val="FF0000"/>
                </a:solidFill>
              </a:rPr>
              <a:t>Vejledende svar:</a:t>
            </a:r>
          </a:p>
          <a:p>
            <a:pPr lvl="0"/>
            <a:endParaRPr lang="da-DK" sz="1800" i="1" dirty="0">
              <a:solidFill>
                <a:srgbClr val="FF0000"/>
              </a:solidFill>
            </a:endParaRPr>
          </a:p>
          <a:p>
            <a:pPr lvl="0"/>
            <a:r>
              <a:rPr lang="da-DK" sz="1800" i="1" dirty="0">
                <a:solidFill>
                  <a:srgbClr val="FF0000"/>
                </a:solidFill>
              </a:rPr>
              <a:t>Ad 1) </a:t>
            </a:r>
          </a:p>
          <a:p>
            <a:pPr lvl="0"/>
            <a:r>
              <a:rPr lang="da-DK" sz="1800" i="1" dirty="0">
                <a:solidFill>
                  <a:srgbClr val="FF0000"/>
                </a:solidFill>
              </a:rPr>
              <a:t>Da der ikke er en erhvervsmæssig sammenhæng mellem hovedmanden, </a:t>
            </a:r>
            <a:r>
              <a:rPr lang="da-DK" sz="1800" i="1" dirty="0" err="1">
                <a:solidFill>
                  <a:srgbClr val="FF0000"/>
                </a:solidFill>
              </a:rPr>
              <a:t>Happy</a:t>
            </a:r>
            <a:r>
              <a:rPr lang="da-DK" sz="1800" i="1" dirty="0">
                <a:solidFill>
                  <a:srgbClr val="FF0000"/>
                </a:solidFill>
              </a:rPr>
              <a:t> Robot ApS, og kautionisten, Harry, er der tale om en privatkaution.</a:t>
            </a:r>
            <a:endParaRPr lang="da-DK" sz="1800" dirty="0">
              <a:solidFill>
                <a:srgbClr val="FF0000"/>
              </a:solidFill>
            </a:endParaRPr>
          </a:p>
          <a:p>
            <a:pPr lvl="0"/>
            <a:br>
              <a:rPr lang="da-DK" sz="1800" dirty="0">
                <a:solidFill>
                  <a:srgbClr val="FF0000"/>
                </a:solidFill>
              </a:rPr>
            </a:br>
            <a:r>
              <a:rPr lang="da-DK" sz="1800" dirty="0">
                <a:solidFill>
                  <a:srgbClr val="FF0000"/>
                </a:solidFill>
              </a:rPr>
              <a:t>Ad 2) </a:t>
            </a:r>
          </a:p>
          <a:p>
            <a:pPr lvl="0"/>
            <a:r>
              <a:rPr lang="da-DK" sz="1800" i="1" dirty="0">
                <a:solidFill>
                  <a:srgbClr val="FF0000"/>
                </a:solidFill>
              </a:rPr>
              <a:t>Det følger af lov om finansiel virksomhed (LFV) § 48, stk. 2, at et pengeinstitut, som ikke har overholdt stk. 1, kun kan gøre kautionsforpligtelsen gældende, såfremt kautionisten på anden vis har haft et forsvarligt grundlag for at bedømme de risici, der var forbundet med at indgå kautionsforpligtelsen.</a:t>
            </a:r>
          </a:p>
          <a:p>
            <a:pPr lvl="0"/>
            <a:endParaRPr lang="da-DK" sz="1800" dirty="0">
              <a:solidFill>
                <a:srgbClr val="FF0000"/>
              </a:solidFill>
            </a:endParaRPr>
          </a:p>
          <a:p>
            <a:r>
              <a:rPr lang="da-DK" sz="1800" i="1" dirty="0">
                <a:solidFill>
                  <a:srgbClr val="FF0000"/>
                </a:solidFill>
              </a:rPr>
              <a:t>Af stk. 1 fremgår det, at pengeinstituttet, inden der indgås aftale om en kautionsforpligtelse uden for erhvervsforhold for lån eller kreditter ydet af et pengeinstitut, skal sikre sig, at kautionisten er tilstrækkeligt informeret om indholdet af aftalen og konsekvenserne af at påtage sig en kautionsforpligtelse. Denne information skal indeholde oplysninger om, hvad den konkrete kautionsforpligtelse indebærer, og indeholde en afbalanceret beskrivelse af de risici, der er forbundet hermed. </a:t>
            </a:r>
            <a:endParaRPr lang="da-DK" sz="1800" dirty="0">
              <a:solidFill>
                <a:srgbClr val="FF0000"/>
              </a:solidFill>
            </a:endParaRPr>
          </a:p>
        </p:txBody>
      </p:sp>
      <p:sp>
        <p:nvSpPr>
          <p:cNvPr id="3" name="Pladsholder til slidenummer 2"/>
          <p:cNvSpPr>
            <a:spLocks noGrp="1"/>
          </p:cNvSpPr>
          <p:nvPr>
            <p:ph type="sldNum" sz="quarter" idx="7"/>
          </p:nvPr>
        </p:nvSpPr>
        <p:spPr/>
        <p:txBody>
          <a:bodyPr/>
          <a:lstStyle/>
          <a:p>
            <a:fld id="{B6F15528-21DE-4FAA-801E-634DDDAF4B2B}" type="slidenum">
              <a:rPr lang="da-DK" smtClean="0"/>
              <a:t>14</a:t>
            </a:fld>
            <a:endParaRPr lang="da-DK"/>
          </a:p>
        </p:txBody>
      </p:sp>
    </p:spTree>
    <p:extLst>
      <p:ext uri="{BB962C8B-B14F-4D97-AF65-F5344CB8AC3E}">
        <p14:creationId xmlns:p14="http://schemas.microsoft.com/office/powerpoint/2010/main" val="593225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5</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5464808"/>
          </a:xfrm>
          <a:prstGeom prst="rect">
            <a:avLst/>
          </a:prstGeom>
        </p:spPr>
        <p:txBody>
          <a:bodyPr vert="horz" wrap="square" lIns="0" tIns="199877" rIns="0" bIns="0" rtlCol="0">
            <a:spAutoFit/>
          </a:bodyPr>
          <a:lstStyle/>
          <a:p>
            <a:r>
              <a:rPr lang="da-DK" sz="1800" i="1" dirty="0">
                <a:solidFill>
                  <a:srgbClr val="FF0000"/>
                </a:solidFill>
              </a:rPr>
              <a:t>Endvidere skal pengeinstituttet for den debitor, hvis gæld kautionsforpligtelsen skal sikre, med samtykke fra debitor udlevere</a:t>
            </a:r>
          </a:p>
          <a:p>
            <a:r>
              <a:rPr lang="da-DK" sz="1800" i="1" dirty="0">
                <a:solidFill>
                  <a:srgbClr val="FF0000"/>
                </a:solidFill>
              </a:rPr>
              <a:t> </a:t>
            </a:r>
          </a:p>
          <a:p>
            <a:pPr marL="782635" lvl="1" indent="-285750">
              <a:buFont typeface="Arial" panose="020B0604020202020204" pitchFamily="34" charset="0"/>
              <a:buChar char="•"/>
            </a:pPr>
            <a:r>
              <a:rPr lang="da-DK" sz="1800" i="1" dirty="0">
                <a:solidFill>
                  <a:srgbClr val="FF0000"/>
                </a:solidFill>
              </a:rPr>
              <a:t>den seneste årsopgørelse fra SKAT</a:t>
            </a:r>
            <a:endParaRPr lang="da-DK" sz="1800" dirty="0">
              <a:solidFill>
                <a:srgbClr val="FF0000"/>
              </a:solidFill>
            </a:endParaRPr>
          </a:p>
          <a:p>
            <a:pPr marL="782635" lvl="1" indent="-285750">
              <a:buFont typeface="Arial" panose="020B0604020202020204" pitchFamily="34" charset="0"/>
              <a:buChar char="•"/>
            </a:pPr>
            <a:r>
              <a:rPr lang="da-DK" sz="1800" i="1" dirty="0">
                <a:solidFill>
                  <a:srgbClr val="FF0000"/>
                </a:solidFill>
              </a:rPr>
              <a:t>de seneste tre lønsedler eller</a:t>
            </a:r>
            <a:endParaRPr lang="da-DK" sz="1800" dirty="0">
              <a:solidFill>
                <a:srgbClr val="FF0000"/>
              </a:solidFill>
            </a:endParaRPr>
          </a:p>
          <a:p>
            <a:pPr marL="782635" lvl="1" indent="-285750">
              <a:buFont typeface="Arial" panose="020B0604020202020204" pitchFamily="34" charset="0"/>
              <a:buChar char="•"/>
            </a:pPr>
            <a:r>
              <a:rPr lang="da-DK" sz="1800" i="1" dirty="0">
                <a:solidFill>
                  <a:srgbClr val="FF0000"/>
                </a:solidFill>
              </a:rPr>
              <a:t>det seneste årsregnskab, hvis der kautioneres for en erhvervsdrivendes gæld.</a:t>
            </a:r>
            <a:endParaRPr lang="da-DK" sz="1800" dirty="0">
              <a:solidFill>
                <a:srgbClr val="FF0000"/>
              </a:solidFill>
            </a:endParaRPr>
          </a:p>
          <a:p>
            <a:r>
              <a:rPr lang="da-DK" sz="1800" i="1" dirty="0">
                <a:solidFill>
                  <a:srgbClr val="FF0000"/>
                </a:solidFill>
              </a:rPr>
              <a:t> </a:t>
            </a:r>
          </a:p>
          <a:p>
            <a:r>
              <a:rPr lang="da-DK" sz="1800" i="1" dirty="0">
                <a:solidFill>
                  <a:srgbClr val="FF0000"/>
                </a:solidFill>
              </a:rPr>
              <a:t> </a:t>
            </a:r>
          </a:p>
          <a:p>
            <a:r>
              <a:rPr lang="da-DK" sz="1800" i="1" dirty="0">
                <a:solidFill>
                  <a:srgbClr val="FF0000"/>
                </a:solidFill>
              </a:rPr>
              <a:t>Hvis disse oplysninger er givet, er udgangspunktet altså, at banken kan gøre kautionen gældende. Det bemærkes, at det af opgaven fremgår, at Harry er velhavende, hvorfor kautionen næppe er i misforhold til hans økonomi.</a:t>
            </a:r>
          </a:p>
          <a:p>
            <a:endParaRPr lang="da-DK" sz="1800" i="1" dirty="0">
              <a:solidFill>
                <a:srgbClr val="FF0000"/>
              </a:solidFill>
            </a:endParaRPr>
          </a:p>
          <a:p>
            <a:r>
              <a:rPr lang="da-DK" sz="1800" i="1" dirty="0">
                <a:solidFill>
                  <a:srgbClr val="FF0000"/>
                </a:solidFill>
              </a:rPr>
              <a:t>Det ses imidlertid, at HCA Bank har givet </a:t>
            </a:r>
            <a:r>
              <a:rPr lang="da-DK" sz="1800" i="1" dirty="0" err="1">
                <a:solidFill>
                  <a:srgbClr val="FF0000"/>
                </a:solidFill>
              </a:rPr>
              <a:t>Happy</a:t>
            </a:r>
            <a:r>
              <a:rPr lang="da-DK" sz="1800" i="1" dirty="0">
                <a:solidFill>
                  <a:srgbClr val="FF0000"/>
                </a:solidFill>
              </a:rPr>
              <a:t> Robot ApS henstand i 11 måneder, hvorfor det er relevant at kigge nærmere på LFV § 48, stk. 6-8, som regulerer spørgsmålet.</a:t>
            </a:r>
          </a:p>
          <a:p>
            <a:endParaRPr lang="da-DK" sz="1800" i="1" dirty="0">
              <a:solidFill>
                <a:srgbClr val="FF0000"/>
              </a:solidFill>
            </a:endParaRPr>
          </a:p>
          <a:p>
            <a:r>
              <a:rPr lang="da-DK" sz="1800" i="1" dirty="0">
                <a:solidFill>
                  <a:srgbClr val="FF0000"/>
                </a:solidFill>
              </a:rPr>
              <a:t>Stk. 6. Hvis låntageren udebliver med betaling af hovedstol, afdrag eller renter, skal der senest 3 måneder efter de pågældende ydelsers forfaldsdag gives meddelelse herom til kautionisten på papir eller andet varigt medium. 1. pkt. finder tilsvarende anvendelse, hvis pengeinstituttet giver låntageren henstand, uden at kautionisten har givet samtykke hertil.</a:t>
            </a:r>
          </a:p>
        </p:txBody>
      </p:sp>
      <p:sp>
        <p:nvSpPr>
          <p:cNvPr id="3" name="Pladsholder til slidenummer 2"/>
          <p:cNvSpPr>
            <a:spLocks noGrp="1"/>
          </p:cNvSpPr>
          <p:nvPr>
            <p:ph type="sldNum" sz="quarter" idx="7"/>
          </p:nvPr>
        </p:nvSpPr>
        <p:spPr/>
        <p:txBody>
          <a:bodyPr/>
          <a:lstStyle/>
          <a:p>
            <a:fld id="{B6F15528-21DE-4FAA-801E-634DDDAF4B2B}" type="slidenum">
              <a:rPr lang="da-DK" smtClean="0"/>
              <a:t>15</a:t>
            </a:fld>
            <a:endParaRPr lang="da-DK"/>
          </a:p>
        </p:txBody>
      </p:sp>
    </p:spTree>
    <p:extLst>
      <p:ext uri="{BB962C8B-B14F-4D97-AF65-F5344CB8AC3E}">
        <p14:creationId xmlns:p14="http://schemas.microsoft.com/office/powerpoint/2010/main" val="1355012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30" y="500464"/>
            <a:ext cx="9282309" cy="601570"/>
          </a:xfrm>
          <a:prstGeom prst="rect">
            <a:avLst/>
          </a:prstGeom>
        </p:spPr>
        <p:txBody>
          <a:bodyPr vert="horz" wrap="square" lIns="0" tIns="13584" rIns="0" bIns="0" rtlCol="0">
            <a:spAutoFit/>
          </a:bodyPr>
          <a:lstStyle/>
          <a:p>
            <a:pPr marL="12937">
              <a:spcBef>
                <a:spcPts val="107"/>
              </a:spcBef>
              <a:tabLst>
                <a:tab pos="1960677" algn="l"/>
                <a:tab pos="4550115" algn="l"/>
              </a:tabLst>
            </a:pPr>
            <a:r>
              <a:rPr lang="da-DK" spc="290" dirty="0"/>
              <a:t>Opgave 5</a:t>
            </a:r>
            <a:endParaRPr spc="290" dirty="0"/>
          </a:p>
        </p:txBody>
      </p:sp>
      <p:sp>
        <p:nvSpPr>
          <p:cNvPr id="4" name="object 4"/>
          <p:cNvSpPr/>
          <p:nvPr/>
        </p:nvSpPr>
        <p:spPr>
          <a:xfrm>
            <a:off x="511930" y="1164331"/>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5" name="object 5"/>
          <p:cNvSpPr/>
          <p:nvPr/>
        </p:nvSpPr>
        <p:spPr>
          <a:xfrm>
            <a:off x="511930" y="310488"/>
            <a:ext cx="8915549" cy="97028"/>
          </a:xfrm>
          <a:custGeom>
            <a:avLst/>
            <a:gdLst/>
            <a:ahLst/>
            <a:cxnLst/>
            <a:rect l="l" t="t" r="r" b="b"/>
            <a:pathLst>
              <a:path w="8752205" h="95250">
                <a:moveTo>
                  <a:pt x="0" y="0"/>
                </a:moveTo>
                <a:lnTo>
                  <a:pt x="8752136" y="0"/>
                </a:lnTo>
                <a:lnTo>
                  <a:pt x="8752136" y="95250"/>
                </a:lnTo>
                <a:lnTo>
                  <a:pt x="0" y="95250"/>
                </a:lnTo>
                <a:lnTo>
                  <a:pt x="0" y="0"/>
                </a:lnTo>
                <a:close/>
              </a:path>
            </a:pathLst>
          </a:custGeom>
          <a:solidFill>
            <a:srgbClr val="1F375B"/>
          </a:solidFill>
        </p:spPr>
        <p:txBody>
          <a:bodyPr wrap="square" lIns="0" tIns="0" rIns="0" bIns="0" rtlCol="0"/>
          <a:lstStyle/>
          <a:p>
            <a:endParaRPr sz="2037"/>
          </a:p>
        </p:txBody>
      </p:sp>
      <p:sp>
        <p:nvSpPr>
          <p:cNvPr id="7" name="object 7"/>
          <p:cNvSpPr txBox="1"/>
          <p:nvPr/>
        </p:nvSpPr>
        <p:spPr>
          <a:xfrm>
            <a:off x="511930" y="1779533"/>
            <a:ext cx="8915548" cy="4633811"/>
          </a:xfrm>
          <a:prstGeom prst="rect">
            <a:avLst/>
          </a:prstGeom>
        </p:spPr>
        <p:txBody>
          <a:bodyPr vert="horz" wrap="square" lIns="0" tIns="199877" rIns="0" bIns="0" rtlCol="0">
            <a:spAutoFit/>
          </a:bodyPr>
          <a:lstStyle/>
          <a:p>
            <a:r>
              <a:rPr lang="da-DK" sz="1800" i="1" dirty="0">
                <a:solidFill>
                  <a:srgbClr val="FF0000"/>
                </a:solidFill>
              </a:rPr>
              <a:t>Stk. 7. Overskrides fristen i stk. 6, kan kautionsforpligtelsen kun gøres gældende over for kautionisten for det beløb, som låntagerens gæld efter den sikrede fordring ville have udgjort, hvis låntageren havde betalt alle ydelser rettidigt indtil det tidspunkt, som ligger 3 måneder forud for det tidspunkt, hvor meddelelse gives.</a:t>
            </a:r>
          </a:p>
          <a:p>
            <a:endParaRPr lang="da-DK" sz="1800" i="1" dirty="0">
              <a:solidFill>
                <a:srgbClr val="FF0000"/>
              </a:solidFill>
            </a:endParaRPr>
          </a:p>
          <a:p>
            <a:r>
              <a:rPr lang="da-DK" sz="1800" i="1" dirty="0">
                <a:solidFill>
                  <a:srgbClr val="FF0000"/>
                </a:solidFill>
              </a:rPr>
              <a:t>Stk. 8. Overskridelse af fristen i stk. 6 medfører uanset stk. 7, at pengeinstituttet taber sit krav over for kautionisten, i det omfang dennes regreskrav mod låntageren er blevet forringet.</a:t>
            </a:r>
          </a:p>
          <a:p>
            <a:br>
              <a:rPr lang="da-DK" sz="1800" dirty="0">
                <a:solidFill>
                  <a:srgbClr val="FF0000"/>
                </a:solidFill>
              </a:rPr>
            </a:br>
            <a:r>
              <a:rPr lang="da-DK" sz="1800" i="1" dirty="0">
                <a:solidFill>
                  <a:srgbClr val="FF0000"/>
                </a:solidFill>
              </a:rPr>
              <a:t>Det fremgår af opgaven, at Harry med stor sandsynlighed ville kunne have fået fuldt udbytte af sit regreskrav, hvis banken havde gjort sit krav gældende på et tidligere tidspunkt. </a:t>
            </a:r>
          </a:p>
          <a:p>
            <a:endParaRPr lang="da-DK" sz="1800" i="1" dirty="0">
              <a:solidFill>
                <a:srgbClr val="FF0000"/>
              </a:solidFill>
            </a:endParaRPr>
          </a:p>
          <a:p>
            <a:r>
              <a:rPr lang="da-DK" sz="1800" i="1" dirty="0">
                <a:solidFill>
                  <a:srgbClr val="FF0000"/>
                </a:solidFill>
              </a:rPr>
              <a:t>Det fremgår også, at kravet nu er værdiløst. </a:t>
            </a:r>
          </a:p>
          <a:p>
            <a:endParaRPr lang="da-DK" sz="1800" i="1" dirty="0">
              <a:solidFill>
                <a:srgbClr val="FF0000"/>
              </a:solidFill>
            </a:endParaRPr>
          </a:p>
          <a:p>
            <a:r>
              <a:rPr lang="da-DK" sz="1800" i="1" dirty="0">
                <a:solidFill>
                  <a:srgbClr val="FF0000"/>
                </a:solidFill>
              </a:rPr>
              <a:t>Konklusion: </a:t>
            </a:r>
          </a:p>
          <a:p>
            <a:r>
              <a:rPr lang="da-DK" sz="1800" i="1" dirty="0">
                <a:solidFill>
                  <a:srgbClr val="FF0000"/>
                </a:solidFill>
              </a:rPr>
              <a:t>HCA Banks krav i henhold til kautionen er derfor fortabt, jf. FVL § 48, stk. 8, jf. § 48, stk. 6.</a:t>
            </a:r>
          </a:p>
          <a:p>
            <a:r>
              <a:rPr lang="da-DK" sz="1800" dirty="0">
                <a:solidFill>
                  <a:srgbClr val="FF0000"/>
                </a:solidFill>
              </a:rPr>
              <a:t> </a:t>
            </a:r>
          </a:p>
        </p:txBody>
      </p:sp>
      <p:sp>
        <p:nvSpPr>
          <p:cNvPr id="3" name="Pladsholder til slidenummer 2"/>
          <p:cNvSpPr>
            <a:spLocks noGrp="1"/>
          </p:cNvSpPr>
          <p:nvPr>
            <p:ph type="sldNum" sz="quarter" idx="7"/>
          </p:nvPr>
        </p:nvSpPr>
        <p:spPr/>
        <p:txBody>
          <a:bodyPr/>
          <a:lstStyle/>
          <a:p>
            <a:fld id="{B6F15528-21DE-4FAA-801E-634DDDAF4B2B}" type="slidenum">
              <a:rPr lang="da-DK" smtClean="0"/>
              <a:t>16</a:t>
            </a:fld>
            <a:endParaRPr lang="da-DK"/>
          </a:p>
        </p:txBody>
      </p:sp>
    </p:spTree>
    <p:extLst>
      <p:ext uri="{BB962C8B-B14F-4D97-AF65-F5344CB8AC3E}">
        <p14:creationId xmlns:p14="http://schemas.microsoft.com/office/powerpoint/2010/main" val="2612765176"/>
      </p:ext>
    </p:extLst>
  </p:cSld>
  <p:clrMapOvr>
    <a:masterClrMapping/>
  </p:clrMapOvr>
</p:sld>
</file>

<file path=ppt/theme/theme1.xml><?xml version="1.0" encoding="utf-8"?>
<a:theme xmlns:a="http://schemas.openxmlformats.org/drawingml/2006/main" name="cphbusiness POWERPOINT skabel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0E7AEDA699A6046B28BDB03A4B3ACE5" ma:contentTypeVersion="18" ma:contentTypeDescription="Create a new document." ma:contentTypeScope="" ma:versionID="02e15c3bcd745aa8f170db0a17cd0653">
  <xsd:schema xmlns:xsd="http://www.w3.org/2001/XMLSchema" xmlns:xs="http://www.w3.org/2001/XMLSchema" xmlns:p="http://schemas.microsoft.com/office/2006/metadata/properties" xmlns:ns1="http://schemas.microsoft.com/sharepoint/v3" xmlns:ns2="7d4bd1a6-963b-4ce5-9d6a-82f9bec88dc5" xmlns:ns3="d40e101a-1fec-4fbd-a9d0-ed41492f4cd8" targetNamespace="http://schemas.microsoft.com/office/2006/metadata/properties" ma:root="true" ma:fieldsID="e9ef13896b839d8d93edccf46d0a437c" ns1:_="" ns2:_="" ns3:_="">
    <xsd:import namespace="http://schemas.microsoft.com/sharepoint/v3"/>
    <xsd:import namespace="7d4bd1a6-963b-4ce5-9d6a-82f9bec88dc5"/>
    <xsd:import namespace="d40e101a-1fec-4fbd-a9d0-ed41492f4cd8"/>
    <xsd:element name="properties">
      <xsd:complexType>
        <xsd:sequence>
          <xsd:element name="documentManagement">
            <xsd:complexType>
              <xsd:all>
                <xsd:element ref="ns2:SharedWithUsers" minOccurs="0"/>
                <xsd:element ref="ns2:SharedWithDetails" minOccurs="0"/>
                <xsd:element ref="ns3:Initials" minOccurs="0"/>
                <xsd:element ref="ns3:Semester" minOccurs="0"/>
                <xsd:element ref="ns3:Indhold" minOccurs="0"/>
                <xsd:element ref="ns3:MediaServiceMetadata" minOccurs="0"/>
                <xsd:element ref="ns3:MediaServiceFastMetadata" minOccurs="0"/>
                <xsd:element ref="ns3:MediaServiceDateTaken" minOccurs="0"/>
                <xsd:element ref="ns3:MediaServiceAutoTags" minOccurs="0"/>
                <xsd:element ref="ns3: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description="" ma:hidden="true" ma:internalName="_ip_UnifiedCompliancePolicyProperties">
      <xsd:simpleType>
        <xsd:restriction base="dms:Note"/>
      </xsd:simpleType>
    </xsd:element>
    <xsd:element name="_ip_UnifiedCompliancePolicyUIAction" ma:index="20" nillable="true" ma:displayName="Unified Compliance Policy UI Action" ma:descrip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d4bd1a6-963b-4ce5-9d6a-82f9bec88dc5"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40e101a-1fec-4fbd-a9d0-ed41492f4cd8" elementFormDefault="qualified">
    <xsd:import namespace="http://schemas.microsoft.com/office/2006/documentManagement/types"/>
    <xsd:import namespace="http://schemas.microsoft.com/office/infopath/2007/PartnerControls"/>
    <xsd:element name="Initials" ma:index="10" nillable="true" ma:displayName="Flow" ma:internalName="Initials">
      <xsd:simpleType>
        <xsd:restriction base="dms:Text">
          <xsd:maxLength value="255"/>
        </xsd:restriction>
      </xsd:simpleType>
    </xsd:element>
    <xsd:element name="Semester" ma:index="12" nillable="true" ma:displayName="Semester" ma:internalName="Semester">
      <xsd:simpleType>
        <xsd:restriction base="dms:Text">
          <xsd:maxLength value="255"/>
        </xsd:restriction>
      </xsd:simpleType>
    </xsd:element>
    <xsd:element name="Indhold" ma:index="13" nillable="true" ma:displayName="Indhold" ma:internalName="Indhold">
      <xsd:simpleType>
        <xsd:restriction base="dms:Note">
          <xsd:maxLength value="255"/>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DateTaken" ma:index="16" nillable="true" ma:displayName="MediaServiceDateTaken" ma:description="" ma:hidden="true" ma:internalName="MediaServiceDateTaken" ma:readOnly="true">
      <xsd:simpleType>
        <xsd:restriction base="dms:Text"/>
      </xsd:simpleType>
    </xsd:element>
    <xsd:element name="MediaServiceAutoTags" ma:index="17" nillable="true" ma:displayName="MediaServiceAutoTags" ma:description="" ma:internalName="MediaServiceAutoTags" ma:readOnly="true">
      <xsd:simpleType>
        <xsd:restriction base="dms:Text"/>
      </xsd:simpleType>
    </xsd:element>
    <xsd:element name="MediaServiceLocation" ma:index="18" nillable="true" ma:displayName="MediaServiceLocation" ma:descrip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ma:index="11" ma:displayName="Subject"/>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Indhold xmlns="d40e101a-1fec-4fbd-a9d0-ed41492f4cd8" xsi:nil="true"/>
    <_ip_UnifiedCompliancePolicyUIAction xmlns="http://schemas.microsoft.com/sharepoint/v3" xsi:nil="true"/>
    <Initials xmlns="d40e101a-1fec-4fbd-a9d0-ed41492f4cd8" xsi:nil="true"/>
    <Semester xmlns="d40e101a-1fec-4fbd-a9d0-ed41492f4cd8"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DD3E5E-6749-43E6-B4E0-0299C6A376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d4bd1a6-963b-4ce5-9d6a-82f9bec88dc5"/>
    <ds:schemaRef ds:uri="d40e101a-1fec-4fbd-a9d0-ed41492f4c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C83B8EF-2B6D-4B79-9A29-2F5E34987912}">
  <ds:schemaRefs>
    <ds:schemaRef ds:uri="http://purl.org/dc/terms/"/>
    <ds:schemaRef ds:uri="http://schemas.microsoft.com/office/infopath/2007/PartnerControls"/>
    <ds:schemaRef ds:uri="http://schemas.openxmlformats.org/package/2006/metadata/core-properties"/>
    <ds:schemaRef ds:uri="http://purl.org/dc/dcmitype/"/>
    <ds:schemaRef ds:uri="http://schemas.microsoft.com/office/2006/documentManagement/types"/>
    <ds:schemaRef ds:uri="d40e101a-1fec-4fbd-a9d0-ed41492f4cd8"/>
    <ds:schemaRef ds:uri="7d4bd1a6-963b-4ce5-9d6a-82f9bec88dc5"/>
    <ds:schemaRef ds:uri="http://schemas.microsoft.com/sharepoint/v3"/>
    <ds:schemaRef ds:uri="http://schemas.microsoft.com/office/2006/metadata/properties"/>
    <ds:schemaRef ds:uri="http://www.w3.org/XML/1998/namespace"/>
    <ds:schemaRef ds:uri="http://purl.org/dc/elements/1.1/"/>
  </ds:schemaRefs>
</ds:datastoreItem>
</file>

<file path=customXml/itemProps3.xml><?xml version="1.0" encoding="utf-8"?>
<ds:datastoreItem xmlns:ds="http://schemas.openxmlformats.org/officeDocument/2006/customXml" ds:itemID="{B0C7140B-B232-46A9-9118-1C333411689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14671</TotalTime>
  <Words>2205</Words>
  <Application>Microsoft Office PowerPoint</Application>
  <PresentationFormat>Brugerdefineret</PresentationFormat>
  <Paragraphs>186</Paragraphs>
  <Slides>16</Slides>
  <Notes>0</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16</vt:i4>
      </vt:variant>
    </vt:vector>
  </HeadingPairs>
  <TitlesOfParts>
    <vt:vector size="21" baseType="lpstr">
      <vt:lpstr>Arial</vt:lpstr>
      <vt:lpstr>Calibri</vt:lpstr>
      <vt:lpstr>Verdana</vt:lpstr>
      <vt:lpstr>Wingdings</vt:lpstr>
      <vt:lpstr>cphbusiness POWERPOINT skabelon</vt:lpstr>
      <vt:lpstr>PowerPoint-præsentation</vt:lpstr>
      <vt:lpstr>Opgave 1</vt:lpstr>
      <vt:lpstr>Opgave 1</vt:lpstr>
      <vt:lpstr>Opgave 2</vt:lpstr>
      <vt:lpstr>Opgave 2</vt:lpstr>
      <vt:lpstr>Opgave 3</vt:lpstr>
      <vt:lpstr>Opgave 3</vt:lpstr>
      <vt:lpstr>Opgave 3</vt:lpstr>
      <vt:lpstr>Opgave 3</vt:lpstr>
      <vt:lpstr>Opgave 4</vt:lpstr>
      <vt:lpstr>Opgave 4</vt:lpstr>
      <vt:lpstr>Opgave 4</vt:lpstr>
      <vt:lpstr>Opgave 5</vt:lpstr>
      <vt:lpstr>Opgave 5</vt:lpstr>
      <vt:lpstr>Opgave 5</vt:lpstr>
      <vt:lpstr>Opgave 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Dias nummer 1</dc:title>
  <dc:creator>soth@cphbusiness.dk</dc:creator>
  <cp:keywords>Erhvervsjura</cp:keywords>
  <cp:lastModifiedBy>Søren Thestrup (SOTH - Lektor - Cphbusiness)</cp:lastModifiedBy>
  <cp:revision>515</cp:revision>
  <cp:lastPrinted>2018-12-11T14:55:36Z</cp:lastPrinted>
  <dcterms:created xsi:type="dcterms:W3CDTF">2012-08-10T08:33:35Z</dcterms:created>
  <dcterms:modified xsi:type="dcterms:W3CDTF">2024-05-17T12:11:26Z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0x01010050E7AEDA699A6046B28BDB03A4B3ACE5</vt:lpwstr>
  </property>
</Properties>
</file>