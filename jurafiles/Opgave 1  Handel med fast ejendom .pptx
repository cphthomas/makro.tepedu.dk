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710" r:id="rId5"/>
    <p:sldId id="757" r:id="rId6"/>
    <p:sldId id="758" r:id="rId7"/>
    <p:sldId id="759" r:id="rId8"/>
    <p:sldId id="760" r:id="rId9"/>
    <p:sldId id="761" r:id="rId10"/>
    <p:sldId id="762" r:id="rId11"/>
    <p:sldId id="763" r:id="rId12"/>
    <p:sldId id="764" r:id="rId13"/>
    <p:sldId id="765" r:id="rId14"/>
  </p:sldIdLst>
  <p:sldSz cx="9939338" cy="7451725"/>
  <p:notesSz cx="6797675" cy="9926638"/>
  <p:defaultTextStyle>
    <a:defPPr>
      <a:defRPr lang="en-US"/>
    </a:defPPr>
    <a:lvl1pPr marL="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688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377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065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8754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442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131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7819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7508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7">
          <p15:clr>
            <a:srgbClr val="A4A3A4"/>
          </p15:clr>
        </p15:guide>
        <p15:guide id="2" pos="31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63B"/>
    <a:srgbClr val="FBB0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71" autoAdjust="0"/>
  </p:normalViewPr>
  <p:slideViewPr>
    <p:cSldViewPr snapToGrid="0" snapToObjects="1">
      <p:cViewPr varScale="1">
        <p:scale>
          <a:sx n="59" d="100"/>
          <a:sy n="59" d="100"/>
        </p:scale>
        <p:origin x="1376" y="48"/>
      </p:cViewPr>
      <p:guideLst>
        <p:guide orient="horz" pos="2347"/>
        <p:guide pos="31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958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51098" y="0"/>
            <a:ext cx="2944958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a-DK"/>
              <a:t>21-11-2017</a:t>
            </a:r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44958" cy="4968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51098" y="9428164"/>
            <a:ext cx="2944958" cy="4968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7331A-7756-4870-A527-9B237FF0DA0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121029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a-DK"/>
              <a:t>21-11-2017</a:t>
            </a:r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8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E0AAE-854D-43E9-AAB2-9F030F854A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066605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>
          <a:xfrm>
            <a:off x="0" y="0"/>
            <a:ext cx="9944004" cy="7451725"/>
          </a:xfrm>
          <a:prstGeom prst="rect">
            <a:avLst/>
          </a:prstGeom>
          <a:solidFill>
            <a:srgbClr val="001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1" descr="5fotos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88" y="1279054"/>
            <a:ext cx="8309043" cy="2029164"/>
          </a:xfrm>
          <a:prstGeom prst="rect">
            <a:avLst/>
          </a:prstGeom>
        </p:spPr>
      </p:pic>
      <p:pic>
        <p:nvPicPr>
          <p:cNvPr id="10" name="Picture 2" descr="CPH_CBA_Payoff_NEG_CMYK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90" y="1149719"/>
            <a:ext cx="7311326" cy="198320"/>
          </a:xfrm>
          <a:prstGeom prst="rect">
            <a:avLst/>
          </a:prstGeom>
        </p:spPr>
      </p:pic>
      <p:sp>
        <p:nvSpPr>
          <p:cNvPr id="20" name="Pladsholder til tekst 19"/>
          <p:cNvSpPr>
            <a:spLocks noGrp="1"/>
          </p:cNvSpPr>
          <p:nvPr>
            <p:ph type="body" sz="quarter" idx="10" hasCustomPrompt="1"/>
          </p:nvPr>
        </p:nvSpPr>
        <p:spPr>
          <a:xfrm>
            <a:off x="1127236" y="3639312"/>
            <a:ext cx="7399879" cy="784687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buNone/>
              <a:defRPr sz="3600">
                <a:solidFill>
                  <a:srgbClr val="FBB04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da-DK" dirty="0"/>
              <a:t>Tilføj titel</a:t>
            </a:r>
          </a:p>
        </p:txBody>
      </p:sp>
      <p:sp>
        <p:nvSpPr>
          <p:cNvPr id="22" name="Pladsholder til tekst 21"/>
          <p:cNvSpPr>
            <a:spLocks noGrp="1"/>
          </p:cNvSpPr>
          <p:nvPr>
            <p:ph type="body" sz="quarter" idx="11" hasCustomPrompt="1"/>
          </p:nvPr>
        </p:nvSpPr>
        <p:spPr>
          <a:xfrm>
            <a:off x="1127236" y="4426458"/>
            <a:ext cx="7409023" cy="2285238"/>
          </a:xfrm>
          <a:prstGeom prst="rect">
            <a:avLst/>
          </a:prstGeom>
        </p:spPr>
        <p:txBody>
          <a:bodyPr/>
          <a:lstStyle>
            <a:lvl1pPr>
              <a:buNone/>
              <a:defRPr sz="140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da-DK" dirty="0">
                <a:solidFill>
                  <a:srgbClr val="FFFFFF"/>
                </a:solidFill>
              </a:rPr>
              <a:t>PowerPoint 31.07.2012 [RET DATO]</a:t>
            </a:r>
            <a:endParaRPr lang="da-DK" dirty="0"/>
          </a:p>
        </p:txBody>
      </p:sp>
      <p:pic>
        <p:nvPicPr>
          <p:cNvPr id="11" name="Picture 5" descr="CPHbusinessNEG_RGB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8" y="10855"/>
            <a:ext cx="2339996" cy="92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4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 em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/>
          <p:nvPr userDrawn="1"/>
        </p:nvSpPr>
        <p:spPr>
          <a:xfrm>
            <a:off x="0" y="0"/>
            <a:ext cx="9944004" cy="7451725"/>
          </a:xfrm>
          <a:prstGeom prst="rect">
            <a:avLst/>
          </a:prstGeom>
          <a:solidFill>
            <a:srgbClr val="001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6" descr="3fotos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88" y="1304241"/>
            <a:ext cx="7500977" cy="3443013"/>
          </a:xfrm>
          <a:prstGeom prst="rect">
            <a:avLst/>
          </a:prstGeom>
        </p:spPr>
      </p:pic>
      <p:sp>
        <p:nvSpPr>
          <p:cNvPr id="8" name="Pladsholder til tekst 7"/>
          <p:cNvSpPr>
            <a:spLocks noGrp="1"/>
          </p:cNvSpPr>
          <p:nvPr>
            <p:ph type="body" sz="quarter" idx="10" hasCustomPrompt="1"/>
          </p:nvPr>
        </p:nvSpPr>
        <p:spPr>
          <a:xfrm>
            <a:off x="1127402" y="4855464"/>
            <a:ext cx="7589363" cy="779609"/>
          </a:xfrm>
          <a:prstGeom prst="rect">
            <a:avLst/>
          </a:prstGeom>
        </p:spPr>
        <p:txBody>
          <a:bodyPr/>
          <a:lstStyle>
            <a:lvl1pPr>
              <a:buNone/>
              <a:defRPr sz="3600">
                <a:solidFill>
                  <a:srgbClr val="FBB040"/>
                </a:solidFill>
              </a:defRPr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2" name="Pladsholder til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1127237" y="5644216"/>
            <a:ext cx="7589528" cy="1488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da-DK" dirty="0" err="1"/>
              <a:t>Duis</a:t>
            </a:r>
            <a:r>
              <a:rPr lang="da-DK" dirty="0"/>
              <a:t> </a:t>
            </a:r>
            <a:r>
              <a:rPr lang="da-DK" dirty="0" err="1"/>
              <a:t>autem</a:t>
            </a:r>
            <a:r>
              <a:rPr lang="da-DK" dirty="0"/>
              <a:t> vel </a:t>
            </a:r>
            <a:r>
              <a:rPr lang="da-DK" dirty="0" err="1"/>
              <a:t>eum</a:t>
            </a:r>
            <a:r>
              <a:rPr lang="da-DK" dirty="0"/>
              <a:t> </a:t>
            </a:r>
            <a:r>
              <a:rPr lang="da-DK" dirty="0" err="1"/>
              <a:t>iriure</a:t>
            </a:r>
            <a:r>
              <a:rPr lang="da-DK" dirty="0"/>
              <a:t> </a:t>
            </a:r>
            <a:r>
              <a:rPr lang="da-DK" dirty="0" err="1"/>
              <a:t>dolor</a:t>
            </a:r>
            <a:r>
              <a:rPr lang="da-DK" dirty="0"/>
              <a:t> in </a:t>
            </a:r>
            <a:r>
              <a:rPr lang="da-DK" dirty="0" err="1"/>
              <a:t>hendrerit</a:t>
            </a:r>
            <a:r>
              <a:rPr lang="da-DK" dirty="0"/>
              <a:t> in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velit</a:t>
            </a:r>
            <a:r>
              <a:rPr lang="da-DK" dirty="0"/>
              <a:t> </a:t>
            </a:r>
            <a:r>
              <a:rPr lang="da-DK" dirty="0" err="1"/>
              <a:t>hendrerit</a:t>
            </a:r>
            <a:r>
              <a:rPr lang="da-DK" dirty="0"/>
              <a:t> in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velit</a:t>
            </a:r>
            <a:r>
              <a:rPr lang="da-DK" dirty="0"/>
              <a:t> </a:t>
            </a:r>
            <a:r>
              <a:rPr lang="da-DK" dirty="0" err="1"/>
              <a:t>hendrerit</a:t>
            </a:r>
            <a:r>
              <a:rPr lang="da-DK" dirty="0"/>
              <a:t> in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velit</a:t>
            </a:r>
            <a:endParaRPr lang="da-DK" dirty="0"/>
          </a:p>
        </p:txBody>
      </p:sp>
      <p:pic>
        <p:nvPicPr>
          <p:cNvPr id="6" name="Picture 5" descr="CPHbusinessNEG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8" y="10855"/>
            <a:ext cx="2339996" cy="9279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tekst 5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6" y="727670"/>
            <a:ext cx="8789988" cy="1242418"/>
          </a:xfrm>
          <a:prstGeom prst="rect">
            <a:avLst/>
          </a:prstGeom>
        </p:spPr>
        <p:txBody>
          <a:bodyPr/>
          <a:lstStyle>
            <a:lvl1pPr>
              <a:buNone/>
              <a:defRPr sz="3600" b="1" baseline="0">
                <a:solidFill>
                  <a:srgbClr val="FBB040"/>
                </a:solidFill>
              </a:defRPr>
            </a:lvl1pPr>
          </a:lstStyle>
          <a:p>
            <a:pPr lvl="0"/>
            <a:r>
              <a:rPr lang="da-DK" dirty="0"/>
              <a:t>Skriv titel</a:t>
            </a:r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1"/>
          </p:nvPr>
        </p:nvSpPr>
        <p:spPr>
          <a:xfrm>
            <a:off x="879373" y="2773085"/>
            <a:ext cx="8054315" cy="3600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163B"/>
                </a:solidFill>
              </a:defRPr>
            </a:lvl1pPr>
            <a:lvl2pPr>
              <a:defRPr>
                <a:solidFill>
                  <a:srgbClr val="00163B"/>
                </a:solidFill>
              </a:defRPr>
            </a:lvl2pPr>
            <a:lvl3pPr>
              <a:defRPr>
                <a:solidFill>
                  <a:srgbClr val="00163B"/>
                </a:solidFill>
              </a:defRPr>
            </a:lvl3pPr>
            <a:lvl4pPr>
              <a:defRPr>
                <a:solidFill>
                  <a:srgbClr val="00163B"/>
                </a:solidFill>
              </a:defRPr>
            </a:lvl4pPr>
            <a:lvl5pPr>
              <a:defRPr>
                <a:solidFill>
                  <a:srgbClr val="00163B"/>
                </a:solidFill>
              </a:defRPr>
            </a:lvl5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20" b="0" i="0">
                <a:solidFill>
                  <a:srgbClr val="1F37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34052-9428-4883-86A8-E540AA80AF32}" type="datetime1">
              <a:rPr lang="en-US" smtClean="0"/>
              <a:t>5/27/2024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6522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PHbusiness_RGB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334" y="10867"/>
            <a:ext cx="2347874" cy="93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3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4" r:id="rId4"/>
  </p:sldLayoutIdLst>
  <p:hf hdr="0" ftr="0" dt="0"/>
  <p:txStyles>
    <p:titleStyle>
      <a:lvl1pPr algn="l" defTabSz="496885" rtl="0" eaLnBrk="1" latinLnBrk="0" hangingPunct="1">
        <a:spcBef>
          <a:spcPct val="0"/>
        </a:spcBef>
        <a:buNone/>
        <a:defRPr sz="3600" kern="1200">
          <a:solidFill>
            <a:srgbClr val="FBB040"/>
          </a:solidFill>
          <a:latin typeface="Verdana"/>
          <a:ea typeface="+mj-ea"/>
          <a:cs typeface="Verdana"/>
        </a:defRPr>
      </a:lvl1pPr>
    </p:titleStyle>
    <p:bodyStyle>
      <a:lvl1pPr marL="372664" indent="-372664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1pPr>
      <a:lvl2pPr marL="807438" indent="-310553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2pPr>
      <a:lvl3pPr marL="1242212" indent="-248442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3pPr>
      <a:lvl4pPr marL="1739097" indent="-248442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4pPr>
      <a:lvl5pPr marL="2235982" indent="-248442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5pPr>
      <a:lvl6pPr marL="2732867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29752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26637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23522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688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377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065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8754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442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131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7819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7508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5345" y="31175"/>
            <a:ext cx="9944004" cy="7456750"/>
          </a:xfrm>
          <a:prstGeom prst="rect">
            <a:avLst/>
          </a:prstGeom>
          <a:solidFill>
            <a:srgbClr val="001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/>
          <p:cNvSpPr txBox="1">
            <a:spLocks/>
          </p:cNvSpPr>
          <p:nvPr/>
        </p:nvSpPr>
        <p:spPr>
          <a:xfrm>
            <a:off x="769740" y="3342399"/>
            <a:ext cx="9070946" cy="1694296"/>
          </a:xfrm>
          <a:prstGeom prst="rect">
            <a:avLst/>
          </a:prstGeom>
        </p:spPr>
        <p:txBody>
          <a:bodyPr vert="horz" lIns="99377" tIns="49688" rIns="99377" bIns="49688" rtlCol="0" anchor="ctr">
            <a:noAutofit/>
          </a:bodyPr>
          <a:lstStyle>
            <a:lvl1pPr algn="l" defTabSz="496885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BB04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da-DK" b="1" dirty="0"/>
              <a:t>Opgave 1 / Handel med fast ejendom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788366" y="4765040"/>
            <a:ext cx="8497147" cy="2499360"/>
          </a:xfrm>
          <a:prstGeom prst="rect">
            <a:avLst/>
          </a:prstGeom>
        </p:spPr>
        <p:txBody>
          <a:bodyPr vert="horz" lIns="99377" tIns="49688" rIns="99377" bIns="49688" rtlCol="0">
            <a:noAutofit/>
          </a:bodyPr>
          <a:lstStyle>
            <a:lvl1pPr marL="372664" indent="-372664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1pPr>
            <a:lvl2pPr marL="807438" indent="-310553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2pPr>
            <a:lvl3pPr marL="1242212" indent="-248442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3pPr>
            <a:lvl4pPr marL="1739097" indent="-248442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4pPr>
            <a:lvl5pPr marL="2235982" indent="-248442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5pPr>
            <a:lvl6pPr marL="2732867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29752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26637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3522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Uddannelsessted: 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CPH Business Academy, Hillerød afdeling. </a:t>
            </a:r>
          </a:p>
          <a:p>
            <a:pPr marL="0" indent="0">
              <a:buNone/>
            </a:pPr>
            <a:endParaRPr lang="da-DK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Mål: 	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Opnå viden om handel med fast ejendom</a:t>
            </a:r>
          </a:p>
          <a:p>
            <a:pPr marL="0" indent="0">
              <a:buNone/>
            </a:pPr>
            <a:endParaRPr lang="da-DK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Undervisningsdag: 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2024</a:t>
            </a:r>
          </a:p>
          <a:p>
            <a:pPr marL="0" indent="0">
              <a:buNone/>
            </a:pPr>
            <a:endParaRPr lang="da-DK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Underviser: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Søren Thestrup, lektor, cand.jur.</a:t>
            </a:r>
          </a:p>
        </p:txBody>
      </p:sp>
      <p:pic>
        <p:nvPicPr>
          <p:cNvPr id="6" name="Picture 5" descr="CPHbusinessNEG_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8" y="10855"/>
            <a:ext cx="2339996" cy="927977"/>
          </a:xfrm>
          <a:prstGeom prst="rect">
            <a:avLst/>
          </a:prstGeom>
        </p:spPr>
      </p:pic>
      <p:pic>
        <p:nvPicPr>
          <p:cNvPr id="3" name="Picture 2" descr="CPH_CBA_Payoff_NEG_CMYK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04" y="1149719"/>
            <a:ext cx="7311326" cy="198320"/>
          </a:xfrm>
          <a:prstGeom prst="rect">
            <a:avLst/>
          </a:prstGeom>
        </p:spPr>
      </p:pic>
      <p:pic>
        <p:nvPicPr>
          <p:cNvPr id="7" name="Billed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24" y="1722476"/>
            <a:ext cx="3783970" cy="1433322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983" y="1722476"/>
            <a:ext cx="1471131" cy="1433322"/>
          </a:xfrm>
          <a:prstGeom prst="rect">
            <a:avLst/>
          </a:prstGeom>
        </p:spPr>
      </p:pic>
      <p:pic>
        <p:nvPicPr>
          <p:cNvPr id="10" name="Billed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473" y="1722476"/>
            <a:ext cx="1707442" cy="145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56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383049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2.1. Formidlingsaftale</a:t>
            </a:r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2664041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endParaRPr lang="da-DK" dirty="0"/>
          </a:p>
          <a:p>
            <a:r>
              <a:rPr lang="da-DK" dirty="0"/>
              <a:t>1. Hvem er parterne i en formidlingsaftale</a:t>
            </a:r>
          </a:p>
          <a:p>
            <a:endParaRPr lang="da-DK" dirty="0"/>
          </a:p>
          <a:p>
            <a:r>
              <a:rPr lang="da-DK" dirty="0"/>
              <a:t>2. Hvad skal en formidlingsaftale mindst indeholde?</a:t>
            </a:r>
          </a:p>
          <a:p>
            <a:endParaRPr lang="da-DK" dirty="0"/>
          </a:p>
          <a:p>
            <a:r>
              <a:rPr lang="da-DK" dirty="0"/>
              <a:t>3. Hvilken regel skal en formidlingsaftale overholde i LOFE?</a:t>
            </a:r>
          </a:p>
          <a:p>
            <a:endParaRPr lang="da-DK" dirty="0"/>
          </a:p>
          <a:p>
            <a:r>
              <a:rPr lang="da-DK" dirty="0"/>
              <a:t>4. Hvor længe må en formidlingsaftale maksimalt gælde? 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9613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2.2. Ejendomsmæglers opgaver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509605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Når der er indgået formidlingsaftale hvilke opgaver har ejendomsmægler så: 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778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2.3. Tilstandsrapport &amp; El-installationsrapport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2971818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Hvem udarbejder tilstandsrapporten?</a:t>
            </a:r>
          </a:p>
          <a:p>
            <a:endParaRPr lang="da-DK" dirty="0"/>
          </a:p>
          <a:p>
            <a:r>
              <a:rPr lang="da-DK" dirty="0"/>
              <a:t>2. Hvilke installationer gennemgås ikke i en tilstandsrapport?</a:t>
            </a:r>
          </a:p>
          <a:p>
            <a:endParaRPr lang="da-DK" dirty="0"/>
          </a:p>
          <a:p>
            <a:r>
              <a:rPr lang="da-DK" dirty="0"/>
              <a:t>3. Hvilke mangler ses der efter i tilstandsrapporten?</a:t>
            </a:r>
          </a:p>
          <a:p>
            <a:endParaRPr lang="da-DK" dirty="0"/>
          </a:p>
          <a:p>
            <a:r>
              <a:rPr lang="da-DK" dirty="0"/>
              <a:t>4. Hvem har loyal oplysningspligt i en tilstandsrapport?</a:t>
            </a:r>
          </a:p>
          <a:p>
            <a:endParaRPr lang="da-DK" dirty="0"/>
          </a:p>
          <a:p>
            <a:r>
              <a:rPr lang="da-DK" dirty="0"/>
              <a:t>5. Hvem må udarbejde elinstallationsrapporten?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4831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2.4. Ejerskifteforsikring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2048488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På baggrund af tilstandsrapport og elinstallationsrapport indhentes et tilbud om ejerskifteforsikring</a:t>
            </a:r>
          </a:p>
          <a:p>
            <a:endParaRPr lang="da-DK" dirty="0"/>
          </a:p>
          <a:p>
            <a:pPr marL="457200" indent="-457200">
              <a:buAutoNum type="arabicPeriod"/>
            </a:pPr>
            <a:r>
              <a:rPr lang="da-DK" dirty="0"/>
              <a:t>Hvad er betingelserne for at sælger er fri for ansvar for fejl og mangler ved den faste ejendom – i henhold til LFFE?</a:t>
            </a:r>
          </a:p>
          <a:p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5948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2.5. Købsaftale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2971818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Hvem udfærdiger købsaftalen?</a:t>
            </a:r>
          </a:p>
          <a:p>
            <a:endParaRPr lang="da-DK" dirty="0"/>
          </a:p>
          <a:p>
            <a:r>
              <a:rPr lang="da-DK" dirty="0"/>
              <a:t>2. På hvilket grundlag udarbejdes købsaftalen?</a:t>
            </a:r>
          </a:p>
          <a:p>
            <a:endParaRPr lang="da-DK" dirty="0"/>
          </a:p>
          <a:p>
            <a:r>
              <a:rPr lang="da-DK" dirty="0"/>
              <a:t>3. Hvad skal fremhæves i købsaftalen?</a:t>
            </a:r>
          </a:p>
          <a:p>
            <a:endParaRPr lang="da-DK" dirty="0"/>
          </a:p>
          <a:p>
            <a:r>
              <a:rPr lang="da-DK" dirty="0"/>
              <a:t>4. Hvilke forbehold indsættes der ofte i en købsaftale fra købers side?</a:t>
            </a:r>
          </a:p>
          <a:p>
            <a:endParaRPr lang="da-DK" dirty="0"/>
          </a:p>
          <a:p>
            <a:r>
              <a:rPr lang="da-DK" dirty="0"/>
              <a:t>5. Hvem engagerer køber ofte til at gennemse købsaftalen?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535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2.6. Fortrydelsesret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2356265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Fortrydelsesretten er en fravigelse af princippet om, at aftaler skal holdes</a:t>
            </a:r>
          </a:p>
          <a:p>
            <a:endParaRPr lang="da-DK" dirty="0"/>
          </a:p>
          <a:p>
            <a:r>
              <a:rPr lang="da-DK" dirty="0"/>
              <a:t>1. Indtil hvornår kan en køber tilbagekalde sit tilbud? </a:t>
            </a:r>
          </a:p>
          <a:p>
            <a:endParaRPr lang="da-DK" dirty="0"/>
          </a:p>
          <a:p>
            <a:r>
              <a:rPr lang="da-DK" dirty="0"/>
              <a:t>2. Indtil hvornår kan en køber fortryde sit tilbud?</a:t>
            </a:r>
          </a:p>
          <a:p>
            <a:endParaRPr lang="da-DK" dirty="0"/>
          </a:p>
          <a:p>
            <a:r>
              <a:rPr lang="da-DK" dirty="0"/>
              <a:t>3. Har sælger en fortrydelsesret?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8454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2.7. Finansiering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1740712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Hvordan kan køber forberede finansiering af ejendomshandel?</a:t>
            </a:r>
          </a:p>
          <a:p>
            <a:endParaRPr lang="da-DK" dirty="0"/>
          </a:p>
          <a:p>
            <a:r>
              <a:rPr lang="da-DK" dirty="0"/>
              <a:t>2. Hvem skal yde køber rådgivning om finansiering?</a:t>
            </a:r>
          </a:p>
          <a:p>
            <a:endParaRPr lang="da-DK" dirty="0"/>
          </a:p>
          <a:p>
            <a:r>
              <a:rPr lang="da-DK" dirty="0"/>
              <a:t>3. Hvilke to handelstyper kan parterne vælge i 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4825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383049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2.8. Realkreditlån</a:t>
            </a:r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1125159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Hvor mange procent af ejendommens værdi må realkreditlånet maksimalt udgøre?</a:t>
            </a:r>
          </a:p>
          <a:p>
            <a:endParaRPr lang="da-DK" dirty="0"/>
          </a:p>
          <a:p>
            <a:r>
              <a:rPr lang="da-DK" dirty="0"/>
              <a:t>2. Hvad skal man som køber overveje i forbindelse med optagelse af realkreditlån?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144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752380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2.9. Berigtigelse og refusionsopgørelse</a:t>
            </a:r>
            <a:br>
              <a:rPr lang="da-DK" sz="2400" dirty="0"/>
            </a:b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3895148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Hvem skal rådgive køber om handlen og gennemgå handlens dokumenter?</a:t>
            </a:r>
          </a:p>
          <a:p>
            <a:endParaRPr lang="da-DK" dirty="0"/>
          </a:p>
          <a:p>
            <a:r>
              <a:rPr lang="da-DK" dirty="0"/>
              <a:t>2. Hvad er det som skal tinglyses på ejendommen, for at sikre købers adkomst?</a:t>
            </a:r>
          </a:p>
          <a:p>
            <a:endParaRPr lang="da-DK" dirty="0"/>
          </a:p>
          <a:p>
            <a:r>
              <a:rPr lang="da-DK" dirty="0"/>
              <a:t>3. Hvilke anmærkninger vil ovennævnte dokument få?</a:t>
            </a:r>
          </a:p>
          <a:p>
            <a:endParaRPr lang="da-DK" dirty="0"/>
          </a:p>
          <a:p>
            <a:r>
              <a:rPr lang="da-DK" dirty="0"/>
              <a:t>4. Hvornår bliver anmærkningerne på ovenstående dokument fjernet?</a:t>
            </a:r>
          </a:p>
          <a:p>
            <a:endParaRPr lang="da-DK" dirty="0"/>
          </a:p>
          <a:p>
            <a:r>
              <a:rPr lang="da-DK" dirty="0"/>
              <a:t>5. Hvornår kan købesummen frigives sælger?</a:t>
            </a:r>
          </a:p>
          <a:p>
            <a:endParaRPr lang="da-DK" dirty="0"/>
          </a:p>
          <a:p>
            <a:r>
              <a:rPr lang="da-DK" dirty="0"/>
              <a:t>6. Hvem udarbejder refusionsopgørelsen?</a:t>
            </a:r>
            <a:br>
              <a:rPr lang="da-DK" dirty="0"/>
            </a:br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5973478"/>
      </p:ext>
    </p:extLst>
  </p:cSld>
  <p:clrMapOvr>
    <a:masterClrMapping/>
  </p:clrMapOvr>
</p:sld>
</file>

<file path=ppt/theme/theme1.xml><?xml version="1.0" encoding="utf-8"?>
<a:theme xmlns:a="http://schemas.openxmlformats.org/drawingml/2006/main" name="cphbusiness POWERPOINT skabel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dhold xmlns="d40e101a-1fec-4fbd-a9d0-ed41492f4cd8" xsi:nil="true"/>
    <_ip_UnifiedCompliancePolicyUIAction xmlns="http://schemas.microsoft.com/sharepoint/v3" xsi:nil="true"/>
    <Initials xmlns="d40e101a-1fec-4fbd-a9d0-ed41492f4cd8" xsi:nil="true"/>
    <Semester xmlns="d40e101a-1fec-4fbd-a9d0-ed41492f4cd8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E7AEDA699A6046B28BDB03A4B3ACE5" ma:contentTypeVersion="18" ma:contentTypeDescription="Create a new document." ma:contentTypeScope="" ma:versionID="02e15c3bcd745aa8f170db0a17cd0653">
  <xsd:schema xmlns:xsd="http://www.w3.org/2001/XMLSchema" xmlns:xs="http://www.w3.org/2001/XMLSchema" xmlns:p="http://schemas.microsoft.com/office/2006/metadata/properties" xmlns:ns1="http://schemas.microsoft.com/sharepoint/v3" xmlns:ns2="7d4bd1a6-963b-4ce5-9d6a-82f9bec88dc5" xmlns:ns3="d40e101a-1fec-4fbd-a9d0-ed41492f4cd8" targetNamespace="http://schemas.microsoft.com/office/2006/metadata/properties" ma:root="true" ma:fieldsID="e9ef13896b839d8d93edccf46d0a437c" ns1:_="" ns2:_="" ns3:_="">
    <xsd:import namespace="http://schemas.microsoft.com/sharepoint/v3"/>
    <xsd:import namespace="7d4bd1a6-963b-4ce5-9d6a-82f9bec88dc5"/>
    <xsd:import namespace="d40e101a-1fec-4fbd-a9d0-ed41492f4cd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Initials" minOccurs="0"/>
                <xsd:element ref="ns3:Semester" minOccurs="0"/>
                <xsd:element ref="ns3:Indhol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bd1a6-963b-4ce5-9d6a-82f9bec88dc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e101a-1fec-4fbd-a9d0-ed41492f4cd8" elementFormDefault="qualified">
    <xsd:import namespace="http://schemas.microsoft.com/office/2006/documentManagement/types"/>
    <xsd:import namespace="http://schemas.microsoft.com/office/infopath/2007/PartnerControls"/>
    <xsd:element name="Initials" ma:index="10" nillable="true" ma:displayName="Flow" ma:internalName="Initials">
      <xsd:simpleType>
        <xsd:restriction base="dms:Text">
          <xsd:maxLength value="255"/>
        </xsd:restriction>
      </xsd:simpleType>
    </xsd:element>
    <xsd:element name="Semester" ma:index="12" nillable="true" ma:displayName="Semester" ma:internalName="Semester">
      <xsd:simpleType>
        <xsd:restriction base="dms:Text">
          <xsd:maxLength value="255"/>
        </xsd:restriction>
      </xsd:simpleType>
    </xsd:element>
    <xsd:element name="Indhold" ma:index="13" nillable="true" ma:displayName="Indhold" ma:internalName="Indhold">
      <xsd:simpleType>
        <xsd:restriction base="dms:Note">
          <xsd:maxLength value="255"/>
        </xsd:restriction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8" nillable="true" ma:displayName="MediaServiceLocation" ma:description="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 ma:index="11" ma:displayName="Subject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83B8EF-2B6D-4B79-9A29-2F5E34987912}">
  <ds:schemaRefs>
    <ds:schemaRef ds:uri="7d4bd1a6-963b-4ce5-9d6a-82f9bec88dc5"/>
    <ds:schemaRef ds:uri="http://schemas.microsoft.com/office/2006/documentManagement/types"/>
    <ds:schemaRef ds:uri="d40e101a-1fec-4fbd-a9d0-ed41492f4cd8"/>
    <ds:schemaRef ds:uri="http://schemas.microsoft.com/office/infopath/2007/PartnerControls"/>
    <ds:schemaRef ds:uri="http://www.w3.org/XML/1998/namespace"/>
    <ds:schemaRef ds:uri="http://schemas.microsoft.com/sharepoint/v3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7DD3E5E-6749-43E6-B4E0-0299C6A376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d4bd1a6-963b-4ce5-9d6a-82f9bec88dc5"/>
    <ds:schemaRef ds:uri="d40e101a-1fec-4fbd-a9d0-ed41492f4c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C7140B-B232-46A9-9118-1C33341168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14999</TotalTime>
  <Words>426</Words>
  <Application>Microsoft Office PowerPoint</Application>
  <PresentationFormat>Brugerdefineret</PresentationFormat>
  <Paragraphs>86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5" baseType="lpstr">
      <vt:lpstr>Arial</vt:lpstr>
      <vt:lpstr>Calibri</vt:lpstr>
      <vt:lpstr>Verdana</vt:lpstr>
      <vt:lpstr>Wingdings</vt:lpstr>
      <vt:lpstr>cphbusiness POWERPOINT skabelon</vt:lpstr>
      <vt:lpstr>PowerPoint-præsentation</vt:lpstr>
      <vt:lpstr>2.1. Formidlingsaftale</vt:lpstr>
      <vt:lpstr>2.2. Ejendomsmæglers opgaver </vt:lpstr>
      <vt:lpstr>2.3. Tilstandsrapport &amp; El-installationsrapport </vt:lpstr>
      <vt:lpstr>2.4. Ejerskifteforsikring </vt:lpstr>
      <vt:lpstr>2.5. Købsaftale </vt:lpstr>
      <vt:lpstr>2.6. Fortrydelsesret </vt:lpstr>
      <vt:lpstr>2.7. Finansiering </vt:lpstr>
      <vt:lpstr>2.8. Realkreditlån</vt:lpstr>
      <vt:lpstr>2.9. Berigtigelse og refusionsopgørelse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Dias nummer 1</dc:title>
  <dc:creator>Søren Thestrup (SOTH - Lektor - Cphbusiness)</dc:creator>
  <cp:keywords>Erhvervsjura</cp:keywords>
  <cp:lastModifiedBy>Søren Thestrup (SOTH - Lektor - Cphbusiness)</cp:lastModifiedBy>
  <cp:revision>540</cp:revision>
  <cp:lastPrinted>2018-12-11T14:55:36Z</cp:lastPrinted>
  <dcterms:created xsi:type="dcterms:W3CDTF">2012-08-10T08:33:35Z</dcterms:created>
  <dcterms:modified xsi:type="dcterms:W3CDTF">2024-05-27T09:53:27Z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0x01010050E7AEDA699A6046B28BDB03A4B3ACE5</vt:lpwstr>
  </property>
</Properties>
</file>